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Lst>
  <p:sldSz cy="5143500" cx="9144000"/>
  <p:notesSz cx="5143500" cy="9144000"/>
  <p:embeddedFontLst>
    <p:embeddedFont>
      <p:font typeface="Roboto"/>
      <p:regular r:id="rId32"/>
      <p:bold r:id="rId33"/>
      <p:italic r:id="rId34"/>
      <p:boldItalic r:id="rId35"/>
    </p:embeddedFont>
    <p:embeddedFont>
      <p:font typeface="Orbitron"/>
      <p:regular r:id="rId36"/>
      <p:bold r:id="rId37"/>
    </p:embeddedFont>
    <p:embeddedFont>
      <p:font typeface="Roboto Mono"/>
      <p:regular r:id="rId38"/>
      <p:bold r:id="rId39"/>
      <p:italic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RobotoMono-italic.fntdata"/><Relationship Id="rId20" Type="http://schemas.openxmlformats.org/officeDocument/2006/relationships/slide" Target="slides/slide16.xml"/><Relationship Id="rId41" Type="http://schemas.openxmlformats.org/officeDocument/2006/relationships/font" Target="fonts/RobotoMono-boldItalic.fntdata"/><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font" Target="fonts/Roboto-bold.fntdata"/><Relationship Id="rId10" Type="http://schemas.openxmlformats.org/officeDocument/2006/relationships/slide" Target="slides/slide6.xml"/><Relationship Id="rId32" Type="http://schemas.openxmlformats.org/officeDocument/2006/relationships/font" Target="fonts/Roboto-regular.fntdata"/><Relationship Id="rId13" Type="http://schemas.openxmlformats.org/officeDocument/2006/relationships/slide" Target="slides/slide9.xml"/><Relationship Id="rId35" Type="http://schemas.openxmlformats.org/officeDocument/2006/relationships/font" Target="fonts/Roboto-boldItalic.fntdata"/><Relationship Id="rId12" Type="http://schemas.openxmlformats.org/officeDocument/2006/relationships/slide" Target="slides/slide8.xml"/><Relationship Id="rId34" Type="http://schemas.openxmlformats.org/officeDocument/2006/relationships/font" Target="fonts/Roboto-italic.fntdata"/><Relationship Id="rId15" Type="http://schemas.openxmlformats.org/officeDocument/2006/relationships/slide" Target="slides/slide11.xml"/><Relationship Id="rId37" Type="http://schemas.openxmlformats.org/officeDocument/2006/relationships/font" Target="fonts/Orbitron-bold.fntdata"/><Relationship Id="rId14" Type="http://schemas.openxmlformats.org/officeDocument/2006/relationships/slide" Target="slides/slide10.xml"/><Relationship Id="rId36" Type="http://schemas.openxmlformats.org/officeDocument/2006/relationships/font" Target="fonts/Orbitron-regular.fntdata"/><Relationship Id="rId17" Type="http://schemas.openxmlformats.org/officeDocument/2006/relationships/slide" Target="slides/slide13.xml"/><Relationship Id="rId39" Type="http://schemas.openxmlformats.org/officeDocument/2006/relationships/font" Target="fonts/RobotoMono-bold.fntdata"/><Relationship Id="rId16" Type="http://schemas.openxmlformats.org/officeDocument/2006/relationships/slide" Target="slides/slide12.xml"/><Relationship Id="rId38" Type="http://schemas.openxmlformats.org/officeDocument/2006/relationships/font" Target="fonts/RobotoMono-regular.fntdata"/><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 name="Google Shape;5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 name="Google Shape;5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 name="Google Shape;7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 name="Google Shape;10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internal architecture is organized into distinct layers. We have a Controller layer for handling REST endpoints related to rule management. The Repository layer manages SQLite persistence via JDBC for rules and firing history. Our Messaging layer contains JMS listeners that consume telemetry events and actuator state updates. Finally, the Rule Engine service houses the core logic for rule evaluation and command generation. This layered design ensures clear separation of responsibilities, making the system easier to maintain and test independently. This approach guarantees high reliability for our control loop. Now, let's focus on the specifics of the REST API for rule management.</a:t>
            </a:r>
            <a:endParaRPr/>
          </a:p>
        </p:txBody>
      </p:sp>
      <p:sp>
        <p:nvSpPr>
          <p:cNvPr id="102" name="Google Shape;10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service forms the core of our habitat's automated control loop. It continuously processes sensor telemetry from the message broker. The system evaluates this data against operator-defined rules. When a rule's conditions are met, it automatically sends a command to an actuator. For example, if he temperature in a greenhouse group exceeds a configured threshold, a command is produced to switch the cooling fan ON. The process is automatic and requires no manual intervention.</a:t>
            </a:r>
            <a:endParaRPr/>
          </a:p>
        </p:txBody>
      </p:sp>
      <p:sp>
        <p:nvSpPr>
          <p:cNvPr id="129" name="Google Shape;12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7" name="Google Shape;15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Expanding on our internal architecture, the REST API is crucial for managing our automation rules. We expose rule management under the '/api/rules' endpoint, supporting standard CRUD operations. Each rule is defined by parameters like 'group_id', 'metric_id', 'operator', 'compare_value', and 'unit'. We also specify the target 'actuator_id' and 'actuator_state', such as ON or OFF. Input validation is rigorously enforced using Jakarta Bean Validation, ensuring data integrity. Critically, every change to a rule generates a structured audit log entry, prefixed with '[AUTOMATION-AUDIT]'. This provides essential traceability for all configuration changes in our automated control system. Next, we'll delve into how these rules are actually evaluated and how commands are generated.</a:t>
            </a:r>
            <a:endParaRPr/>
          </a:p>
          <a:p>
            <a:pPr indent="0" lvl="0" marL="0" rtl="0" algn="l">
              <a:spcBef>
                <a:spcPts val="0"/>
              </a:spcBef>
              <a:spcAft>
                <a:spcPts val="0"/>
              </a:spcAft>
              <a:buNone/>
            </a:pPr>
            <a:r>
              <a:t/>
            </a:r>
            <a:endParaRPr/>
          </a:p>
        </p:txBody>
      </p:sp>
      <p:sp>
        <p:nvSpPr>
          <p:cNvPr id="175" name="Google Shape;17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ec3586255_2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g3cec3586255_2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0" name="Google Shape;250;g3cec3586255_2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rgbClr val="000000"/>
              </a:buClr>
              <a:buSzPts val="1100"/>
              <a:buChar char="●"/>
            </a:pPr>
            <a:r>
              <a:rPr b="1" lang="en-US" sz="1100">
                <a:solidFill>
                  <a:srgbClr val="000000"/>
                </a:solidFill>
                <a:latin typeface="Arial"/>
                <a:ea typeface="Arial"/>
                <a:cs typeface="Arial"/>
                <a:sym typeface="Arial"/>
              </a:rPr>
              <a:t>Centralized State Management:</a:t>
            </a:r>
            <a:r>
              <a:rPr lang="en-US" sz="1100">
                <a:solidFill>
                  <a:srgbClr val="000000"/>
                </a:solidFill>
                <a:latin typeface="Arial"/>
                <a:ea typeface="Arial"/>
                <a:cs typeface="Arial"/>
                <a:sym typeface="Arial"/>
              </a:rPr>
              <a:t> Acts as the "Single Source of Truth" for the entire Mars habitat, maintaining the latest known state (Last Known Value) of all sensors and actuators.</a:t>
            </a:r>
            <a:br>
              <a:rPr lang="en-US" sz="1100">
                <a:solidFill>
                  <a:srgbClr val="000000"/>
                </a:solidFill>
                <a:latin typeface="Arial"/>
                <a:ea typeface="Arial"/>
                <a:cs typeface="Arial"/>
                <a:sym typeface="Arial"/>
              </a:rPr>
            </a:b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Char char="●"/>
            </a:pPr>
            <a:r>
              <a:rPr b="1" lang="en-US" sz="1100">
                <a:solidFill>
                  <a:srgbClr val="000000"/>
                </a:solidFill>
                <a:latin typeface="Arial"/>
                <a:ea typeface="Arial"/>
                <a:cs typeface="Arial"/>
                <a:sym typeface="Arial"/>
              </a:rPr>
              <a:t>High-Performance Storage:</a:t>
            </a:r>
            <a:r>
              <a:rPr lang="en-US" sz="1100">
                <a:solidFill>
                  <a:srgbClr val="000000"/>
                </a:solidFill>
                <a:latin typeface="Arial"/>
                <a:ea typeface="Arial"/>
                <a:cs typeface="Arial"/>
                <a:sym typeface="Arial"/>
              </a:rPr>
              <a:t> Leverages a Redis in-memory database to instantly store and retrieve incoming telemetry and actuator events with sub-millisecond latency.</a:t>
            </a:r>
            <a:endParaRPr sz="1100">
              <a:solidFill>
                <a:srgbClr val="000000"/>
              </a:solidFill>
              <a:latin typeface="Arial"/>
              <a:ea typeface="Arial"/>
              <a:cs typeface="Arial"/>
              <a:sym typeface="Arial"/>
            </a:endParaRPr>
          </a:p>
          <a:p>
            <a:pPr indent="0" lvl="0" marL="457200" rtl="0" algn="l">
              <a:spcBef>
                <a:spcPts val="0"/>
              </a:spcBef>
              <a:spcAft>
                <a:spcPts val="0"/>
              </a:spcAft>
              <a:buClr>
                <a:schemeClr val="dk1"/>
              </a:buClr>
              <a:buSzPts val="1100"/>
              <a:buFont typeface="Arial"/>
              <a:buNone/>
            </a:pPr>
            <a:r>
              <a:t/>
            </a: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Char char="●"/>
            </a:pPr>
            <a:r>
              <a:rPr b="1" lang="en-US" sz="1100">
                <a:solidFill>
                  <a:srgbClr val="000000"/>
                </a:solidFill>
                <a:latin typeface="Arial"/>
                <a:ea typeface="Arial"/>
                <a:cs typeface="Arial"/>
                <a:sym typeface="Arial"/>
              </a:rPr>
              <a:t>Asynchronous Event Ingestion:</a:t>
            </a:r>
            <a:r>
              <a:rPr lang="en-US" sz="1100">
                <a:solidFill>
                  <a:srgbClr val="000000"/>
                </a:solidFill>
                <a:latin typeface="Arial"/>
                <a:ea typeface="Arial"/>
                <a:cs typeface="Arial"/>
                <a:sym typeface="Arial"/>
              </a:rPr>
              <a:t> Employs a dedicated background thread to consume AMQP messages from ActiveMQ (</a:t>
            </a:r>
            <a:r>
              <a:rPr lang="en-US" sz="1100">
                <a:solidFill>
                  <a:srgbClr val="000000"/>
                </a:solidFill>
                <a:latin typeface="Roboto Mono"/>
                <a:ea typeface="Roboto Mono"/>
                <a:cs typeface="Roboto Mono"/>
                <a:sym typeface="Roboto Mono"/>
              </a:rPr>
              <a:t>sensor.events</a:t>
            </a:r>
            <a:r>
              <a:rPr lang="en-US" sz="1100">
                <a:solidFill>
                  <a:srgbClr val="000000"/>
                </a:solidFill>
                <a:latin typeface="Arial"/>
                <a:ea typeface="Arial"/>
                <a:cs typeface="Arial"/>
                <a:sym typeface="Arial"/>
              </a:rPr>
              <a:t> and </a:t>
            </a:r>
            <a:r>
              <a:rPr lang="en-US" sz="1100">
                <a:solidFill>
                  <a:srgbClr val="000000"/>
                </a:solidFill>
                <a:latin typeface="Roboto Mono"/>
                <a:ea typeface="Roboto Mono"/>
                <a:cs typeface="Roboto Mono"/>
                <a:sym typeface="Roboto Mono"/>
              </a:rPr>
              <a:t>actuator.states</a:t>
            </a:r>
            <a:r>
              <a:rPr lang="en-US" sz="1100">
                <a:solidFill>
                  <a:srgbClr val="000000"/>
                </a:solidFill>
                <a:latin typeface="Arial"/>
                <a:ea typeface="Arial"/>
                <a:cs typeface="Arial"/>
                <a:sym typeface="Arial"/>
              </a:rPr>
              <a:t> topics) without blocking the FastAPI web server's event loop.</a:t>
            </a:r>
            <a:endParaRPr sz="1100">
              <a:solidFill>
                <a:srgbClr val="000000"/>
              </a:solidFill>
              <a:latin typeface="Arial"/>
              <a:ea typeface="Arial"/>
              <a:cs typeface="Arial"/>
              <a:sym typeface="Arial"/>
            </a:endParaRPr>
          </a:p>
          <a:p>
            <a:pPr indent="0" lvl="0" marL="457200" rtl="0" algn="l">
              <a:spcBef>
                <a:spcPts val="0"/>
              </a:spcBef>
              <a:spcAft>
                <a:spcPts val="0"/>
              </a:spcAft>
              <a:buClr>
                <a:schemeClr val="dk1"/>
              </a:buClr>
              <a:buSzPts val="1100"/>
              <a:buFont typeface="Arial"/>
              <a:buNone/>
            </a:pPr>
            <a:r>
              <a:t/>
            </a: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Char char="●"/>
            </a:pPr>
            <a:r>
              <a:rPr b="1" lang="en-US" sz="1100">
                <a:solidFill>
                  <a:srgbClr val="000000"/>
                </a:solidFill>
                <a:latin typeface="Arial"/>
                <a:ea typeface="Arial"/>
                <a:cs typeface="Arial"/>
                <a:sym typeface="Arial"/>
              </a:rPr>
              <a:t>Stateless &amp; Resilient Design:</a:t>
            </a:r>
            <a:r>
              <a:rPr lang="en-US" sz="1100">
                <a:solidFill>
                  <a:srgbClr val="000000"/>
                </a:solidFill>
                <a:latin typeface="Arial"/>
                <a:ea typeface="Arial"/>
                <a:cs typeface="Arial"/>
                <a:sym typeface="Arial"/>
              </a:rPr>
              <a:t> The service itself holds no internal state, delegating persistence entirely to Redis. In case of a restart, it seamlessly resumes updating the cache as new broker messages arrive.</a:t>
            </a:r>
            <a:br>
              <a:rPr lang="en-US" sz="1100">
                <a:solidFill>
                  <a:srgbClr val="000000"/>
                </a:solidFill>
                <a:latin typeface="Arial"/>
                <a:ea typeface="Arial"/>
                <a:cs typeface="Arial"/>
                <a:sym typeface="Arial"/>
              </a:rPr>
            </a:b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Char char="●"/>
            </a:pPr>
            <a:r>
              <a:rPr b="1" lang="en-US" sz="1100">
                <a:solidFill>
                  <a:srgbClr val="000000"/>
                </a:solidFill>
                <a:latin typeface="Arial"/>
                <a:ea typeface="Arial"/>
                <a:cs typeface="Arial"/>
                <a:sym typeface="Arial"/>
              </a:rPr>
              <a:t>RESTful API Layer:</a:t>
            </a:r>
            <a:r>
              <a:rPr lang="en-US" sz="1100">
                <a:solidFill>
                  <a:srgbClr val="000000"/>
                </a:solidFill>
                <a:latin typeface="Arial"/>
                <a:ea typeface="Arial"/>
                <a:cs typeface="Arial"/>
                <a:sym typeface="Arial"/>
              </a:rPr>
              <a:t> Exposes structured endpoints (</a:t>
            </a:r>
            <a:r>
              <a:rPr lang="en-US" sz="1100">
                <a:solidFill>
                  <a:srgbClr val="000000"/>
                </a:solidFill>
                <a:latin typeface="Roboto Mono"/>
                <a:ea typeface="Roboto Mono"/>
                <a:cs typeface="Roboto Mono"/>
                <a:sym typeface="Roboto Mono"/>
              </a:rPr>
              <a:t>/api/metrics</a:t>
            </a:r>
            <a:r>
              <a:rPr lang="en-US" sz="1100">
                <a:solidFill>
                  <a:srgbClr val="000000"/>
                </a:solidFill>
                <a:latin typeface="Arial"/>
                <a:ea typeface="Arial"/>
                <a:cs typeface="Arial"/>
                <a:sym typeface="Arial"/>
              </a:rPr>
              <a:t>, </a:t>
            </a:r>
            <a:r>
              <a:rPr lang="en-US" sz="1100">
                <a:solidFill>
                  <a:srgbClr val="000000"/>
                </a:solidFill>
                <a:latin typeface="Roboto Mono"/>
                <a:ea typeface="Roboto Mono"/>
                <a:cs typeface="Roboto Mono"/>
                <a:sym typeface="Roboto Mono"/>
              </a:rPr>
              <a:t>/api/actuators</a:t>
            </a:r>
            <a:r>
              <a:rPr lang="en-US" sz="1100">
                <a:solidFill>
                  <a:srgbClr val="000000"/>
                </a:solidFill>
                <a:latin typeface="Arial"/>
                <a:ea typeface="Arial"/>
                <a:cs typeface="Arial"/>
                <a:sym typeface="Arial"/>
              </a:rPr>
              <a:t>) that allow the frontend and other microservices to perform bulk data retrieval, which is essential for populating the dashboard on initial load.</a:t>
            </a:r>
            <a:endParaRPr sz="1100">
              <a:solidFill>
                <a:srgbClr val="000000"/>
              </a:solidFill>
              <a:latin typeface="Arial"/>
              <a:ea typeface="Arial"/>
              <a:cs typeface="Arial"/>
              <a:sym typeface="Arial"/>
            </a:endParaRPr>
          </a:p>
          <a:p>
            <a:pPr indent="0" lvl="0" marL="0" rtl="0" algn="l">
              <a:spcBef>
                <a:spcPts val="0"/>
              </a:spcBef>
              <a:spcAft>
                <a:spcPts val="0"/>
              </a:spcAft>
              <a:buNone/>
            </a:pPr>
            <a:r>
              <a:t/>
            </a:r>
            <a:endParaRPr/>
          </a:p>
        </p:txBody>
      </p:sp>
      <p:sp>
        <p:nvSpPr>
          <p:cNvPr id="269" name="Google Shape;26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cec3586255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cec3586255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g3cec3586255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3cec3586255_2_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g3cec3586255_2_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0" name="Google Shape;310;g3cec3586255_2_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cec3586255_2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g3cec3586255_2_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9" name="Google Shape;329;g3cec3586255_2_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1" name="Google Shape;3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b="1" lang="en-US" sz="1100">
                <a:latin typeface="Arial"/>
                <a:ea typeface="Arial"/>
                <a:cs typeface="Arial"/>
                <a:sym typeface="Arial"/>
              </a:rPr>
              <a:t>Function: </a:t>
            </a:r>
            <a:r>
              <a:rPr lang="en-US" sz="1100">
                <a:latin typeface="Arial"/>
                <a:ea typeface="Arial"/>
                <a:cs typeface="Arial"/>
                <a:sym typeface="Arial"/>
              </a:rPr>
              <a:t>Acts as the "bridge" between the </a:t>
            </a:r>
            <a:r>
              <a:rPr b="1" lang="en-US" sz="1100">
                <a:latin typeface="Arial"/>
                <a:ea typeface="Arial"/>
                <a:cs typeface="Arial"/>
                <a:sym typeface="Arial"/>
              </a:rPr>
              <a:t>Automation Engine</a:t>
            </a:r>
            <a:r>
              <a:rPr lang="en-US" sz="1100">
                <a:latin typeface="Arial"/>
                <a:ea typeface="Arial"/>
                <a:cs typeface="Arial"/>
                <a:sym typeface="Arial"/>
              </a:rPr>
              <a:t> (logic provider) and the </a:t>
            </a:r>
            <a:r>
              <a:rPr b="1" lang="en-US" sz="1100">
                <a:latin typeface="Arial"/>
                <a:ea typeface="Arial"/>
                <a:cs typeface="Arial"/>
                <a:sym typeface="Arial"/>
              </a:rPr>
              <a:t>physical actuators</a:t>
            </a:r>
            <a:r>
              <a:rPr lang="en-US" sz="1100">
                <a:latin typeface="Arial"/>
                <a:ea typeface="Arial"/>
                <a:cs typeface="Arial"/>
                <a:sym typeface="Arial"/>
              </a:rPr>
              <a:t> of the Martian habitat.</a:t>
            </a:r>
            <a:br>
              <a:rPr lang="en-US" sz="1100">
                <a:latin typeface="Arial"/>
                <a:ea typeface="Arial"/>
                <a:cs typeface="Arial"/>
                <a:sym typeface="Arial"/>
              </a:rPr>
            </a:b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b="1" lang="en-US" sz="1100">
                <a:latin typeface="Arial"/>
                <a:ea typeface="Arial"/>
                <a:cs typeface="Arial"/>
                <a:sym typeface="Arial"/>
              </a:rPr>
              <a:t>Subscription:</a:t>
            </a:r>
            <a:r>
              <a:rPr lang="en-US" sz="1100">
                <a:latin typeface="Arial"/>
                <a:ea typeface="Arial"/>
                <a:cs typeface="Arial"/>
                <a:sym typeface="Arial"/>
              </a:rPr>
              <a:t> Listens to the dedicated command topic (multicast/ </a:t>
            </a:r>
            <a:r>
              <a:rPr lang="en-US" sz="1100">
                <a:latin typeface="Roboto Mono"/>
                <a:ea typeface="Roboto Mono"/>
                <a:cs typeface="Roboto Mono"/>
                <a:sym typeface="Roboto Mono"/>
              </a:rPr>
              <a:t>actuator.commands</a:t>
            </a:r>
            <a:r>
              <a:rPr lang="en-US" sz="1100">
                <a:latin typeface="Arial"/>
                <a:ea typeface="Arial"/>
                <a:cs typeface="Arial"/>
                <a:sym typeface="Arial"/>
              </a:rPr>
              <a:t>) on AMQ/Kafka</a:t>
            </a:r>
            <a:br>
              <a:rPr lang="en-US" sz="1100">
                <a:latin typeface="Arial"/>
                <a:ea typeface="Arial"/>
                <a:cs typeface="Arial"/>
                <a:sym typeface="Arial"/>
              </a:rPr>
            </a:b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b="1" lang="en-US" sz="1100">
                <a:latin typeface="Arial"/>
                <a:ea typeface="Arial"/>
                <a:cs typeface="Arial"/>
                <a:sym typeface="Arial"/>
              </a:rPr>
              <a:t>Validation:</a:t>
            </a:r>
            <a:r>
              <a:rPr lang="en-US" sz="1100">
                <a:latin typeface="Arial"/>
                <a:ea typeface="Arial"/>
                <a:cs typeface="Arial"/>
                <a:sym typeface="Arial"/>
              </a:rPr>
              <a:t> Ensures the command matches the JSON schema defined in the contract (ref: </a:t>
            </a:r>
            <a:r>
              <a:rPr lang="en-US" sz="1100">
                <a:latin typeface="Roboto Mono"/>
                <a:ea typeface="Roboto Mono"/>
                <a:cs typeface="Roboto Mono"/>
                <a:sym typeface="Roboto Mono"/>
              </a:rPr>
              <a:t>SCHEMA_CONTRACT.md</a:t>
            </a:r>
            <a:r>
              <a:rPr lang="en-US" sz="1100">
                <a:latin typeface="Arial"/>
                <a:ea typeface="Arial"/>
                <a:cs typeface="Arial"/>
                <a:sym typeface="Arial"/>
              </a:rPr>
              <a:t>).</a:t>
            </a:r>
            <a:br>
              <a:rPr lang="en-US" sz="1100">
                <a:latin typeface="Arial"/>
                <a:ea typeface="Arial"/>
                <a:cs typeface="Arial"/>
                <a:sym typeface="Arial"/>
              </a:rPr>
            </a:b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b="1" lang="en-US" sz="1100">
                <a:latin typeface="Arial"/>
                <a:ea typeface="Arial"/>
                <a:cs typeface="Arial"/>
                <a:sym typeface="Arial"/>
              </a:rPr>
              <a:t>Execution:</a:t>
            </a:r>
            <a:r>
              <a:rPr lang="en-US" sz="1100">
                <a:latin typeface="Arial"/>
                <a:ea typeface="Arial"/>
                <a:cs typeface="Arial"/>
                <a:sym typeface="Arial"/>
              </a:rPr>
              <a:t> Provides a </a:t>
            </a:r>
            <a:r>
              <a:rPr b="1" lang="en-US" sz="1100">
                <a:latin typeface="Arial"/>
                <a:ea typeface="Arial"/>
                <a:cs typeface="Arial"/>
                <a:sym typeface="Arial"/>
              </a:rPr>
              <a:t>REST POST</a:t>
            </a:r>
            <a:r>
              <a:rPr lang="en-US" sz="1100">
                <a:latin typeface="Arial"/>
                <a:ea typeface="Arial"/>
                <a:cs typeface="Arial"/>
                <a:sym typeface="Arial"/>
              </a:rPr>
              <a:t> request to the specific actuator endpoint (e.g., </a:t>
            </a:r>
            <a:r>
              <a:rPr lang="en-US" sz="1100">
                <a:latin typeface="Roboto Mono"/>
                <a:ea typeface="Roboto Mono"/>
                <a:cs typeface="Roboto Mono"/>
                <a:sym typeface="Roboto Mono"/>
              </a:rPr>
              <a:t>/api/actuators/cooling_fan</a:t>
            </a:r>
            <a:r>
              <a:rPr lang="en-US" sz="1100">
                <a:latin typeface="Arial"/>
                <a:ea typeface="Arial"/>
                <a:cs typeface="Arial"/>
                <a:sym typeface="Arial"/>
              </a:rPr>
              <a:t>) to update its state. The new state is sent to the Queue `actuator.commands` , managed by the Converter Service who will then update the state of the actuator with a REST call to the Simulator</a:t>
            </a:r>
            <a:br>
              <a:rPr lang="en-US" sz="1100">
                <a:latin typeface="Arial"/>
                <a:ea typeface="Arial"/>
                <a:cs typeface="Arial"/>
                <a:sym typeface="Arial"/>
              </a:rPr>
            </a:br>
            <a:endParaRPr sz="1100">
              <a:latin typeface="Arial"/>
              <a:ea typeface="Arial"/>
              <a:cs typeface="Arial"/>
              <a:sym typeface="Arial"/>
            </a:endParaRPr>
          </a:p>
          <a:p>
            <a:pPr indent="-304800" lvl="0" marL="457200" rtl="0" algn="l">
              <a:spcBef>
                <a:spcPts val="0"/>
              </a:spcBef>
              <a:spcAft>
                <a:spcPts val="0"/>
              </a:spcAft>
              <a:buClr>
                <a:srgbClr val="00FFFF"/>
              </a:buClr>
              <a:buSzPts val="1200"/>
              <a:buChar char="●"/>
            </a:pPr>
            <a:r>
              <a:rPr b="1" lang="en-US" sz="1100">
                <a:latin typeface="Arial"/>
                <a:ea typeface="Arial"/>
                <a:cs typeface="Arial"/>
                <a:sym typeface="Arial"/>
              </a:rPr>
              <a:t>Real-Time State Broadcasting:</a:t>
            </a:r>
            <a:r>
              <a:rPr lang="en-US" sz="1100">
                <a:latin typeface="Arial"/>
                <a:ea typeface="Arial"/>
                <a:cs typeface="Arial"/>
                <a:sym typeface="Arial"/>
              </a:rPr>
              <a:t> Exposes dedicated WebSocket channels (e.g., </a:t>
            </a:r>
            <a:r>
              <a:rPr lang="en-US" sz="1100">
                <a:latin typeface="Roboto Mono"/>
                <a:ea typeface="Roboto Mono"/>
                <a:cs typeface="Roboto Mono"/>
                <a:sym typeface="Roboto Mono"/>
              </a:rPr>
              <a:t>/api/actuators/ws</a:t>
            </a:r>
            <a:r>
              <a:rPr lang="en-US" sz="1100">
                <a:latin typeface="Arial"/>
                <a:ea typeface="Arial"/>
                <a:cs typeface="Arial"/>
                <a:sym typeface="Arial"/>
              </a:rPr>
              <a:t>) to instantly push live state changes to the frontend. This ensures operators immediately see the physical response (ON/OFF) to their manual commands or automated rules without refreshing the dashboard.</a:t>
            </a:r>
            <a:br>
              <a:rPr lang="en-US" sz="1100">
                <a:solidFill>
                  <a:srgbClr val="00FFFF"/>
                </a:solidFill>
                <a:latin typeface="Arial"/>
                <a:ea typeface="Arial"/>
                <a:cs typeface="Arial"/>
                <a:sym typeface="Arial"/>
              </a:rPr>
            </a:br>
            <a:br>
              <a:rPr lang="en-US" sz="1100">
                <a:solidFill>
                  <a:srgbClr val="00FFFF"/>
                </a:solidFill>
                <a:latin typeface="Arial"/>
                <a:ea typeface="Arial"/>
                <a:cs typeface="Arial"/>
                <a:sym typeface="Arial"/>
              </a:rPr>
            </a:br>
            <a:endParaRPr/>
          </a:p>
        </p:txBody>
      </p:sp>
      <p:sp>
        <p:nvSpPr>
          <p:cNvPr id="342" name="Google Shape;3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cec3586255_2_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8" name="Google Shape;388;g3cec3586255_2_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 name="Google Shape;389;g3cec3586255_2_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implemented two WebSocket layers: global streams for full real-time dashboard synchronization and targeted streams for single sensor/actuator monitoring with lower latency and less traffic.</a:t>
            </a:r>
            <a:endParaRPr/>
          </a:p>
          <a:p>
            <a:pPr indent="0" lvl="0" marL="0" rtl="0" algn="l">
              <a:spcBef>
                <a:spcPts val="0"/>
              </a:spcBef>
              <a:spcAft>
                <a:spcPts val="0"/>
              </a:spcAft>
              <a:buNone/>
            </a:pPr>
            <a:r>
              <a:rPr lang="en-US"/>
              <a:t>On connection, each client is initialized with the latest snapshot from Redis, then receives only live updates from broker-driven events to keep the UI always consistent.</a:t>
            </a:r>
            <a:endParaRPr/>
          </a:p>
        </p:txBody>
      </p:sp>
      <p:sp>
        <p:nvSpPr>
          <p:cNvPr id="401" name="Google Shape;40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cec3586255_2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g3cec3586255_2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g3cec3586255_2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3cec3586255_2_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g3cec3586255_2_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0" name="Google Shape;440;g3cec3586255_2_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To achieve this functionality, we've built the service using a robust technology stack. We're leveraging Java 21 and Spring Boot 3.3.2, utilizing Spring Web for our REST endpoints and Spring JMS with ActiveMQ Artemis for reliable broker communication. Persistence is handled by Spring JDBC with SQLite, chosen for its lightweight nature and suitability for our small data model and simple query patterns. Lombok helps reduce boilerplate code, keeping our codebase clean. The service is containerized using a multi-stage Maven build, running on port 8080 inside the container and exposed as port 8084 on the host. This setup ensures efficiency and a minimal footprint. Next, we'll explore the internal structure of this service.</a:t>
            </a:r>
            <a:endParaRPr/>
          </a:p>
          <a:p>
            <a:pPr indent="0" lvl="0" marL="0" rtl="0" algn="l">
              <a:spcBef>
                <a:spcPts val="0"/>
              </a:spcBef>
              <a:spcAft>
                <a:spcPts val="0"/>
              </a:spcAft>
              <a:buNone/>
            </a:pPr>
            <a:r>
              <a:t/>
            </a:r>
            <a:endParaRPr/>
          </a:p>
        </p:txBody>
      </p:sp>
      <p:sp>
        <p:nvSpPr>
          <p:cNvPr id="453" name="Google Shape;45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3" name="Google Shape;47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Expanding on our internal architecture, the REST API is crucial for managing our automation rules. We expose rule management under the '/api/rules' endpoint, supporting standard CRUD operations. Each rule is defined by parameters like 'group_id', 'metric_id', 'operator', 'compare_value', and 'unit'. We also specify the target 'actuator_id' and 'actuator_state', such as ON or OFF. Input validation is rigorously enforced using Jakarta Bean Validation, ensuring data integrity. Critically, every change to a rule generates a structured audit log entry, prefixed with '[AUTOMATION-AUDIT]'. This provides essential traceability for all configuration changes in our automated control system. Next, we'll delve into how these rules are actually evaluated and how commands are generated.</a:t>
            </a:r>
            <a:endParaRPr/>
          </a:p>
        </p:txBody>
      </p:sp>
      <p:sp>
        <p:nvSpPr>
          <p:cNvPr id="474" name="Google Shape;47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Now, let's look at how those rules actually get evaluated and trigger actions. This slide outlines the core execution pipeline of our rule engine, including a crucial anti-spam mechanism. The process starts with event parsing, extracting data from incoming MetricGroupStateEvents. We then match these events against enabled rules based on group and metric IDs, performing typed evaluation for accuracy. If a condition is met, we generate a structured ActuatorCommand and persist the firing event. To prevent flooding the broker with redundant commands, our ActuatorStateListener maintains an in-memory map of current actuator states. If an actuator is already in the desired state, we suppress the command, ensuring efficient and targeted delivery. This smart suppression is vital for system stability. Next, we'll look at how we ensure this data and these rules are durably stored.</a:t>
            </a:r>
            <a:endParaRPr/>
          </a:p>
          <a:p>
            <a:pPr indent="0" lvl="0" marL="0" rtl="0" algn="l">
              <a:spcBef>
                <a:spcPts val="0"/>
              </a:spcBef>
              <a:spcAft>
                <a:spcPts val="0"/>
              </a:spcAft>
              <a:buNone/>
            </a:pPr>
            <a:r>
              <a:t/>
            </a:r>
            <a:endParaRPr/>
          </a:p>
        </p:txBody>
      </p:sp>
      <p:sp>
        <p:nvSpPr>
          <p:cNvPr id="521" name="Google Shape;52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rPr lang="en-US"/>
              <a:t>Two event types, two queues: UnifiedEvent → sensor.events (multicast) | ActuatorEvent → actuator.states (anycast). Both REST and SSE sources converge into the same UnifiedEvent schema, eliminating source-specific complexity for all downstream consumers.</a:t>
            </a:r>
            <a:endParaRPr/>
          </a:p>
        </p:txBody>
      </p:sp>
      <p:sp>
        <p:nvSpPr>
          <p:cNvPr id="571" name="Google Shape;57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cec3586255_2_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8" name="Google Shape;598;g3cec3586255_2_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
        <p:nvSpPr>
          <p:cNvPr id="599" name="Google Shape;599;g3cec3586255_2_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g3cec3586255_2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g3cec3586255_2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
        <p:nvSpPr>
          <p:cNvPr id="609" name="Google Shape;609;g3cec3586255_2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3cec3586255_2_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8" name="Google Shape;618;g3cec3586255_2_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
        <p:nvSpPr>
          <p:cNvPr id="619" name="Google Shape;619;g3cec3586255_2_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g3cec3586255_2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8" name="Google Shape;628;g3cec3586255_2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
        <p:nvSpPr>
          <p:cNvPr id="629" name="Google Shape;629;g3cec3586255_2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g3cec3586255_2_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g3cec3586255_2_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
        <p:nvSpPr>
          <p:cNvPr id="639" name="Google Shape;639;g3cec3586255_2_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0.jpg"/><Relationship Id="rId4" Type="http://schemas.openxmlformats.org/officeDocument/2006/relationships/image" Target="../media/image1.png"/><Relationship Id="rId5" Type="http://schemas.openxmlformats.org/officeDocument/2006/relationships/image" Target="../media/image8.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7.jp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0.jpg"/><Relationship Id="rId4"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0.jp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jpg"/><Relationship Id="rId4" Type="http://schemas.openxmlformats.org/officeDocument/2006/relationships/image" Target="../media/image15.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0.jpg"/><Relationship Id="rId4" Type="http://schemas.openxmlformats.org/officeDocument/2006/relationships/image" Target="../media/image21.png"/><Relationship Id="rId5"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0.jpg"/><Relationship Id="rId4" Type="http://schemas.openxmlformats.org/officeDocument/2006/relationships/image" Target="../media/image20.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0.jpg"/><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0.jpg"/><Relationship Id="rId4" Type="http://schemas.openxmlformats.org/officeDocument/2006/relationships/image" Target="../media/image31.png"/><Relationship Id="rId5" Type="http://schemas.openxmlformats.org/officeDocument/2006/relationships/image" Target="../media/image26.png"/><Relationship Id="rId6" Type="http://schemas.openxmlformats.org/officeDocument/2006/relationships/image" Target="../media/image28.png"/><Relationship Id="rId7"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0.jpg"/><Relationship Id="rId4" Type="http://schemas.openxmlformats.org/officeDocument/2006/relationships/image" Target="../media/image25.png"/><Relationship Id="rId5"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0.jpg"/><Relationship Id="rId4" Type="http://schemas.openxmlformats.org/officeDocument/2006/relationships/image" Target="../media/image35.png"/><Relationship Id="rId9" Type="http://schemas.openxmlformats.org/officeDocument/2006/relationships/image" Target="../media/image19.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6.png"/><Relationship Id="rId8" Type="http://schemas.openxmlformats.org/officeDocument/2006/relationships/image" Target="../media/image3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0.jpg"/><Relationship Id="rId4" Type="http://schemas.openxmlformats.org/officeDocument/2006/relationships/image" Target="../media/image39.png"/><Relationship Id="rId5" Type="http://schemas.openxmlformats.org/officeDocument/2006/relationships/image" Target="../media/image4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0.jp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0.jpg"/><Relationship Id="rId4" Type="http://schemas.openxmlformats.org/officeDocument/2006/relationships/image" Target="../media/image25.png"/><Relationship Id="rId5" Type="http://schemas.openxmlformats.org/officeDocument/2006/relationships/image" Target="../media/image42.png"/><Relationship Id="rId6"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8.jp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jpg"/><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8.jpg"/><Relationship Id="rId4" Type="http://schemas.openxmlformats.org/officeDocument/2006/relationships/image" Target="../media/image5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8.jp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8.jpg"/><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pic>
        <p:nvPicPr>
          <p:cNvPr descr="preencoded.png" id="16" name="Google Shape;16;p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7" name="Google Shape;17;p3"/>
          <p:cNvSpPr/>
          <p:nvPr/>
        </p:nvSpPr>
        <p:spPr>
          <a:xfrm>
            <a:off x="3308726" y="1066100"/>
            <a:ext cx="2526600" cy="214200"/>
          </a:xfrm>
          <a:prstGeom prst="rect">
            <a:avLst/>
          </a:prstGeom>
          <a:noFill/>
          <a:ln>
            <a:noFill/>
          </a:ln>
        </p:spPr>
        <p:txBody>
          <a:bodyPr anchorCtr="0" anchor="t" bIns="0" lIns="0" spcFirstLastPara="1" rIns="0" wrap="square" tIns="0">
            <a:noAutofit/>
          </a:bodyPr>
          <a:lstStyle/>
          <a:p>
            <a:pPr indent="0" lvl="0" marL="0" marR="0" rtl="0" algn="l">
              <a:lnSpc>
                <a:spcPct val="126083"/>
              </a:lnSpc>
              <a:spcBef>
                <a:spcPts val="0"/>
              </a:spcBef>
              <a:spcAft>
                <a:spcPts val="0"/>
              </a:spcAft>
              <a:buClr>
                <a:srgbClr val="00FFFF"/>
              </a:buClr>
              <a:buSzPts val="1269"/>
              <a:buFont typeface="Orbitron"/>
              <a:buNone/>
            </a:pPr>
            <a:r>
              <a:rPr b="0" i="0" lang="en-US" sz="1269" u="none" cap="none" strike="noStrike">
                <a:solidFill>
                  <a:srgbClr val="00FFFF"/>
                </a:solidFill>
                <a:latin typeface="Orbitron"/>
                <a:ea typeface="Orbitron"/>
                <a:cs typeface="Orbitron"/>
                <a:sym typeface="Orbitron"/>
              </a:rPr>
              <a:t>MISSION: MARSOPS_2036</a:t>
            </a:r>
            <a:endParaRPr b="0" i="0" sz="1269" u="none" cap="none" strike="noStrike">
              <a:solidFill>
                <a:schemeClr val="dk1"/>
              </a:solidFill>
              <a:latin typeface="Calibri"/>
              <a:ea typeface="Calibri"/>
              <a:cs typeface="Calibri"/>
              <a:sym typeface="Calibri"/>
            </a:endParaRPr>
          </a:p>
        </p:txBody>
      </p:sp>
      <p:sp>
        <p:nvSpPr>
          <p:cNvPr id="18" name="Google Shape;18;p3"/>
          <p:cNvSpPr/>
          <p:nvPr/>
        </p:nvSpPr>
        <p:spPr>
          <a:xfrm>
            <a:off x="2414576" y="1423252"/>
            <a:ext cx="4314900" cy="860700"/>
          </a:xfrm>
          <a:prstGeom prst="rect">
            <a:avLst/>
          </a:prstGeom>
          <a:noFill/>
          <a:ln>
            <a:noFill/>
          </a:ln>
        </p:spPr>
        <p:txBody>
          <a:bodyPr anchorCtr="0" anchor="t" bIns="0" lIns="0" spcFirstLastPara="1" rIns="0" wrap="square" tIns="0">
            <a:noAutofit/>
          </a:bodyPr>
          <a:lstStyle/>
          <a:p>
            <a:pPr indent="0" lvl="0" marL="0" marR="0" rtl="0" algn="ctr">
              <a:lnSpc>
                <a:spcPct val="123456"/>
              </a:lnSpc>
              <a:spcBef>
                <a:spcPts val="0"/>
              </a:spcBef>
              <a:spcAft>
                <a:spcPts val="0"/>
              </a:spcAft>
              <a:buClr>
                <a:srgbClr val="FF4500"/>
              </a:buClr>
              <a:buSzPts val="2592"/>
              <a:buFont typeface="Orbitron"/>
              <a:buNone/>
            </a:pPr>
            <a:r>
              <a:rPr b="0" i="0" lang="en-US" sz="2592" u="none" cap="none" strike="noStrike">
                <a:solidFill>
                  <a:srgbClr val="FF4500"/>
                </a:solidFill>
                <a:latin typeface="Orbitron"/>
                <a:ea typeface="Orbitron"/>
                <a:cs typeface="Orbitron"/>
                <a:sym typeface="Orbitron"/>
              </a:rPr>
              <a:t>WELCOME TO MARS.</a:t>
            </a:r>
            <a:br>
              <a:rPr b="0" i="0" lang="en-US" sz="2592" u="none" cap="none" strike="noStrike">
                <a:solidFill>
                  <a:srgbClr val="FF4500"/>
                </a:solidFill>
                <a:latin typeface="Orbitron"/>
                <a:ea typeface="Orbitron"/>
                <a:cs typeface="Orbitron"/>
                <a:sym typeface="Orbitron"/>
              </a:rPr>
            </a:br>
            <a:r>
              <a:rPr b="0" i="0" lang="en-US" sz="2592" u="none" cap="none" strike="noStrike">
                <a:solidFill>
                  <a:srgbClr val="FF4500"/>
                </a:solidFill>
                <a:latin typeface="Orbitron"/>
                <a:ea typeface="Orbitron"/>
                <a:cs typeface="Orbitron"/>
                <a:sym typeface="Orbitron"/>
              </a:rPr>
              <a:t>PLEASE DON’T DIE!</a:t>
            </a:r>
            <a:endParaRPr b="0" i="0" sz="2592" u="none" cap="none" strike="noStrike">
              <a:solidFill>
                <a:schemeClr val="dk1"/>
              </a:solidFill>
              <a:latin typeface="Calibri"/>
              <a:ea typeface="Calibri"/>
              <a:cs typeface="Calibri"/>
              <a:sym typeface="Calibri"/>
            </a:endParaRPr>
          </a:p>
        </p:txBody>
      </p:sp>
      <p:sp>
        <p:nvSpPr>
          <p:cNvPr id="19" name="Google Shape;19;p3"/>
          <p:cNvSpPr/>
          <p:nvPr/>
        </p:nvSpPr>
        <p:spPr>
          <a:xfrm>
            <a:off x="561677" y="2559248"/>
            <a:ext cx="8020645" cy="600075"/>
          </a:xfrm>
          <a:prstGeom prst="rect">
            <a:avLst/>
          </a:prstGeom>
          <a:solidFill>
            <a:srgbClr val="000000">
              <a:alpha val="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561677" y="2559248"/>
            <a:ext cx="8020645" cy="14288"/>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561677" y="3145036"/>
            <a:ext cx="8020645" cy="14288"/>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1096050" y="2559250"/>
            <a:ext cx="6951900" cy="600000"/>
          </a:xfrm>
          <a:prstGeom prst="rect">
            <a:avLst/>
          </a:prstGeom>
          <a:noFill/>
          <a:ln>
            <a:noFill/>
          </a:ln>
        </p:spPr>
        <p:txBody>
          <a:bodyPr anchorCtr="0" anchor="t" bIns="170050" lIns="340225" spcFirstLastPara="1" rIns="340225" wrap="square" tIns="170050">
            <a:noAutofit/>
          </a:bodyPr>
          <a:lstStyle/>
          <a:p>
            <a:pPr indent="0" lvl="0" marL="0" marR="0" rtl="0" algn="l">
              <a:lnSpc>
                <a:spcPct val="129107"/>
              </a:lnSpc>
              <a:spcBef>
                <a:spcPts val="0"/>
              </a:spcBef>
              <a:spcAft>
                <a:spcPts val="0"/>
              </a:spcAft>
              <a:buClr>
                <a:srgbClr val="E0E0E0"/>
              </a:buClr>
              <a:buSzPts val="1704"/>
              <a:buFont typeface="Orbitron"/>
              <a:buNone/>
            </a:pPr>
            <a:r>
              <a:rPr b="0" i="0" lang="en-US" sz="1704" u="none" cap="none" strike="noStrike">
                <a:solidFill>
                  <a:srgbClr val="E0E0E0"/>
                </a:solidFill>
                <a:latin typeface="Orbitron"/>
                <a:ea typeface="Orbitron"/>
                <a:cs typeface="Orbitron"/>
                <a:sym typeface="Orbitron"/>
              </a:rPr>
              <a:t>MARSOPS: DISTRIBUTED AUTOMATION PLATFORM</a:t>
            </a:r>
            <a:endParaRPr b="0" i="0" sz="1704" u="none" cap="none" strike="noStrike">
              <a:solidFill>
                <a:schemeClr val="dk1"/>
              </a:solidFill>
              <a:latin typeface="Calibri"/>
              <a:ea typeface="Calibri"/>
              <a:cs typeface="Calibri"/>
              <a:sym typeface="Calibri"/>
            </a:endParaRPr>
          </a:p>
        </p:txBody>
      </p:sp>
      <p:sp>
        <p:nvSpPr>
          <p:cNvPr id="23" name="Google Shape;23;p3"/>
          <p:cNvSpPr/>
          <p:nvPr/>
        </p:nvSpPr>
        <p:spPr>
          <a:xfrm>
            <a:off x="914400" y="3573661"/>
            <a:ext cx="7315200" cy="500063"/>
          </a:xfrm>
          <a:prstGeom prst="rect">
            <a:avLst/>
          </a:prstGeom>
          <a:solidFill>
            <a:srgbClr val="000000">
              <a:alpha val="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a:off x="914400" y="3573661"/>
            <a:ext cx="7315200" cy="7144"/>
          </a:xfrm>
          <a:prstGeom prst="rect">
            <a:avLst/>
          </a:prstGeom>
          <a:solidFill>
            <a:srgbClr val="FFC7B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1460590" y="3791545"/>
            <a:ext cx="1430536" cy="108942"/>
          </a:xfrm>
          <a:prstGeom prst="rect">
            <a:avLst/>
          </a:prstGeom>
          <a:noFill/>
          <a:ln>
            <a:noFill/>
          </a:ln>
        </p:spPr>
        <p:txBody>
          <a:bodyPr anchorCtr="0" anchor="t" bIns="0" lIns="0" spcFirstLastPara="1" rIns="0" wrap="square" tIns="0">
            <a:noAutofit/>
          </a:bodyPr>
          <a:lstStyle/>
          <a:p>
            <a:pPr indent="0" lvl="0" marL="0" marR="0" rtl="0" algn="ctr">
              <a:lnSpc>
                <a:spcPct val="128824"/>
              </a:lnSpc>
              <a:spcBef>
                <a:spcPts val="0"/>
              </a:spcBef>
              <a:spcAft>
                <a:spcPts val="0"/>
              </a:spcAft>
              <a:buClr>
                <a:srgbClr val="FF4500"/>
              </a:buClr>
              <a:buSzPts val="621"/>
              <a:buFont typeface="Orbitron"/>
              <a:buNone/>
            </a:pPr>
            <a:r>
              <a:rPr b="0" i="0" lang="en-US" sz="621" u="none" cap="none" strike="noStrike">
                <a:solidFill>
                  <a:srgbClr val="FF4500"/>
                </a:solidFill>
                <a:latin typeface="Orbitron"/>
                <a:ea typeface="Orbitron"/>
                <a:cs typeface="Orbitron"/>
                <a:sym typeface="Orbitron"/>
              </a:rPr>
              <a:t>INSTITUTION</a:t>
            </a:r>
            <a:endParaRPr b="0" i="0" sz="621" u="none" cap="none" strike="noStrike">
              <a:solidFill>
                <a:schemeClr val="dk1"/>
              </a:solidFill>
              <a:latin typeface="Calibri"/>
              <a:ea typeface="Calibri"/>
              <a:cs typeface="Calibri"/>
              <a:sym typeface="Calibri"/>
            </a:endParaRPr>
          </a:p>
        </p:txBody>
      </p:sp>
      <p:sp>
        <p:nvSpPr>
          <p:cNvPr id="26" name="Google Shape;26;p3"/>
          <p:cNvSpPr/>
          <p:nvPr/>
        </p:nvSpPr>
        <p:spPr>
          <a:xfrm>
            <a:off x="1460590" y="3936206"/>
            <a:ext cx="1430536" cy="133945"/>
          </a:xfrm>
          <a:prstGeom prst="rect">
            <a:avLst/>
          </a:prstGeom>
          <a:noFill/>
          <a:ln>
            <a:noFill/>
          </a:ln>
        </p:spPr>
        <p:txBody>
          <a:bodyPr anchorCtr="0" anchor="t" bIns="0" lIns="0" spcFirstLastPara="1" rIns="0" wrap="square" tIns="0">
            <a:noAutofit/>
          </a:bodyPr>
          <a:lstStyle/>
          <a:p>
            <a:pPr indent="0" lvl="0" marL="0" marR="0" rtl="0" algn="ctr">
              <a:lnSpc>
                <a:spcPct val="131894"/>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Sapienza University of Rome</a:t>
            </a:r>
            <a:endParaRPr b="0" i="0" sz="834" u="none" cap="none" strike="noStrike">
              <a:solidFill>
                <a:schemeClr val="dk1"/>
              </a:solidFill>
              <a:latin typeface="Calibri"/>
              <a:ea typeface="Calibri"/>
              <a:cs typeface="Calibri"/>
              <a:sym typeface="Calibri"/>
            </a:endParaRPr>
          </a:p>
        </p:txBody>
      </p:sp>
      <p:sp>
        <p:nvSpPr>
          <p:cNvPr id="27" name="Google Shape;27;p3"/>
          <p:cNvSpPr/>
          <p:nvPr/>
        </p:nvSpPr>
        <p:spPr>
          <a:xfrm>
            <a:off x="3983506" y="3791545"/>
            <a:ext cx="2253853" cy="108942"/>
          </a:xfrm>
          <a:prstGeom prst="rect">
            <a:avLst/>
          </a:prstGeom>
          <a:noFill/>
          <a:ln>
            <a:noFill/>
          </a:ln>
        </p:spPr>
        <p:txBody>
          <a:bodyPr anchorCtr="0" anchor="t" bIns="0" lIns="0" spcFirstLastPara="1" rIns="0" wrap="square" tIns="0">
            <a:noAutofit/>
          </a:bodyPr>
          <a:lstStyle/>
          <a:p>
            <a:pPr indent="0" lvl="0" marL="0" marR="0" rtl="0" algn="ctr">
              <a:lnSpc>
                <a:spcPct val="128824"/>
              </a:lnSpc>
              <a:spcBef>
                <a:spcPts val="0"/>
              </a:spcBef>
              <a:spcAft>
                <a:spcPts val="0"/>
              </a:spcAft>
              <a:buClr>
                <a:srgbClr val="FF4500"/>
              </a:buClr>
              <a:buSzPts val="621"/>
              <a:buFont typeface="Orbitron"/>
              <a:buNone/>
            </a:pPr>
            <a:r>
              <a:rPr b="0" i="0" lang="en-US" sz="621" u="none" cap="none" strike="noStrike">
                <a:solidFill>
                  <a:srgbClr val="FF4500"/>
                </a:solidFill>
                <a:latin typeface="Orbitron"/>
                <a:ea typeface="Orbitron"/>
                <a:cs typeface="Orbitron"/>
                <a:sym typeface="Orbitron"/>
              </a:rPr>
              <a:t>PROGRAM</a:t>
            </a:r>
            <a:endParaRPr b="0" i="0" sz="621" u="none" cap="none" strike="noStrike">
              <a:solidFill>
                <a:schemeClr val="dk1"/>
              </a:solidFill>
              <a:latin typeface="Calibri"/>
              <a:ea typeface="Calibri"/>
              <a:cs typeface="Calibri"/>
              <a:sym typeface="Calibri"/>
            </a:endParaRPr>
          </a:p>
        </p:txBody>
      </p:sp>
      <p:sp>
        <p:nvSpPr>
          <p:cNvPr id="28" name="Google Shape;28;p3"/>
          <p:cNvSpPr/>
          <p:nvPr/>
        </p:nvSpPr>
        <p:spPr>
          <a:xfrm>
            <a:off x="3983506" y="3936206"/>
            <a:ext cx="2253853" cy="133945"/>
          </a:xfrm>
          <a:prstGeom prst="rect">
            <a:avLst/>
          </a:prstGeom>
          <a:noFill/>
          <a:ln>
            <a:noFill/>
          </a:ln>
        </p:spPr>
        <p:txBody>
          <a:bodyPr anchorCtr="0" anchor="t" bIns="0" lIns="0" spcFirstLastPara="1" rIns="0" wrap="square" tIns="0">
            <a:noAutofit/>
          </a:bodyPr>
          <a:lstStyle/>
          <a:p>
            <a:pPr indent="0" lvl="0" marL="0" marR="0" rtl="0" algn="ctr">
              <a:lnSpc>
                <a:spcPct val="131894"/>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MSc in Engineering in Computer Science &amp; AI</a:t>
            </a:r>
            <a:endParaRPr b="0" i="0" sz="834" u="none" cap="none" strike="noStrike">
              <a:solidFill>
                <a:schemeClr val="dk1"/>
              </a:solidFill>
              <a:latin typeface="Calibri"/>
              <a:ea typeface="Calibri"/>
              <a:cs typeface="Calibri"/>
              <a:sym typeface="Calibri"/>
            </a:endParaRPr>
          </a:p>
        </p:txBody>
      </p:sp>
      <p:sp>
        <p:nvSpPr>
          <p:cNvPr id="29" name="Google Shape;29;p3"/>
          <p:cNvSpPr/>
          <p:nvPr/>
        </p:nvSpPr>
        <p:spPr>
          <a:xfrm>
            <a:off x="7329739" y="3791545"/>
            <a:ext cx="353616" cy="108942"/>
          </a:xfrm>
          <a:prstGeom prst="rect">
            <a:avLst/>
          </a:prstGeom>
          <a:noFill/>
          <a:ln>
            <a:noFill/>
          </a:ln>
        </p:spPr>
        <p:txBody>
          <a:bodyPr anchorCtr="0" anchor="t" bIns="0" lIns="0" spcFirstLastPara="1" rIns="0" wrap="square" tIns="0">
            <a:noAutofit/>
          </a:bodyPr>
          <a:lstStyle/>
          <a:p>
            <a:pPr indent="0" lvl="0" marL="0" marR="0" rtl="0" algn="ctr">
              <a:lnSpc>
                <a:spcPct val="128824"/>
              </a:lnSpc>
              <a:spcBef>
                <a:spcPts val="0"/>
              </a:spcBef>
              <a:spcAft>
                <a:spcPts val="0"/>
              </a:spcAft>
              <a:buClr>
                <a:srgbClr val="FF4500"/>
              </a:buClr>
              <a:buSzPts val="621"/>
              <a:buFont typeface="Orbitron"/>
              <a:buNone/>
            </a:pPr>
            <a:r>
              <a:rPr b="0" i="0" lang="en-US" sz="621" u="none" cap="none" strike="noStrike">
                <a:solidFill>
                  <a:srgbClr val="FF4500"/>
                </a:solidFill>
                <a:latin typeface="Orbitron"/>
                <a:ea typeface="Orbitron"/>
                <a:cs typeface="Orbitron"/>
                <a:sym typeface="Orbitron"/>
              </a:rPr>
              <a:t>GROUP</a:t>
            </a:r>
            <a:endParaRPr b="0" i="0" sz="621" u="none" cap="none" strike="noStrike">
              <a:solidFill>
                <a:schemeClr val="dk1"/>
              </a:solidFill>
              <a:latin typeface="Calibri"/>
              <a:ea typeface="Calibri"/>
              <a:cs typeface="Calibri"/>
              <a:sym typeface="Calibri"/>
            </a:endParaRPr>
          </a:p>
        </p:txBody>
      </p:sp>
      <p:sp>
        <p:nvSpPr>
          <p:cNvPr id="30" name="Google Shape;30;p3"/>
          <p:cNvSpPr/>
          <p:nvPr/>
        </p:nvSpPr>
        <p:spPr>
          <a:xfrm>
            <a:off x="7373494" y="3936206"/>
            <a:ext cx="266105" cy="133945"/>
          </a:xfrm>
          <a:prstGeom prst="rect">
            <a:avLst/>
          </a:prstGeom>
          <a:noFill/>
          <a:ln>
            <a:noFill/>
          </a:ln>
        </p:spPr>
        <p:txBody>
          <a:bodyPr anchorCtr="0" anchor="t" bIns="0" lIns="0" spcFirstLastPara="1" rIns="0" wrap="square" tIns="0">
            <a:noAutofit/>
          </a:bodyPr>
          <a:lstStyle/>
          <a:p>
            <a:pPr indent="0" lvl="0" marL="0" marR="0" rtl="0" algn="ctr">
              <a:lnSpc>
                <a:spcPct val="131894"/>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LoAP</a:t>
            </a:r>
            <a:endParaRPr b="0" i="0" sz="834"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pic>
        <p:nvPicPr>
          <p:cNvPr descr="preencoded.png" id="36" name="Google Shape;36;p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7" name="Google Shape;37;p4"/>
          <p:cNvSpPr/>
          <p:nvPr/>
        </p:nvSpPr>
        <p:spPr>
          <a:xfrm>
            <a:off x="7193756" y="285750"/>
            <a:ext cx="1664494"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PROJECT // V1.0</a:t>
            </a:r>
            <a:endParaRPr b="0" i="0" sz="621" u="none" cap="none" strike="noStrike">
              <a:solidFill>
                <a:schemeClr val="dk1"/>
              </a:solidFill>
              <a:latin typeface="Calibri"/>
              <a:ea typeface="Calibri"/>
              <a:cs typeface="Calibri"/>
              <a:sym typeface="Calibri"/>
            </a:endParaRPr>
          </a:p>
        </p:txBody>
      </p:sp>
      <p:sp>
        <p:nvSpPr>
          <p:cNvPr id="38" name="Google Shape;38;p4"/>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814388" y="964406"/>
            <a:ext cx="7515225" cy="40005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PROJECT SCOPE</a:t>
            </a:r>
            <a:endParaRPr b="0" i="0" sz="1602" u="none" cap="none" strike="noStrike">
              <a:solidFill>
                <a:schemeClr val="dk1"/>
              </a:solidFill>
              <a:latin typeface="Calibri"/>
              <a:ea typeface="Calibri"/>
              <a:cs typeface="Calibri"/>
              <a:sym typeface="Calibri"/>
            </a:endParaRPr>
          </a:p>
        </p:txBody>
      </p:sp>
      <p:pic>
        <p:nvPicPr>
          <p:cNvPr descr="preencoded.png" id="40" name="Google Shape;40;p4"/>
          <p:cNvPicPr preferRelativeResize="0"/>
          <p:nvPr/>
        </p:nvPicPr>
        <p:blipFill rotWithShape="1">
          <a:blip r:embed="rId4">
            <a:alphaModFix/>
          </a:blip>
          <a:srcRect b="0" l="0" r="0" t="0"/>
          <a:stretch/>
        </p:blipFill>
        <p:spPr>
          <a:xfrm>
            <a:off x="814388" y="1612702"/>
            <a:ext cx="128588" cy="128588"/>
          </a:xfrm>
          <a:prstGeom prst="rect">
            <a:avLst/>
          </a:prstGeom>
          <a:noFill/>
          <a:ln>
            <a:noFill/>
          </a:ln>
        </p:spPr>
      </p:pic>
      <p:sp>
        <p:nvSpPr>
          <p:cNvPr id="41" name="Google Shape;41;p4"/>
          <p:cNvSpPr/>
          <p:nvPr/>
        </p:nvSpPr>
        <p:spPr>
          <a:xfrm>
            <a:off x="1014413" y="1605558"/>
            <a:ext cx="7315200"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MarsOps is a distributed automation platform designed to guarantee the survival of occupants in a Martian habitat by integrating</a:t>
            </a:r>
            <a:endParaRPr b="0" i="0" sz="942" u="none" cap="none" strike="noStrike">
              <a:solidFill>
                <a:schemeClr val="dk1"/>
              </a:solidFill>
              <a:latin typeface="Calibri"/>
              <a:ea typeface="Calibri"/>
              <a:cs typeface="Calibri"/>
              <a:sym typeface="Calibri"/>
            </a:endParaRPr>
          </a:p>
        </p:txBody>
      </p:sp>
      <p:sp>
        <p:nvSpPr>
          <p:cNvPr id="42" name="Google Shape;42;p4"/>
          <p:cNvSpPr/>
          <p:nvPr/>
        </p:nvSpPr>
        <p:spPr>
          <a:xfrm>
            <a:off x="814388" y="1811275"/>
            <a:ext cx="7515225"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heterogeneous IoT devices into a unified monitoring system. The platform acts as a bridge between a fragile habitat's infrastructure</a:t>
            </a:r>
            <a:endParaRPr b="0" i="0" sz="942" u="none" cap="none" strike="noStrike">
              <a:solidFill>
                <a:schemeClr val="dk1"/>
              </a:solidFill>
              <a:latin typeface="Calibri"/>
              <a:ea typeface="Calibri"/>
              <a:cs typeface="Calibri"/>
              <a:sym typeface="Calibri"/>
            </a:endParaRPr>
          </a:p>
        </p:txBody>
      </p:sp>
      <p:sp>
        <p:nvSpPr>
          <p:cNvPr id="43" name="Google Shape;43;p4"/>
          <p:cNvSpPr/>
          <p:nvPr/>
        </p:nvSpPr>
        <p:spPr>
          <a:xfrm>
            <a:off x="814388" y="2016993"/>
            <a:ext cx="1455539"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and the human operators.</a:t>
            </a:r>
            <a:endParaRPr b="0" i="0" sz="942" u="none" cap="none" strike="noStrike">
              <a:solidFill>
                <a:schemeClr val="dk1"/>
              </a:solidFill>
              <a:latin typeface="Calibri"/>
              <a:ea typeface="Calibri"/>
              <a:cs typeface="Calibri"/>
              <a:sym typeface="Calibri"/>
            </a:endParaRPr>
          </a:p>
        </p:txBody>
      </p:sp>
      <p:pic>
        <p:nvPicPr>
          <p:cNvPr descr="preencoded.png" id="44" name="Google Shape;44;p4"/>
          <p:cNvPicPr preferRelativeResize="0"/>
          <p:nvPr/>
        </p:nvPicPr>
        <p:blipFill rotWithShape="1">
          <a:blip r:embed="rId5">
            <a:alphaModFix/>
          </a:blip>
          <a:srcRect b="0" l="0" r="0" t="0"/>
          <a:stretch/>
        </p:blipFill>
        <p:spPr>
          <a:xfrm>
            <a:off x="814388" y="2408448"/>
            <a:ext cx="160734" cy="128588"/>
          </a:xfrm>
          <a:prstGeom prst="rect">
            <a:avLst/>
          </a:prstGeom>
          <a:noFill/>
          <a:ln>
            <a:noFill/>
          </a:ln>
        </p:spPr>
      </p:pic>
      <p:sp>
        <p:nvSpPr>
          <p:cNvPr id="45" name="Google Shape;45;p4"/>
          <p:cNvSpPr/>
          <p:nvPr/>
        </p:nvSpPr>
        <p:spPr>
          <a:xfrm>
            <a:off x="1046559" y="2401305"/>
            <a:ext cx="7283053"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Operators can monitor critical environmental parameters in real-time through a centralized dashboard. They can, also, define</a:t>
            </a:r>
            <a:endParaRPr b="0" i="0" sz="942" u="none" cap="none" strike="noStrike">
              <a:solidFill>
                <a:schemeClr val="dk1"/>
              </a:solidFill>
              <a:latin typeface="Calibri"/>
              <a:ea typeface="Calibri"/>
              <a:cs typeface="Calibri"/>
              <a:sym typeface="Calibri"/>
            </a:endParaRPr>
          </a:p>
        </p:txBody>
      </p:sp>
      <p:sp>
        <p:nvSpPr>
          <p:cNvPr id="46" name="Google Shape;46;p4"/>
          <p:cNvSpPr/>
          <p:nvPr/>
        </p:nvSpPr>
        <p:spPr>
          <a:xfrm>
            <a:off x="814388" y="2607022"/>
            <a:ext cx="6681192"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rules to ensure that habitat actuators respond instantly to dangerous environmental shifts without manual intervention.</a:t>
            </a:r>
            <a:endParaRPr b="0" i="0" sz="942" u="none" cap="none" strike="noStrike">
              <a:solidFill>
                <a:schemeClr val="dk1"/>
              </a:solidFill>
              <a:latin typeface="Calibri"/>
              <a:ea typeface="Calibri"/>
              <a:cs typeface="Calibri"/>
              <a:sym typeface="Calibri"/>
            </a:endParaRPr>
          </a:p>
        </p:txBody>
      </p:sp>
      <p:pic>
        <p:nvPicPr>
          <p:cNvPr descr="preencoded.png" id="47" name="Google Shape;47;p4"/>
          <p:cNvPicPr preferRelativeResize="0"/>
          <p:nvPr/>
        </p:nvPicPr>
        <p:blipFill rotWithShape="1">
          <a:blip r:embed="rId6">
            <a:alphaModFix/>
          </a:blip>
          <a:srcRect b="0" l="0" r="0" t="0"/>
          <a:stretch/>
        </p:blipFill>
        <p:spPr>
          <a:xfrm>
            <a:off x="814388" y="2998477"/>
            <a:ext cx="160734" cy="128588"/>
          </a:xfrm>
          <a:prstGeom prst="rect">
            <a:avLst/>
          </a:prstGeom>
          <a:noFill/>
          <a:ln>
            <a:noFill/>
          </a:ln>
        </p:spPr>
      </p:pic>
      <p:sp>
        <p:nvSpPr>
          <p:cNvPr id="48" name="Google Shape;48;p4"/>
          <p:cNvSpPr/>
          <p:nvPr/>
        </p:nvSpPr>
        <p:spPr>
          <a:xfrm>
            <a:off x="1046559" y="2991334"/>
            <a:ext cx="7283053"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By evaluating sensor data against operator-defined criteria, it triggers autonomous responses</a:t>
            </a:r>
            <a:r>
              <a:rPr lang="en-US" sz="942">
                <a:solidFill>
                  <a:srgbClr val="E0E0E0"/>
                </a:solidFill>
                <a:latin typeface="Roboto"/>
                <a:ea typeface="Roboto"/>
                <a:cs typeface="Roboto"/>
                <a:sym typeface="Roboto"/>
              </a:rPr>
              <a:t>,</a:t>
            </a:r>
            <a:r>
              <a:rPr b="0" i="0" lang="en-US" sz="942" u="none" cap="none" strike="noStrike">
                <a:solidFill>
                  <a:srgbClr val="E0E0E0"/>
                </a:solidFill>
                <a:latin typeface="Roboto"/>
                <a:ea typeface="Roboto"/>
                <a:cs typeface="Roboto"/>
                <a:sym typeface="Roboto"/>
              </a:rPr>
              <a:t> such as activating cooling</a:t>
            </a:r>
            <a:endParaRPr b="0" i="0" sz="942" u="none" cap="none" strike="noStrike">
              <a:solidFill>
                <a:schemeClr val="dk1"/>
              </a:solidFill>
              <a:latin typeface="Calibri"/>
              <a:ea typeface="Calibri"/>
              <a:cs typeface="Calibri"/>
              <a:sym typeface="Calibri"/>
            </a:endParaRPr>
          </a:p>
        </p:txBody>
      </p:sp>
      <p:sp>
        <p:nvSpPr>
          <p:cNvPr id="49" name="Google Shape;49;p4"/>
          <p:cNvSpPr/>
          <p:nvPr/>
        </p:nvSpPr>
        <p:spPr>
          <a:xfrm>
            <a:off x="814388" y="3197051"/>
            <a:ext cx="7233047"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systems or emergency ventilation</a:t>
            </a:r>
            <a:r>
              <a:rPr lang="en-US" sz="942">
                <a:solidFill>
                  <a:srgbClr val="E0E0E0"/>
                </a:solidFill>
                <a:latin typeface="Roboto"/>
                <a:ea typeface="Roboto"/>
                <a:cs typeface="Roboto"/>
                <a:sym typeface="Roboto"/>
              </a:rPr>
              <a:t>,</a:t>
            </a:r>
            <a:r>
              <a:rPr b="0" i="0" lang="en-US" sz="942" u="none" cap="none" strike="noStrike">
                <a:solidFill>
                  <a:srgbClr val="E0E0E0"/>
                </a:solidFill>
                <a:latin typeface="Roboto"/>
                <a:ea typeface="Roboto"/>
                <a:cs typeface="Roboto"/>
                <a:sym typeface="Roboto"/>
              </a:rPr>
              <a:t> without requiring manual intervention, mitigating risks in high-latency Martian environments.</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pic>
        <p:nvPicPr>
          <p:cNvPr descr="preencoded.png" id="55" name="Google Shape;55;p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56" name="Google Shape;56;p5"/>
          <p:cNvSpPr/>
          <p:nvPr/>
        </p:nvSpPr>
        <p:spPr>
          <a:xfrm>
            <a:off x="6363295" y="285750"/>
            <a:ext cx="2494955"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MISSION_STATUS // COMPLETE</a:t>
            </a:r>
            <a:endParaRPr b="0" i="0" sz="621" u="none" cap="none" strike="noStrike">
              <a:solidFill>
                <a:schemeClr val="dk1"/>
              </a:solidFill>
              <a:latin typeface="Calibri"/>
              <a:ea typeface="Calibri"/>
              <a:cs typeface="Calibri"/>
              <a:sym typeface="Calibri"/>
            </a:endParaRPr>
          </a:p>
        </p:txBody>
      </p:sp>
      <p:sp>
        <p:nvSpPr>
          <p:cNvPr id="57" name="Google Shape;57;p5"/>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5"/>
          <p:cNvSpPr/>
          <p:nvPr/>
        </p:nvSpPr>
        <p:spPr>
          <a:xfrm>
            <a:off x="814388" y="1035844"/>
            <a:ext cx="7515225" cy="587573"/>
          </a:xfrm>
          <a:prstGeom prst="rect">
            <a:avLst/>
          </a:prstGeom>
          <a:noFill/>
          <a:ln>
            <a:noFill/>
          </a:ln>
        </p:spPr>
        <p:txBody>
          <a:bodyPr anchorCtr="0" anchor="t" bIns="170050" lIns="0" spcFirstLastPara="1" rIns="0" wrap="square" tIns="0">
            <a:noAutofit/>
          </a:bodyPr>
          <a:lstStyle/>
          <a:p>
            <a:pPr indent="0" lvl="0" marL="0" marR="0" rtl="0" algn="ctr">
              <a:lnSpc>
                <a:spcPct val="131362"/>
              </a:lnSpc>
              <a:spcBef>
                <a:spcPts val="0"/>
              </a:spcBef>
              <a:spcAft>
                <a:spcPts val="0"/>
              </a:spcAft>
              <a:buClr>
                <a:srgbClr val="FF4500"/>
              </a:buClr>
              <a:buSzPts val="2436"/>
              <a:buFont typeface="Orbitron"/>
              <a:buNone/>
            </a:pPr>
            <a:r>
              <a:rPr b="1" i="0" lang="en-US" sz="2436" u="none" cap="none" strike="noStrike">
                <a:solidFill>
                  <a:srgbClr val="FF4500"/>
                </a:solidFill>
                <a:latin typeface="Orbitron"/>
                <a:ea typeface="Orbitron"/>
                <a:cs typeface="Orbitron"/>
                <a:sym typeface="Orbitron"/>
              </a:rPr>
              <a:t>MISSION STATUS: OPERATIONAL</a:t>
            </a:r>
            <a:endParaRPr b="0" i="0" sz="2436" u="none" cap="none" strike="noStrike">
              <a:solidFill>
                <a:schemeClr val="dk1"/>
              </a:solidFill>
              <a:latin typeface="Calibri"/>
              <a:ea typeface="Calibri"/>
              <a:cs typeface="Calibri"/>
              <a:sym typeface="Calibri"/>
            </a:endParaRPr>
          </a:p>
        </p:txBody>
      </p:sp>
      <p:sp>
        <p:nvSpPr>
          <p:cNvPr id="59" name="Google Shape;59;p5"/>
          <p:cNvSpPr/>
          <p:nvPr/>
        </p:nvSpPr>
        <p:spPr>
          <a:xfrm>
            <a:off x="814388" y="1980605"/>
            <a:ext cx="2362181" cy="1571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0" name="Google Shape;60;p5"/>
          <p:cNvPicPr preferRelativeResize="0"/>
          <p:nvPr/>
        </p:nvPicPr>
        <p:blipFill rotWithShape="1">
          <a:blip r:embed="rId4">
            <a:alphaModFix/>
          </a:blip>
          <a:srcRect b="0" l="0" r="0" t="0"/>
          <a:stretch/>
        </p:blipFill>
        <p:spPr>
          <a:xfrm>
            <a:off x="1852603" y="2194917"/>
            <a:ext cx="285750" cy="285750"/>
          </a:xfrm>
          <a:prstGeom prst="rect">
            <a:avLst/>
          </a:prstGeom>
          <a:noFill/>
          <a:ln>
            <a:noFill/>
          </a:ln>
        </p:spPr>
      </p:pic>
      <p:sp>
        <p:nvSpPr>
          <p:cNvPr id="61" name="Google Shape;61;p5"/>
          <p:cNvSpPr/>
          <p:nvPr/>
        </p:nvSpPr>
        <p:spPr>
          <a:xfrm>
            <a:off x="1454339" y="2623542"/>
            <a:ext cx="1082278" cy="178594"/>
          </a:xfrm>
          <a:prstGeom prst="rect">
            <a:avLst/>
          </a:prstGeom>
          <a:noFill/>
          <a:ln>
            <a:noFill/>
          </a:ln>
        </p:spPr>
        <p:txBody>
          <a:bodyPr anchorCtr="0" anchor="t" bIns="0" lIns="0" spcFirstLastPara="1" rIns="0" wrap="square" tIns="0">
            <a:noAutofit/>
          </a:bodyPr>
          <a:lstStyle/>
          <a:p>
            <a:pPr indent="0" lvl="0" marL="0" marR="0" rtl="0" algn="ctr">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RELIABILITY</a:t>
            </a:r>
            <a:endParaRPr b="0" i="0" sz="1050" u="none" cap="none" strike="noStrike">
              <a:solidFill>
                <a:schemeClr val="dk1"/>
              </a:solidFill>
              <a:latin typeface="Calibri"/>
              <a:ea typeface="Calibri"/>
              <a:cs typeface="Calibri"/>
              <a:sym typeface="Calibri"/>
            </a:endParaRPr>
          </a:p>
        </p:txBody>
      </p:sp>
      <p:sp>
        <p:nvSpPr>
          <p:cNvPr id="62" name="Google Shape;62;p5"/>
          <p:cNvSpPr/>
          <p:nvPr/>
        </p:nvSpPr>
        <p:spPr>
          <a:xfrm>
            <a:off x="957263" y="2909292"/>
            <a:ext cx="2076431" cy="320018"/>
          </a:xfrm>
          <a:prstGeom prst="rect">
            <a:avLst/>
          </a:prstGeom>
          <a:noFill/>
          <a:ln>
            <a:noFill/>
          </a:ln>
        </p:spPr>
        <p:txBody>
          <a:bodyPr anchorCtr="0" anchor="t" bIns="0" lIns="0" spcFirstLastPara="1" rIns="0" wrap="square" tIns="0">
            <a:noAutofit/>
          </a:bodyPr>
          <a:lstStyle/>
          <a:p>
            <a:pPr indent="0" lvl="0" marL="0" marR="0" rtl="0" algn="ctr">
              <a:lnSpc>
                <a:spcPct val="155875"/>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Distributed architecture ensuring habitat survival through redundancy.</a:t>
            </a:r>
            <a:endParaRPr b="0" i="0" sz="834" u="none" cap="none" strike="noStrike">
              <a:solidFill>
                <a:schemeClr val="dk1"/>
              </a:solidFill>
              <a:latin typeface="Calibri"/>
              <a:ea typeface="Calibri"/>
              <a:cs typeface="Calibri"/>
              <a:sym typeface="Calibri"/>
            </a:endParaRPr>
          </a:p>
        </p:txBody>
      </p:sp>
      <p:sp>
        <p:nvSpPr>
          <p:cNvPr id="63" name="Google Shape;63;p5"/>
          <p:cNvSpPr/>
          <p:nvPr/>
        </p:nvSpPr>
        <p:spPr>
          <a:xfrm>
            <a:off x="3390881" y="1980605"/>
            <a:ext cx="2362209" cy="1571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4" name="Google Shape;64;p5"/>
          <p:cNvPicPr preferRelativeResize="0"/>
          <p:nvPr/>
        </p:nvPicPr>
        <p:blipFill rotWithShape="1">
          <a:blip r:embed="rId5">
            <a:alphaModFix/>
          </a:blip>
          <a:srcRect b="0" l="0" r="0" t="0"/>
          <a:stretch/>
        </p:blipFill>
        <p:spPr>
          <a:xfrm>
            <a:off x="4393378" y="2194917"/>
            <a:ext cx="357188" cy="285750"/>
          </a:xfrm>
          <a:prstGeom prst="rect">
            <a:avLst/>
          </a:prstGeom>
          <a:noFill/>
          <a:ln>
            <a:noFill/>
          </a:ln>
        </p:spPr>
      </p:pic>
      <p:sp>
        <p:nvSpPr>
          <p:cNvPr id="65" name="Google Shape;65;p5"/>
          <p:cNvSpPr/>
          <p:nvPr/>
        </p:nvSpPr>
        <p:spPr>
          <a:xfrm>
            <a:off x="3989756" y="2623542"/>
            <a:ext cx="1164431" cy="178594"/>
          </a:xfrm>
          <a:prstGeom prst="rect">
            <a:avLst/>
          </a:prstGeom>
          <a:noFill/>
          <a:ln>
            <a:noFill/>
          </a:ln>
        </p:spPr>
        <p:txBody>
          <a:bodyPr anchorCtr="0" anchor="t" bIns="0" lIns="0" spcFirstLastPara="1" rIns="0" wrap="square" tIns="0">
            <a:noAutofit/>
          </a:bodyPr>
          <a:lstStyle/>
          <a:p>
            <a:pPr indent="0" lvl="0" marL="0" marR="0" rtl="0" algn="ctr">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AUTOMATION</a:t>
            </a:r>
            <a:endParaRPr b="0" i="0" sz="1050" u="none" cap="none" strike="noStrike">
              <a:solidFill>
                <a:schemeClr val="dk1"/>
              </a:solidFill>
              <a:latin typeface="Calibri"/>
              <a:ea typeface="Calibri"/>
              <a:cs typeface="Calibri"/>
              <a:sym typeface="Calibri"/>
            </a:endParaRPr>
          </a:p>
        </p:txBody>
      </p:sp>
      <p:sp>
        <p:nvSpPr>
          <p:cNvPr id="66" name="Google Shape;66;p5"/>
          <p:cNvSpPr/>
          <p:nvPr/>
        </p:nvSpPr>
        <p:spPr>
          <a:xfrm>
            <a:off x="3533756" y="2909292"/>
            <a:ext cx="2076459" cy="320018"/>
          </a:xfrm>
          <a:prstGeom prst="rect">
            <a:avLst/>
          </a:prstGeom>
          <a:noFill/>
          <a:ln>
            <a:noFill/>
          </a:ln>
        </p:spPr>
        <p:txBody>
          <a:bodyPr anchorCtr="0" anchor="t" bIns="0" lIns="0" spcFirstLastPara="1" rIns="0" wrap="square" tIns="0">
            <a:noAutofit/>
          </a:bodyPr>
          <a:lstStyle/>
          <a:p>
            <a:pPr indent="0" lvl="0" marL="0" marR="0" rtl="0" algn="ctr">
              <a:lnSpc>
                <a:spcPct val="155875"/>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Smart control loops mitigating risks in high-latency environments.</a:t>
            </a:r>
            <a:endParaRPr b="0" i="0" sz="834" u="none" cap="none" strike="noStrike">
              <a:solidFill>
                <a:schemeClr val="dk1"/>
              </a:solidFill>
              <a:latin typeface="Calibri"/>
              <a:ea typeface="Calibri"/>
              <a:cs typeface="Calibri"/>
              <a:sym typeface="Calibri"/>
            </a:endParaRPr>
          </a:p>
        </p:txBody>
      </p:sp>
      <p:sp>
        <p:nvSpPr>
          <p:cNvPr id="67" name="Google Shape;67;p5"/>
          <p:cNvSpPr/>
          <p:nvPr/>
        </p:nvSpPr>
        <p:spPr>
          <a:xfrm>
            <a:off x="5967403" y="1980605"/>
            <a:ext cx="2362181" cy="1571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 name="Google Shape;68;p5"/>
          <p:cNvPicPr preferRelativeResize="0"/>
          <p:nvPr/>
        </p:nvPicPr>
        <p:blipFill rotWithShape="1">
          <a:blip r:embed="rId6">
            <a:alphaModFix/>
          </a:blip>
          <a:srcRect b="0" l="0" r="0" t="0"/>
          <a:stretch/>
        </p:blipFill>
        <p:spPr>
          <a:xfrm>
            <a:off x="7023478" y="2194917"/>
            <a:ext cx="250031" cy="285750"/>
          </a:xfrm>
          <a:prstGeom prst="rect">
            <a:avLst/>
          </a:prstGeom>
          <a:noFill/>
          <a:ln>
            <a:noFill/>
          </a:ln>
        </p:spPr>
      </p:pic>
      <p:sp>
        <p:nvSpPr>
          <p:cNvPr id="69" name="Google Shape;69;p5"/>
          <p:cNvSpPr/>
          <p:nvPr/>
        </p:nvSpPr>
        <p:spPr>
          <a:xfrm>
            <a:off x="6558242" y="2623542"/>
            <a:ext cx="1180505" cy="178594"/>
          </a:xfrm>
          <a:prstGeom prst="rect">
            <a:avLst/>
          </a:prstGeom>
          <a:noFill/>
          <a:ln>
            <a:noFill/>
          </a:ln>
        </p:spPr>
        <p:txBody>
          <a:bodyPr anchorCtr="0" anchor="t" bIns="0" lIns="0" spcFirstLastPara="1" rIns="0" wrap="square" tIns="0">
            <a:noAutofit/>
          </a:bodyPr>
          <a:lstStyle/>
          <a:p>
            <a:pPr indent="0" lvl="0" marL="0" marR="0" rtl="0" algn="ctr">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SCALABILITY</a:t>
            </a:r>
            <a:endParaRPr b="0" i="0" sz="1050" u="none" cap="none" strike="noStrike">
              <a:solidFill>
                <a:schemeClr val="dk1"/>
              </a:solidFill>
              <a:latin typeface="Calibri"/>
              <a:ea typeface="Calibri"/>
              <a:cs typeface="Calibri"/>
              <a:sym typeface="Calibri"/>
            </a:endParaRPr>
          </a:p>
        </p:txBody>
      </p:sp>
      <p:sp>
        <p:nvSpPr>
          <p:cNvPr id="70" name="Google Shape;70;p5"/>
          <p:cNvSpPr/>
          <p:nvPr/>
        </p:nvSpPr>
        <p:spPr>
          <a:xfrm>
            <a:off x="6110278" y="2909292"/>
            <a:ext cx="2076431" cy="320018"/>
          </a:xfrm>
          <a:prstGeom prst="rect">
            <a:avLst/>
          </a:prstGeom>
          <a:noFill/>
          <a:ln>
            <a:noFill/>
          </a:ln>
        </p:spPr>
        <p:txBody>
          <a:bodyPr anchorCtr="0" anchor="t" bIns="0" lIns="0" spcFirstLastPara="1" rIns="0" wrap="square" tIns="0">
            <a:noAutofit/>
          </a:bodyPr>
          <a:lstStyle/>
          <a:p>
            <a:pPr indent="0" lvl="0" marL="0" marR="0" rtl="0" algn="ctr">
              <a:lnSpc>
                <a:spcPct val="155875"/>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Microservices-ready design for future habitat expansions.</a:t>
            </a:r>
            <a:endParaRPr b="0" i="0" sz="834" u="none" cap="none" strike="noStrike">
              <a:solidFill>
                <a:schemeClr val="dk1"/>
              </a:solidFill>
              <a:latin typeface="Calibri"/>
              <a:ea typeface="Calibri"/>
              <a:cs typeface="Calibri"/>
              <a:sym typeface="Calibri"/>
            </a:endParaRPr>
          </a:p>
        </p:txBody>
      </p:sp>
      <p:sp>
        <p:nvSpPr>
          <p:cNvPr id="71" name="Google Shape;71;p5"/>
          <p:cNvSpPr/>
          <p:nvPr/>
        </p:nvSpPr>
        <p:spPr>
          <a:xfrm>
            <a:off x="3172718" y="4232672"/>
            <a:ext cx="2798564" cy="303609"/>
          </a:xfrm>
          <a:prstGeom prst="rect">
            <a:avLst/>
          </a:prstGeom>
          <a:noFill/>
          <a:ln>
            <a:noFill/>
          </a:ln>
        </p:spPr>
        <p:txBody>
          <a:bodyPr anchorCtr="0" anchor="t" bIns="0" lIns="0" spcFirstLastPara="1" rIns="0" wrap="square" tIns="170050">
            <a:noAutofit/>
          </a:bodyPr>
          <a:lstStyle/>
          <a:p>
            <a:pPr indent="0" lvl="0" marL="0" marR="0" rtl="0" algn="ctr">
              <a:lnSpc>
                <a:spcPct val="127388"/>
              </a:lnSpc>
              <a:spcBef>
                <a:spcPts val="0"/>
              </a:spcBef>
              <a:spcAft>
                <a:spcPts val="0"/>
              </a:spcAft>
              <a:buClr>
                <a:srgbClr val="00FFFF"/>
              </a:buClr>
              <a:buSzPts val="942"/>
              <a:buFont typeface="Orbitron"/>
              <a:buNone/>
            </a:pPr>
            <a:r>
              <a:rPr b="0" i="0" lang="en-US" sz="942" u="none" cap="none" strike="noStrike">
                <a:solidFill>
                  <a:srgbClr val="00FFFF"/>
                </a:solidFill>
                <a:latin typeface="Orbitron"/>
                <a:ea typeface="Orbitron"/>
                <a:cs typeface="Orbitron"/>
                <a:sym typeface="Orbitron"/>
              </a:rPr>
              <a:t>END OF TRANSMISSION</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pic>
        <p:nvPicPr>
          <p:cNvPr descr="preencoded.png" id="77" name="Google Shape;77;p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78" name="Google Shape;78;p6"/>
          <p:cNvSpPr/>
          <p:nvPr/>
        </p:nvSpPr>
        <p:spPr>
          <a:xfrm>
            <a:off x="6856214" y="285750"/>
            <a:ext cx="2002036"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ARCHITECTURE // V1.0</a:t>
            </a:r>
            <a:endParaRPr b="0" i="0" sz="621" u="none" cap="none" strike="noStrike">
              <a:solidFill>
                <a:schemeClr val="dk1"/>
              </a:solidFill>
              <a:latin typeface="Calibri"/>
              <a:ea typeface="Calibri"/>
              <a:cs typeface="Calibri"/>
              <a:sym typeface="Calibri"/>
            </a:endParaRPr>
          </a:p>
        </p:txBody>
      </p:sp>
      <p:sp>
        <p:nvSpPr>
          <p:cNvPr id="79" name="Google Shape;79;p6"/>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6"/>
          <p:cNvSpPr/>
          <p:nvPr/>
        </p:nvSpPr>
        <p:spPr>
          <a:xfrm>
            <a:off x="742950" y="892969"/>
            <a:ext cx="7658100" cy="40005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SYSTEM ARCHITECTURE</a:t>
            </a:r>
            <a:endParaRPr b="0" i="0" sz="1602" u="none" cap="none" strike="noStrike">
              <a:solidFill>
                <a:schemeClr val="dk1"/>
              </a:solidFill>
              <a:latin typeface="Calibri"/>
              <a:ea typeface="Calibri"/>
              <a:cs typeface="Calibri"/>
              <a:sym typeface="Calibri"/>
            </a:endParaRPr>
          </a:p>
        </p:txBody>
      </p:sp>
      <p:sp>
        <p:nvSpPr>
          <p:cNvPr id="81" name="Google Shape;81;p6"/>
          <p:cNvSpPr/>
          <p:nvPr/>
        </p:nvSpPr>
        <p:spPr>
          <a:xfrm>
            <a:off x="742950" y="1278731"/>
            <a:ext cx="3757500" cy="91440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2" name="Google Shape;82;p6"/>
          <p:cNvPicPr preferRelativeResize="0"/>
          <p:nvPr/>
        </p:nvPicPr>
        <p:blipFill rotWithShape="1">
          <a:blip r:embed="rId4">
            <a:alphaModFix/>
          </a:blip>
          <a:srcRect b="0" l="0" r="0" t="0"/>
          <a:stretch/>
        </p:blipFill>
        <p:spPr>
          <a:xfrm>
            <a:off x="885825" y="1693069"/>
            <a:ext cx="285750" cy="228600"/>
          </a:xfrm>
          <a:prstGeom prst="rect">
            <a:avLst/>
          </a:prstGeom>
          <a:noFill/>
          <a:ln>
            <a:noFill/>
          </a:ln>
        </p:spPr>
      </p:pic>
      <p:sp>
        <p:nvSpPr>
          <p:cNvPr id="83" name="Google Shape;83;p6"/>
          <p:cNvSpPr/>
          <p:nvPr/>
        </p:nvSpPr>
        <p:spPr>
          <a:xfrm>
            <a:off x="1350169" y="1727002"/>
            <a:ext cx="2512800" cy="160800"/>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MICROSERVICE ARCHITECTURE</a:t>
            </a:r>
            <a:endParaRPr b="0" i="0" sz="942" u="none" cap="none" strike="noStrike">
              <a:solidFill>
                <a:schemeClr val="dk1"/>
              </a:solidFill>
              <a:latin typeface="Calibri"/>
              <a:ea typeface="Calibri"/>
              <a:cs typeface="Calibri"/>
              <a:sym typeface="Calibri"/>
            </a:endParaRPr>
          </a:p>
        </p:txBody>
      </p:sp>
      <p:sp>
        <p:nvSpPr>
          <p:cNvPr id="84" name="Google Shape;84;p6"/>
          <p:cNvSpPr/>
          <p:nvPr/>
        </p:nvSpPr>
        <p:spPr>
          <a:xfrm>
            <a:off x="4643438" y="1278731"/>
            <a:ext cx="3757500" cy="91440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5" name="Google Shape;85;p6"/>
          <p:cNvPicPr preferRelativeResize="0"/>
          <p:nvPr/>
        </p:nvPicPr>
        <p:blipFill rotWithShape="1">
          <a:blip r:embed="rId5">
            <a:alphaModFix/>
          </a:blip>
          <a:srcRect b="0" l="0" r="0" t="0"/>
          <a:stretch/>
        </p:blipFill>
        <p:spPr>
          <a:xfrm>
            <a:off x="4786313" y="1693069"/>
            <a:ext cx="285750" cy="228600"/>
          </a:xfrm>
          <a:prstGeom prst="rect">
            <a:avLst/>
          </a:prstGeom>
          <a:noFill/>
          <a:ln>
            <a:noFill/>
          </a:ln>
        </p:spPr>
      </p:pic>
      <p:sp>
        <p:nvSpPr>
          <p:cNvPr id="86" name="Google Shape;86;p6"/>
          <p:cNvSpPr/>
          <p:nvPr/>
        </p:nvSpPr>
        <p:spPr>
          <a:xfrm>
            <a:off x="5250656" y="1727002"/>
            <a:ext cx="2187900" cy="160800"/>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AMQ AS MESSAGE BROKER</a:t>
            </a:r>
            <a:endParaRPr b="0" i="0" sz="942" u="none" cap="none" strike="noStrike">
              <a:solidFill>
                <a:schemeClr val="dk1"/>
              </a:solidFill>
              <a:latin typeface="Calibri"/>
              <a:ea typeface="Calibri"/>
              <a:cs typeface="Calibri"/>
              <a:sym typeface="Calibri"/>
            </a:endParaRPr>
          </a:p>
        </p:txBody>
      </p:sp>
      <p:sp>
        <p:nvSpPr>
          <p:cNvPr id="87" name="Google Shape;87;p6"/>
          <p:cNvSpPr/>
          <p:nvPr/>
        </p:nvSpPr>
        <p:spPr>
          <a:xfrm>
            <a:off x="742950" y="2336006"/>
            <a:ext cx="3757500" cy="91440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8" name="Google Shape;88;p6"/>
          <p:cNvPicPr preferRelativeResize="0"/>
          <p:nvPr/>
        </p:nvPicPr>
        <p:blipFill rotWithShape="1">
          <a:blip r:embed="rId6">
            <a:alphaModFix/>
          </a:blip>
          <a:srcRect b="0" l="0" r="0" t="0"/>
          <a:stretch/>
        </p:blipFill>
        <p:spPr>
          <a:xfrm>
            <a:off x="885825" y="2750344"/>
            <a:ext cx="285750" cy="228600"/>
          </a:xfrm>
          <a:prstGeom prst="rect">
            <a:avLst/>
          </a:prstGeom>
          <a:noFill/>
          <a:ln>
            <a:noFill/>
          </a:ln>
        </p:spPr>
      </p:pic>
      <p:sp>
        <p:nvSpPr>
          <p:cNvPr id="89" name="Google Shape;89;p6"/>
          <p:cNvSpPr/>
          <p:nvPr/>
        </p:nvSpPr>
        <p:spPr>
          <a:xfrm>
            <a:off x="1350169" y="2784277"/>
            <a:ext cx="2636100" cy="160800"/>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REDIS IN-MEMORY STATE CACHE</a:t>
            </a:r>
            <a:endParaRPr b="0" i="0" sz="942" u="none" cap="none" strike="noStrike">
              <a:solidFill>
                <a:schemeClr val="dk1"/>
              </a:solidFill>
              <a:latin typeface="Calibri"/>
              <a:ea typeface="Calibri"/>
              <a:cs typeface="Calibri"/>
              <a:sym typeface="Calibri"/>
            </a:endParaRPr>
          </a:p>
        </p:txBody>
      </p:sp>
      <p:sp>
        <p:nvSpPr>
          <p:cNvPr id="90" name="Google Shape;90;p6"/>
          <p:cNvSpPr/>
          <p:nvPr/>
        </p:nvSpPr>
        <p:spPr>
          <a:xfrm>
            <a:off x="4643438" y="2336006"/>
            <a:ext cx="3757500" cy="91440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1" name="Google Shape;91;p6"/>
          <p:cNvPicPr preferRelativeResize="0"/>
          <p:nvPr/>
        </p:nvPicPr>
        <p:blipFill rotWithShape="1">
          <a:blip r:embed="rId7">
            <a:alphaModFix/>
          </a:blip>
          <a:srcRect b="0" l="0" r="0" t="0"/>
          <a:stretch/>
        </p:blipFill>
        <p:spPr>
          <a:xfrm>
            <a:off x="4786313" y="2750344"/>
            <a:ext cx="282848" cy="228600"/>
          </a:xfrm>
          <a:prstGeom prst="rect">
            <a:avLst/>
          </a:prstGeom>
          <a:noFill/>
          <a:ln>
            <a:noFill/>
          </a:ln>
        </p:spPr>
      </p:pic>
      <p:sp>
        <p:nvSpPr>
          <p:cNvPr id="92" name="Google Shape;92;p6"/>
          <p:cNvSpPr/>
          <p:nvPr/>
        </p:nvSpPr>
        <p:spPr>
          <a:xfrm>
            <a:off x="5247754" y="2703909"/>
            <a:ext cx="3010500" cy="321600"/>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REAL-TIME WEBSOCKET DASHBOARD</a:t>
            </a:r>
            <a:endParaRPr b="0" i="0" sz="942" u="none" cap="none" strike="noStrike">
              <a:solidFill>
                <a:schemeClr val="dk1"/>
              </a:solidFill>
              <a:latin typeface="Calibri"/>
              <a:ea typeface="Calibri"/>
              <a:cs typeface="Calibri"/>
              <a:sym typeface="Calibri"/>
            </a:endParaRPr>
          </a:p>
        </p:txBody>
      </p:sp>
      <p:sp>
        <p:nvSpPr>
          <p:cNvPr id="93" name="Google Shape;93;p6"/>
          <p:cNvSpPr/>
          <p:nvPr/>
        </p:nvSpPr>
        <p:spPr>
          <a:xfrm>
            <a:off x="742950" y="3393281"/>
            <a:ext cx="3757500" cy="91440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1350169" y="3841552"/>
            <a:ext cx="2668200" cy="160800"/>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DOCKER COMPOSE DEPLOYMENT</a:t>
            </a:r>
            <a:endParaRPr b="0" i="0" sz="942" u="none" cap="none" strike="noStrike">
              <a:solidFill>
                <a:schemeClr val="dk1"/>
              </a:solidFill>
              <a:latin typeface="Calibri"/>
              <a:ea typeface="Calibri"/>
              <a:cs typeface="Calibri"/>
              <a:sym typeface="Calibri"/>
            </a:endParaRPr>
          </a:p>
        </p:txBody>
      </p:sp>
      <p:sp>
        <p:nvSpPr>
          <p:cNvPr id="95" name="Google Shape;95;p6"/>
          <p:cNvSpPr/>
          <p:nvPr/>
        </p:nvSpPr>
        <p:spPr>
          <a:xfrm>
            <a:off x="4643438" y="3393281"/>
            <a:ext cx="3757500" cy="91440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6" name="Google Shape;96;p6"/>
          <p:cNvPicPr preferRelativeResize="0"/>
          <p:nvPr/>
        </p:nvPicPr>
        <p:blipFill rotWithShape="1">
          <a:blip r:embed="rId8">
            <a:alphaModFix/>
          </a:blip>
          <a:srcRect b="0" l="0" r="0" t="0"/>
          <a:stretch/>
        </p:blipFill>
        <p:spPr>
          <a:xfrm>
            <a:off x="4786313" y="3807619"/>
            <a:ext cx="285750" cy="228600"/>
          </a:xfrm>
          <a:prstGeom prst="rect">
            <a:avLst/>
          </a:prstGeom>
          <a:noFill/>
          <a:ln>
            <a:noFill/>
          </a:ln>
        </p:spPr>
      </p:pic>
      <p:sp>
        <p:nvSpPr>
          <p:cNvPr id="97" name="Google Shape;97;p6"/>
          <p:cNvSpPr/>
          <p:nvPr/>
        </p:nvSpPr>
        <p:spPr>
          <a:xfrm>
            <a:off x="5250656" y="3841552"/>
            <a:ext cx="2430600" cy="160800"/>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lang="en-US" sz="942">
                <a:solidFill>
                  <a:srgbClr val="E0E0E0"/>
                </a:solidFill>
                <a:latin typeface="Orbitron"/>
                <a:ea typeface="Orbitron"/>
                <a:cs typeface="Orbitron"/>
                <a:sym typeface="Orbitron"/>
              </a:rPr>
              <a:t>REACTIVE </a:t>
            </a:r>
            <a:r>
              <a:rPr b="0" i="0" lang="en-US" sz="942" u="none" cap="none" strike="noStrike">
                <a:solidFill>
                  <a:srgbClr val="E0E0E0"/>
                </a:solidFill>
                <a:latin typeface="Orbitron"/>
                <a:ea typeface="Orbitron"/>
                <a:cs typeface="Orbitron"/>
                <a:sym typeface="Orbitron"/>
              </a:rPr>
              <a:t>RULE EVALUATION</a:t>
            </a:r>
            <a:endParaRPr b="0" i="0" sz="942" u="none" cap="none" strike="noStrike">
              <a:solidFill>
                <a:schemeClr val="dk1"/>
              </a:solidFill>
              <a:latin typeface="Calibri"/>
              <a:ea typeface="Calibri"/>
              <a:cs typeface="Calibri"/>
              <a:sym typeface="Calibri"/>
            </a:endParaRPr>
          </a:p>
        </p:txBody>
      </p:sp>
      <p:pic>
        <p:nvPicPr>
          <p:cNvPr descr="preencoded.png" id="98" name="Google Shape;98;p6"/>
          <p:cNvPicPr preferRelativeResize="0"/>
          <p:nvPr/>
        </p:nvPicPr>
        <p:blipFill rotWithShape="1">
          <a:blip r:embed="rId9">
            <a:alphaModFix/>
          </a:blip>
          <a:srcRect b="0" l="0" r="0" t="0"/>
          <a:stretch/>
        </p:blipFill>
        <p:spPr>
          <a:xfrm>
            <a:off x="887284" y="3807617"/>
            <a:ext cx="282825" cy="22626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descr="preencoded.png" id="104" name="Google Shape;104;p7"/>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5" name="Google Shape;105;p7"/>
          <p:cNvSpPr/>
          <p:nvPr/>
        </p:nvSpPr>
        <p:spPr>
          <a:xfrm>
            <a:off x="6393656" y="214313"/>
            <a:ext cx="2464594"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 // ARCHITECTURE</a:t>
            </a:r>
            <a:endParaRPr b="0" i="0" sz="621" u="none" cap="none" strike="noStrike">
              <a:solidFill>
                <a:schemeClr val="dk1"/>
              </a:solidFill>
              <a:latin typeface="Calibri"/>
              <a:ea typeface="Calibri"/>
              <a:cs typeface="Calibri"/>
              <a:sym typeface="Calibri"/>
            </a:endParaRPr>
          </a:p>
        </p:txBody>
      </p:sp>
      <p:sp>
        <p:nvSpPr>
          <p:cNvPr id="106" name="Google Shape;106;p7"/>
          <p:cNvSpPr/>
          <p:nvPr/>
        </p:nvSpPr>
        <p:spPr>
          <a:xfrm>
            <a:off x="457200" y="428625"/>
            <a:ext cx="8229600" cy="428625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7"/>
          <p:cNvSpPr/>
          <p:nvPr/>
        </p:nvSpPr>
        <p:spPr>
          <a:xfrm>
            <a:off x="742950" y="714375"/>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INTERNAL ARCHITECTURE</a:t>
            </a:r>
            <a:endParaRPr b="0" i="0" sz="1602" u="none" cap="none" strike="noStrike">
              <a:solidFill>
                <a:schemeClr val="dk1"/>
              </a:solidFill>
              <a:latin typeface="Calibri"/>
              <a:ea typeface="Calibri"/>
              <a:cs typeface="Calibri"/>
              <a:sym typeface="Calibri"/>
            </a:endParaRPr>
          </a:p>
        </p:txBody>
      </p:sp>
      <p:sp>
        <p:nvSpPr>
          <p:cNvPr id="108" name="Google Shape;108;p7"/>
          <p:cNvSpPr/>
          <p:nvPr/>
        </p:nvSpPr>
        <p:spPr>
          <a:xfrm>
            <a:off x="742950" y="1293019"/>
            <a:ext cx="3739753" cy="12287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9" name="Google Shape;109;p7"/>
          <p:cNvPicPr preferRelativeResize="0"/>
          <p:nvPr/>
        </p:nvPicPr>
        <p:blipFill rotWithShape="1">
          <a:blip r:embed="rId4">
            <a:alphaModFix/>
          </a:blip>
          <a:srcRect b="0" l="0" r="0" t="0"/>
          <a:stretch/>
        </p:blipFill>
        <p:spPr>
          <a:xfrm>
            <a:off x="885825" y="1435894"/>
            <a:ext cx="214313" cy="171450"/>
          </a:xfrm>
          <a:prstGeom prst="rect">
            <a:avLst/>
          </a:prstGeom>
          <a:noFill/>
          <a:ln>
            <a:noFill/>
          </a:ln>
        </p:spPr>
      </p:pic>
      <p:sp>
        <p:nvSpPr>
          <p:cNvPr id="110" name="Google Shape;110;p7"/>
          <p:cNvSpPr/>
          <p:nvPr/>
        </p:nvSpPr>
        <p:spPr>
          <a:xfrm>
            <a:off x="1207294" y="1441252"/>
            <a:ext cx="1059061"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REST POLLER</a:t>
            </a:r>
            <a:endParaRPr b="0" i="0" sz="942" u="none" cap="none" strike="noStrike">
              <a:solidFill>
                <a:schemeClr val="dk1"/>
              </a:solidFill>
              <a:latin typeface="Calibri"/>
              <a:ea typeface="Calibri"/>
              <a:cs typeface="Calibri"/>
              <a:sym typeface="Calibri"/>
            </a:endParaRPr>
          </a:p>
        </p:txBody>
      </p:sp>
      <p:sp>
        <p:nvSpPr>
          <p:cNvPr id="111" name="Google Shape;111;p7"/>
          <p:cNvSpPr/>
          <p:nvPr/>
        </p:nvSpPr>
        <p:spPr>
          <a:xfrm>
            <a:off x="885825" y="1678781"/>
            <a:ext cx="3454003" cy="482203"/>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Polls 8 REST sensors every 5 seconds via httpx. Handles greenhouse_temperature, hydroponic_ph, co2_hall, air_quality, water_tank_level and more.</a:t>
            </a:r>
            <a:endParaRPr b="0" i="0" sz="780" u="none" cap="none" strike="noStrike">
              <a:solidFill>
                <a:schemeClr val="dk1"/>
              </a:solidFill>
              <a:latin typeface="Calibri"/>
              <a:ea typeface="Calibri"/>
              <a:cs typeface="Calibri"/>
              <a:sym typeface="Calibri"/>
            </a:endParaRPr>
          </a:p>
        </p:txBody>
      </p:sp>
      <p:sp>
        <p:nvSpPr>
          <p:cNvPr id="112" name="Google Shape;112;p7"/>
          <p:cNvSpPr/>
          <p:nvPr/>
        </p:nvSpPr>
        <p:spPr>
          <a:xfrm>
            <a:off x="4661297" y="1293019"/>
            <a:ext cx="3739753" cy="12287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3" name="Google Shape;113;p7"/>
          <p:cNvPicPr preferRelativeResize="0"/>
          <p:nvPr/>
        </p:nvPicPr>
        <p:blipFill rotWithShape="1">
          <a:blip r:embed="rId5">
            <a:alphaModFix/>
          </a:blip>
          <a:srcRect b="0" l="0" r="0" t="0"/>
          <a:stretch/>
        </p:blipFill>
        <p:spPr>
          <a:xfrm>
            <a:off x="4804172" y="1435894"/>
            <a:ext cx="214313" cy="171450"/>
          </a:xfrm>
          <a:prstGeom prst="rect">
            <a:avLst/>
          </a:prstGeom>
          <a:noFill/>
          <a:ln>
            <a:noFill/>
          </a:ln>
        </p:spPr>
      </p:pic>
      <p:sp>
        <p:nvSpPr>
          <p:cNvPr id="114" name="Google Shape;114;p7"/>
          <p:cNvSpPr/>
          <p:nvPr/>
        </p:nvSpPr>
        <p:spPr>
          <a:xfrm>
            <a:off x="5125641" y="1441252"/>
            <a:ext cx="973336"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WEBSOCKET</a:t>
            </a:r>
            <a:endParaRPr b="0" i="0" sz="942" u="none" cap="none" strike="noStrike">
              <a:solidFill>
                <a:schemeClr val="dk1"/>
              </a:solidFill>
              <a:latin typeface="Calibri"/>
              <a:ea typeface="Calibri"/>
              <a:cs typeface="Calibri"/>
              <a:sym typeface="Calibri"/>
            </a:endParaRPr>
          </a:p>
        </p:txBody>
      </p:sp>
      <p:sp>
        <p:nvSpPr>
          <p:cNvPr id="115" name="Google Shape;115;p7"/>
          <p:cNvSpPr/>
          <p:nvPr/>
        </p:nvSpPr>
        <p:spPr>
          <a:xfrm>
            <a:off x="4804172" y="1678781"/>
            <a:ext cx="3454003"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Subscribes to real-time telemetry streams (e.g., power, environment, thermal, airlock) with auto-reconnect on disconnect.</a:t>
            </a:r>
            <a:endParaRPr b="0" i="0" sz="780" u="none" cap="none" strike="noStrike">
              <a:solidFill>
                <a:schemeClr val="dk1"/>
              </a:solidFill>
              <a:latin typeface="Calibri"/>
              <a:ea typeface="Calibri"/>
              <a:cs typeface="Calibri"/>
              <a:sym typeface="Calibri"/>
            </a:endParaRPr>
          </a:p>
        </p:txBody>
      </p:sp>
      <p:sp>
        <p:nvSpPr>
          <p:cNvPr id="116" name="Google Shape;116;p7"/>
          <p:cNvSpPr/>
          <p:nvPr/>
        </p:nvSpPr>
        <p:spPr>
          <a:xfrm>
            <a:off x="742950" y="2700338"/>
            <a:ext cx="3739753" cy="12287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7" name="Google Shape;117;p7"/>
          <p:cNvPicPr preferRelativeResize="0"/>
          <p:nvPr/>
        </p:nvPicPr>
        <p:blipFill rotWithShape="1">
          <a:blip r:embed="rId6">
            <a:alphaModFix/>
          </a:blip>
          <a:srcRect b="0" l="0" r="0" t="0"/>
          <a:stretch/>
        </p:blipFill>
        <p:spPr>
          <a:xfrm>
            <a:off x="885825" y="2843213"/>
            <a:ext cx="214313" cy="171450"/>
          </a:xfrm>
          <a:prstGeom prst="rect">
            <a:avLst/>
          </a:prstGeom>
          <a:noFill/>
          <a:ln>
            <a:noFill/>
          </a:ln>
        </p:spPr>
      </p:pic>
      <p:sp>
        <p:nvSpPr>
          <p:cNvPr id="118" name="Google Shape;118;p7"/>
          <p:cNvSpPr/>
          <p:nvPr/>
        </p:nvSpPr>
        <p:spPr>
          <a:xfrm>
            <a:off x="1207294" y="2848570"/>
            <a:ext cx="1771650"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NORMALIZER REGISTRY</a:t>
            </a:r>
            <a:endParaRPr b="0" i="0" sz="942" u="none" cap="none" strike="noStrike">
              <a:solidFill>
                <a:schemeClr val="dk1"/>
              </a:solidFill>
              <a:latin typeface="Calibri"/>
              <a:ea typeface="Calibri"/>
              <a:cs typeface="Calibri"/>
              <a:sym typeface="Calibri"/>
            </a:endParaRPr>
          </a:p>
        </p:txBody>
      </p:sp>
      <p:sp>
        <p:nvSpPr>
          <p:cNvPr id="119" name="Google Shape;119;p7"/>
          <p:cNvSpPr/>
          <p:nvPr/>
        </p:nvSpPr>
        <p:spPr>
          <a:xfrm>
            <a:off x="885825" y="3086100"/>
            <a:ext cx="3454003" cy="482203"/>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Schema-driven registry: SENSOR_ID_NORMALIZERS for REST, SCHEMA_NORMALIZERS for SSE/actuators. Decouples source formats from unified schema.</a:t>
            </a:r>
            <a:endParaRPr b="0" i="0" sz="780" u="none" cap="none" strike="noStrike">
              <a:solidFill>
                <a:schemeClr val="dk1"/>
              </a:solidFill>
              <a:latin typeface="Calibri"/>
              <a:ea typeface="Calibri"/>
              <a:cs typeface="Calibri"/>
              <a:sym typeface="Calibri"/>
            </a:endParaRPr>
          </a:p>
        </p:txBody>
      </p:sp>
      <p:sp>
        <p:nvSpPr>
          <p:cNvPr id="120" name="Google Shape;120;p7"/>
          <p:cNvSpPr/>
          <p:nvPr/>
        </p:nvSpPr>
        <p:spPr>
          <a:xfrm>
            <a:off x="4661297" y="2700338"/>
            <a:ext cx="3739753" cy="12287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1" name="Google Shape;121;p7"/>
          <p:cNvPicPr preferRelativeResize="0"/>
          <p:nvPr/>
        </p:nvPicPr>
        <p:blipFill rotWithShape="1">
          <a:blip r:embed="rId7">
            <a:alphaModFix/>
          </a:blip>
          <a:srcRect b="0" l="0" r="0" t="0"/>
          <a:stretch/>
        </p:blipFill>
        <p:spPr>
          <a:xfrm>
            <a:off x="4804172" y="2843213"/>
            <a:ext cx="214313" cy="171450"/>
          </a:xfrm>
          <a:prstGeom prst="rect">
            <a:avLst/>
          </a:prstGeom>
          <a:noFill/>
          <a:ln>
            <a:noFill/>
          </a:ln>
        </p:spPr>
      </p:pic>
      <p:sp>
        <p:nvSpPr>
          <p:cNvPr id="122" name="Google Shape;122;p7"/>
          <p:cNvSpPr/>
          <p:nvPr/>
        </p:nvSpPr>
        <p:spPr>
          <a:xfrm>
            <a:off x="5125641" y="2848570"/>
            <a:ext cx="1551980"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COMMAND LISTENER</a:t>
            </a:r>
            <a:endParaRPr b="0" i="0" sz="942" u="none" cap="none" strike="noStrike">
              <a:solidFill>
                <a:schemeClr val="dk1"/>
              </a:solidFill>
              <a:latin typeface="Calibri"/>
              <a:ea typeface="Calibri"/>
              <a:cs typeface="Calibri"/>
              <a:sym typeface="Calibri"/>
            </a:endParaRPr>
          </a:p>
        </p:txBody>
      </p:sp>
      <p:sp>
        <p:nvSpPr>
          <p:cNvPr id="123" name="Google Shape;123;p7"/>
          <p:cNvSpPr/>
          <p:nvPr/>
        </p:nvSpPr>
        <p:spPr>
          <a:xfrm>
            <a:off x="4804172" y="3086100"/>
            <a:ext cx="3454003"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AMQP receiver on actuator.commands in a dedicated daemon thread. Bridges asyncio loop and AMQP via run_coroutine_threadsafe.</a:t>
            </a:r>
            <a:endParaRPr b="0" i="0" sz="780" u="none" cap="none" strike="noStrike">
              <a:solidFill>
                <a:schemeClr val="dk1"/>
              </a:solidFill>
              <a:latin typeface="Calibri"/>
              <a:ea typeface="Calibri"/>
              <a:cs typeface="Calibri"/>
              <a:sym typeface="Calibri"/>
            </a:endParaRPr>
          </a:p>
        </p:txBody>
      </p:sp>
      <p:sp>
        <p:nvSpPr>
          <p:cNvPr id="124" name="Google Shape;124;p7"/>
          <p:cNvSpPr/>
          <p:nvPr/>
        </p:nvSpPr>
        <p:spPr>
          <a:xfrm>
            <a:off x="742950" y="4143375"/>
            <a:ext cx="7658100" cy="571500"/>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7"/>
          <p:cNvSpPr/>
          <p:nvPr/>
        </p:nvSpPr>
        <p:spPr>
          <a:xfrm>
            <a:off x="885825" y="4286250"/>
            <a:ext cx="7372350" cy="144661"/>
          </a:xfrm>
          <a:prstGeom prst="rect">
            <a:avLst/>
          </a:prstGeom>
          <a:noFill/>
          <a:ln>
            <a:noFill/>
          </a:ln>
        </p:spPr>
        <p:txBody>
          <a:bodyPr anchorCtr="0" anchor="t" bIns="0" lIns="0" spcFirstLastPara="1" rIns="0" wrap="square" tIns="0">
            <a:noAutofit/>
          </a:bodyPr>
          <a:lstStyle/>
          <a:p>
            <a:pPr indent="0" lvl="0" marL="0" marR="0" rtl="0" algn="ctr">
              <a:lnSpc>
                <a:spcPct val="131894"/>
              </a:lnSpc>
              <a:spcBef>
                <a:spcPts val="0"/>
              </a:spcBef>
              <a:spcAft>
                <a:spcPts val="0"/>
              </a:spcAft>
              <a:buClr>
                <a:srgbClr val="FF4500"/>
              </a:buClr>
              <a:buSzPts val="834"/>
              <a:buFont typeface="Orbitron"/>
              <a:buNone/>
            </a:pPr>
            <a:r>
              <a:rPr b="0" i="0" lang="en-US" sz="834" u="none" cap="none" strike="noStrike">
                <a:solidFill>
                  <a:srgbClr val="FF4500"/>
                </a:solidFill>
                <a:latin typeface="Orbitron"/>
                <a:ea typeface="Orbitron"/>
                <a:cs typeface="Orbitron"/>
                <a:sym typeface="Orbitron"/>
              </a:rPr>
              <a:t>STATELESS DESIGN — NO DATABASE, NO PERSISTENT STORAGE. ALL STATE LIVES IN THE BROKER.</a:t>
            </a:r>
            <a:endParaRPr b="0" i="0" sz="834"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pic>
        <p:nvPicPr>
          <p:cNvPr descr="preencoded.png" id="131" name="Google Shape;131;p8"/>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32" name="Google Shape;132;p8"/>
          <p:cNvSpPr/>
          <p:nvPr/>
        </p:nvSpPr>
        <p:spPr>
          <a:xfrm>
            <a:off x="6829425" y="285750"/>
            <a:ext cx="2028825"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PURPOSE // REL_3.3.2</a:t>
            </a:r>
            <a:endParaRPr b="0" i="0" sz="621" u="none" cap="none" strike="noStrike">
              <a:solidFill>
                <a:schemeClr val="dk1"/>
              </a:solidFill>
              <a:latin typeface="Calibri"/>
              <a:ea typeface="Calibri"/>
              <a:cs typeface="Calibri"/>
              <a:sym typeface="Calibri"/>
            </a:endParaRPr>
          </a:p>
        </p:txBody>
      </p:sp>
      <p:sp>
        <p:nvSpPr>
          <p:cNvPr id="133" name="Google Shape;133;p8"/>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8"/>
          <p:cNvSpPr/>
          <p:nvPr/>
        </p:nvSpPr>
        <p:spPr>
          <a:xfrm>
            <a:off x="742950" y="892969"/>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PURPOSE &amp; CORE FUNCTIONALITY</a:t>
            </a:r>
            <a:endParaRPr b="0" i="0" sz="1602" u="none" cap="none" strike="noStrike">
              <a:solidFill>
                <a:schemeClr val="dk1"/>
              </a:solidFill>
              <a:latin typeface="Calibri"/>
              <a:ea typeface="Calibri"/>
              <a:cs typeface="Calibri"/>
              <a:sym typeface="Calibri"/>
            </a:endParaRPr>
          </a:p>
        </p:txBody>
      </p:sp>
      <p:sp>
        <p:nvSpPr>
          <p:cNvPr id="135" name="Google Shape;135;p8"/>
          <p:cNvSpPr/>
          <p:nvPr/>
        </p:nvSpPr>
        <p:spPr>
          <a:xfrm>
            <a:off x="742950" y="1471613"/>
            <a:ext cx="3739753" cy="978694"/>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6" name="Google Shape;136;p8"/>
          <p:cNvPicPr preferRelativeResize="0"/>
          <p:nvPr/>
        </p:nvPicPr>
        <p:blipFill rotWithShape="1">
          <a:blip r:embed="rId4">
            <a:alphaModFix/>
          </a:blip>
          <a:srcRect b="0" l="0" r="0" t="0"/>
          <a:stretch/>
        </p:blipFill>
        <p:spPr>
          <a:xfrm>
            <a:off x="885825" y="1614488"/>
            <a:ext cx="250031" cy="235744"/>
          </a:xfrm>
          <a:prstGeom prst="rect">
            <a:avLst/>
          </a:prstGeom>
          <a:noFill/>
          <a:ln>
            <a:noFill/>
          </a:ln>
        </p:spPr>
      </p:pic>
      <p:sp>
        <p:nvSpPr>
          <p:cNvPr id="137" name="Google Shape;137;p8"/>
          <p:cNvSpPr/>
          <p:nvPr/>
        </p:nvSpPr>
        <p:spPr>
          <a:xfrm>
            <a:off x="1278731" y="1614488"/>
            <a:ext cx="2180630"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AUTOMATED CONTROL LOOP</a:t>
            </a:r>
            <a:endParaRPr b="0" i="0" sz="834" u="none" cap="none" strike="noStrike">
              <a:solidFill>
                <a:schemeClr val="dk1"/>
              </a:solidFill>
              <a:latin typeface="Calibri"/>
              <a:ea typeface="Calibri"/>
              <a:cs typeface="Calibri"/>
              <a:sym typeface="Calibri"/>
            </a:endParaRPr>
          </a:p>
        </p:txBody>
      </p:sp>
      <p:sp>
        <p:nvSpPr>
          <p:cNvPr id="138" name="Google Shape;138;p8"/>
          <p:cNvSpPr/>
          <p:nvPr/>
        </p:nvSpPr>
        <p:spPr>
          <a:xfrm>
            <a:off x="1278731" y="1816298"/>
            <a:ext cx="2180630" cy="140001"/>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Implements the habitat's automated control loop.</a:t>
            </a:r>
            <a:endParaRPr b="0" i="0" sz="727" u="none" cap="none" strike="noStrike">
              <a:solidFill>
                <a:schemeClr val="dk1"/>
              </a:solidFill>
              <a:latin typeface="Calibri"/>
              <a:ea typeface="Calibri"/>
              <a:cs typeface="Calibri"/>
              <a:sym typeface="Calibri"/>
            </a:endParaRPr>
          </a:p>
        </p:txBody>
      </p:sp>
      <p:sp>
        <p:nvSpPr>
          <p:cNvPr id="139" name="Google Shape;139;p8"/>
          <p:cNvSpPr/>
          <p:nvPr/>
        </p:nvSpPr>
        <p:spPr>
          <a:xfrm>
            <a:off x="4661297" y="1471613"/>
            <a:ext cx="3739753" cy="978694"/>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0" name="Google Shape;140;p8"/>
          <p:cNvPicPr preferRelativeResize="0"/>
          <p:nvPr/>
        </p:nvPicPr>
        <p:blipFill rotWithShape="1">
          <a:blip r:embed="rId5">
            <a:alphaModFix/>
          </a:blip>
          <a:srcRect b="0" l="0" r="0" t="0"/>
          <a:stretch/>
        </p:blipFill>
        <p:spPr>
          <a:xfrm>
            <a:off x="4804172" y="1614488"/>
            <a:ext cx="250031" cy="235744"/>
          </a:xfrm>
          <a:prstGeom prst="rect">
            <a:avLst/>
          </a:prstGeom>
          <a:noFill/>
          <a:ln>
            <a:noFill/>
          </a:ln>
        </p:spPr>
      </p:pic>
      <p:sp>
        <p:nvSpPr>
          <p:cNvPr id="141" name="Google Shape;141;p8"/>
          <p:cNvSpPr/>
          <p:nvPr/>
        </p:nvSpPr>
        <p:spPr>
          <a:xfrm>
            <a:off x="5197078" y="1614488"/>
            <a:ext cx="2253853"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RULE EVALUATION</a:t>
            </a:r>
            <a:endParaRPr b="0" i="0" sz="834" u="none" cap="none" strike="noStrike">
              <a:solidFill>
                <a:schemeClr val="dk1"/>
              </a:solidFill>
              <a:latin typeface="Calibri"/>
              <a:ea typeface="Calibri"/>
              <a:cs typeface="Calibri"/>
              <a:sym typeface="Calibri"/>
            </a:endParaRPr>
          </a:p>
        </p:txBody>
      </p:sp>
      <p:sp>
        <p:nvSpPr>
          <p:cNvPr id="142" name="Google Shape;142;p8"/>
          <p:cNvSpPr/>
          <p:nvPr/>
        </p:nvSpPr>
        <p:spPr>
          <a:xfrm>
            <a:off x="5197078" y="1816298"/>
            <a:ext cx="2253853" cy="140001"/>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Evaluates telemetry against operator-defined rules.</a:t>
            </a:r>
            <a:endParaRPr b="0" i="0" sz="727" u="none" cap="none" strike="noStrike">
              <a:solidFill>
                <a:schemeClr val="dk1"/>
              </a:solidFill>
              <a:latin typeface="Calibri"/>
              <a:ea typeface="Calibri"/>
              <a:cs typeface="Calibri"/>
              <a:sym typeface="Calibri"/>
            </a:endParaRPr>
          </a:p>
        </p:txBody>
      </p:sp>
      <p:sp>
        <p:nvSpPr>
          <p:cNvPr id="143" name="Google Shape;143;p8"/>
          <p:cNvSpPr/>
          <p:nvPr/>
        </p:nvSpPr>
        <p:spPr>
          <a:xfrm>
            <a:off x="742950" y="2628900"/>
            <a:ext cx="3739753" cy="978694"/>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4" name="Google Shape;144;p8"/>
          <p:cNvPicPr preferRelativeResize="0"/>
          <p:nvPr/>
        </p:nvPicPr>
        <p:blipFill rotWithShape="1">
          <a:blip r:embed="rId6">
            <a:alphaModFix/>
          </a:blip>
          <a:srcRect b="0" l="0" r="0" t="0"/>
          <a:stretch/>
        </p:blipFill>
        <p:spPr>
          <a:xfrm>
            <a:off x="885825" y="2771775"/>
            <a:ext cx="250031" cy="235744"/>
          </a:xfrm>
          <a:prstGeom prst="rect">
            <a:avLst/>
          </a:prstGeom>
          <a:noFill/>
          <a:ln>
            <a:noFill/>
          </a:ln>
        </p:spPr>
      </p:pic>
      <p:sp>
        <p:nvSpPr>
          <p:cNvPr id="145" name="Google Shape;145;p8"/>
          <p:cNvSpPr/>
          <p:nvPr/>
        </p:nvSpPr>
        <p:spPr>
          <a:xfrm>
            <a:off x="1278731" y="2771775"/>
            <a:ext cx="2911078"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TELEMETRY PROCESSING</a:t>
            </a:r>
            <a:endParaRPr b="0" i="0" sz="834" u="none" cap="none" strike="noStrike">
              <a:solidFill>
                <a:schemeClr val="dk1"/>
              </a:solidFill>
              <a:latin typeface="Calibri"/>
              <a:ea typeface="Calibri"/>
              <a:cs typeface="Calibri"/>
              <a:sym typeface="Calibri"/>
            </a:endParaRPr>
          </a:p>
        </p:txBody>
      </p:sp>
      <p:sp>
        <p:nvSpPr>
          <p:cNvPr id="146" name="Google Shape;146;p8"/>
          <p:cNvSpPr/>
          <p:nvPr/>
        </p:nvSpPr>
        <p:spPr>
          <a:xfrm>
            <a:off x="1278731" y="2973586"/>
            <a:ext cx="2911078" cy="140001"/>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Continuously receives sensor telemetry from the message broker.</a:t>
            </a:r>
            <a:endParaRPr b="0" i="0" sz="727" u="none" cap="none" strike="noStrike">
              <a:solidFill>
                <a:schemeClr val="dk1"/>
              </a:solidFill>
              <a:latin typeface="Calibri"/>
              <a:ea typeface="Calibri"/>
              <a:cs typeface="Calibri"/>
              <a:sym typeface="Calibri"/>
            </a:endParaRPr>
          </a:p>
        </p:txBody>
      </p:sp>
      <p:sp>
        <p:nvSpPr>
          <p:cNvPr id="147" name="Google Shape;147;p8"/>
          <p:cNvSpPr/>
          <p:nvPr/>
        </p:nvSpPr>
        <p:spPr>
          <a:xfrm>
            <a:off x="4661297" y="2628900"/>
            <a:ext cx="3739753" cy="978694"/>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8" name="Google Shape;148;p8"/>
          <p:cNvPicPr preferRelativeResize="0"/>
          <p:nvPr/>
        </p:nvPicPr>
        <p:blipFill rotWithShape="1">
          <a:blip r:embed="rId7">
            <a:alphaModFix/>
          </a:blip>
          <a:srcRect b="0" l="0" r="0" t="0"/>
          <a:stretch/>
        </p:blipFill>
        <p:spPr>
          <a:xfrm>
            <a:off x="4804172" y="2771775"/>
            <a:ext cx="250031" cy="235744"/>
          </a:xfrm>
          <a:prstGeom prst="rect">
            <a:avLst/>
          </a:prstGeom>
          <a:noFill/>
          <a:ln>
            <a:noFill/>
          </a:ln>
        </p:spPr>
      </p:pic>
      <p:sp>
        <p:nvSpPr>
          <p:cNvPr id="149" name="Google Shape;149;p8"/>
          <p:cNvSpPr/>
          <p:nvPr/>
        </p:nvSpPr>
        <p:spPr>
          <a:xfrm>
            <a:off x="5197078" y="2771775"/>
            <a:ext cx="2714625"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ACTUATOR COMMANDS</a:t>
            </a:r>
            <a:endParaRPr b="0" i="0" sz="834" u="none" cap="none" strike="noStrike">
              <a:solidFill>
                <a:schemeClr val="dk1"/>
              </a:solidFill>
              <a:latin typeface="Calibri"/>
              <a:ea typeface="Calibri"/>
              <a:cs typeface="Calibri"/>
              <a:sym typeface="Calibri"/>
            </a:endParaRPr>
          </a:p>
        </p:txBody>
      </p:sp>
      <p:sp>
        <p:nvSpPr>
          <p:cNvPr id="150" name="Google Shape;150;p8"/>
          <p:cNvSpPr/>
          <p:nvPr/>
        </p:nvSpPr>
        <p:spPr>
          <a:xfrm>
            <a:off x="5197078" y="2973586"/>
            <a:ext cx="2714625" cy="140001"/>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Emits commands for actuators when rule conditions are met.</a:t>
            </a:r>
            <a:endParaRPr b="0" i="0" sz="727" u="none" cap="none" strike="noStrike">
              <a:solidFill>
                <a:schemeClr val="dk1"/>
              </a:solidFill>
              <a:latin typeface="Calibri"/>
              <a:ea typeface="Calibri"/>
              <a:cs typeface="Calibri"/>
              <a:sym typeface="Calibri"/>
            </a:endParaRPr>
          </a:p>
        </p:txBody>
      </p:sp>
      <p:sp>
        <p:nvSpPr>
          <p:cNvPr id="151" name="Google Shape;151;p8"/>
          <p:cNvSpPr/>
          <p:nvPr/>
        </p:nvSpPr>
        <p:spPr>
          <a:xfrm>
            <a:off x="742950" y="3745706"/>
            <a:ext cx="7658100" cy="714300"/>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8"/>
          <p:cNvSpPr/>
          <p:nvPr/>
        </p:nvSpPr>
        <p:spPr>
          <a:xfrm>
            <a:off x="885825" y="3888581"/>
            <a:ext cx="73725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OPERATIONAL EXAMPLE</a:t>
            </a:r>
            <a:endParaRPr b="0" i="0" sz="727" u="none" cap="none" strike="noStrike">
              <a:solidFill>
                <a:schemeClr val="dk1"/>
              </a:solidFill>
              <a:latin typeface="Calibri"/>
              <a:ea typeface="Calibri"/>
              <a:cs typeface="Calibri"/>
              <a:sym typeface="Calibri"/>
            </a:endParaRPr>
          </a:p>
        </p:txBody>
      </p:sp>
      <p:sp>
        <p:nvSpPr>
          <p:cNvPr id="153" name="Google Shape;153;p8"/>
          <p:cNvSpPr/>
          <p:nvPr/>
        </p:nvSpPr>
        <p:spPr>
          <a:xfrm>
            <a:off x="885825" y="4086820"/>
            <a:ext cx="7372500" cy="321600"/>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If the </a:t>
            </a:r>
            <a:r>
              <a:rPr lang="en-US" sz="780">
                <a:solidFill>
                  <a:srgbClr val="E0E0E0"/>
                </a:solidFill>
                <a:latin typeface="Roboto"/>
                <a:ea typeface="Roboto"/>
                <a:cs typeface="Roboto"/>
                <a:sym typeface="Roboto"/>
              </a:rPr>
              <a:t>temperature </a:t>
            </a:r>
            <a:r>
              <a:rPr b="0" i="0" lang="en-US" sz="780" u="none" cap="none" strike="noStrike">
                <a:solidFill>
                  <a:srgbClr val="E0E0E0"/>
                </a:solidFill>
                <a:latin typeface="Roboto"/>
                <a:ea typeface="Roboto"/>
                <a:cs typeface="Roboto"/>
                <a:sym typeface="Roboto"/>
              </a:rPr>
              <a:t>in a greenhouse group exceeds a configured threshold, a command is produced to switch the cooling fan ON. The process is automatic and requires no manual intervention.</a:t>
            </a:r>
            <a:endParaRPr b="0" i="0" sz="78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pic>
        <p:nvPicPr>
          <p:cNvPr descr="preencoded.png" id="159" name="Google Shape;159;p9"/>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60" name="Google Shape;160;p9"/>
          <p:cNvSpPr/>
          <p:nvPr/>
        </p:nvSpPr>
        <p:spPr>
          <a:xfrm>
            <a:off x="6470452" y="285750"/>
            <a:ext cx="2387798"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CONVERTER-SERVICE // V1.0</a:t>
            </a:r>
            <a:endParaRPr b="0" i="0" sz="621" u="none" cap="none" strike="noStrike">
              <a:solidFill>
                <a:schemeClr val="dk1"/>
              </a:solidFill>
              <a:latin typeface="Calibri"/>
              <a:ea typeface="Calibri"/>
              <a:cs typeface="Calibri"/>
              <a:sym typeface="Calibri"/>
            </a:endParaRPr>
          </a:p>
        </p:txBody>
      </p:sp>
      <p:sp>
        <p:nvSpPr>
          <p:cNvPr id="161" name="Google Shape;161;p9"/>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814388" y="964406"/>
            <a:ext cx="7515225" cy="40005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CONVERTER</a:t>
            </a:r>
            <a:r>
              <a:rPr b="1" lang="en-US" sz="1602">
                <a:solidFill>
                  <a:srgbClr val="FF4500"/>
                </a:solidFill>
                <a:latin typeface="Orbitron"/>
                <a:ea typeface="Orbitron"/>
                <a:cs typeface="Orbitron"/>
                <a:sym typeface="Orbitron"/>
              </a:rPr>
              <a:t> </a:t>
            </a:r>
            <a:r>
              <a:rPr b="1" i="0" lang="en-US" sz="1602" u="none" cap="none" strike="noStrike">
                <a:solidFill>
                  <a:srgbClr val="FF4500"/>
                </a:solidFill>
                <a:latin typeface="Orbitron"/>
                <a:ea typeface="Orbitron"/>
                <a:cs typeface="Orbitron"/>
                <a:sym typeface="Orbitron"/>
              </a:rPr>
              <a:t>SERVICE</a:t>
            </a:r>
            <a:endParaRPr b="0" i="0" sz="1602" u="none" cap="none" strike="noStrike">
              <a:solidFill>
                <a:schemeClr val="dk1"/>
              </a:solidFill>
              <a:latin typeface="Calibri"/>
              <a:ea typeface="Calibri"/>
              <a:cs typeface="Calibri"/>
              <a:sym typeface="Calibri"/>
            </a:endParaRPr>
          </a:p>
        </p:txBody>
      </p:sp>
      <p:pic>
        <p:nvPicPr>
          <p:cNvPr descr="preencoded.png" id="163" name="Google Shape;163;p9"/>
          <p:cNvPicPr preferRelativeResize="0"/>
          <p:nvPr/>
        </p:nvPicPr>
        <p:blipFill rotWithShape="1">
          <a:blip r:embed="rId4">
            <a:alphaModFix/>
          </a:blip>
          <a:srcRect b="0" l="0" r="0" t="0"/>
          <a:stretch/>
        </p:blipFill>
        <p:spPr>
          <a:xfrm>
            <a:off x="814388" y="1612702"/>
            <a:ext cx="128588" cy="128588"/>
          </a:xfrm>
          <a:prstGeom prst="rect">
            <a:avLst/>
          </a:prstGeom>
          <a:noFill/>
          <a:ln>
            <a:noFill/>
          </a:ln>
        </p:spPr>
      </p:pic>
      <p:sp>
        <p:nvSpPr>
          <p:cNvPr id="164" name="Google Shape;164;p9"/>
          <p:cNvSpPr/>
          <p:nvPr/>
        </p:nvSpPr>
        <p:spPr>
          <a:xfrm>
            <a:off x="1014413" y="1605558"/>
            <a:ext cx="7315200" cy="151805"/>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The converter-service is the data ingestion and con</a:t>
            </a:r>
            <a:r>
              <a:rPr lang="en-US" sz="942">
                <a:solidFill>
                  <a:srgbClr val="E0E0E0"/>
                </a:solidFill>
                <a:latin typeface="Roboto"/>
                <a:ea typeface="Roboto"/>
                <a:cs typeface="Roboto"/>
                <a:sym typeface="Roboto"/>
              </a:rPr>
              <a:t>version</a:t>
            </a:r>
            <a:r>
              <a:rPr b="0" i="0" lang="en-US" sz="942" u="none" cap="none" strike="noStrike">
                <a:solidFill>
                  <a:srgbClr val="E0E0E0"/>
                </a:solidFill>
                <a:latin typeface="Roboto"/>
                <a:ea typeface="Roboto"/>
                <a:cs typeface="Roboto"/>
                <a:sym typeface="Roboto"/>
              </a:rPr>
              <a:t> layer of the MarsOps platform. It acts as a</a:t>
            </a:r>
            <a:r>
              <a:rPr lang="en-US" sz="942">
                <a:solidFill>
                  <a:srgbClr val="E0E0E0"/>
                </a:solidFill>
                <a:latin typeface="Roboto"/>
                <a:ea typeface="Roboto"/>
                <a:cs typeface="Roboto"/>
                <a:sym typeface="Roboto"/>
              </a:rPr>
              <a:t> </a:t>
            </a:r>
            <a:r>
              <a:rPr b="0" i="0" lang="en-US" sz="942" u="none" cap="none" strike="noStrike">
                <a:solidFill>
                  <a:srgbClr val="E0E0E0"/>
                </a:solidFill>
                <a:latin typeface="Roboto"/>
                <a:ea typeface="Roboto"/>
                <a:cs typeface="Roboto"/>
                <a:sym typeface="Roboto"/>
              </a:rPr>
              <a:t>bridge between</a:t>
            </a:r>
            <a:endParaRPr b="0" i="0" sz="942" u="none" cap="none" strike="noStrike">
              <a:solidFill>
                <a:schemeClr val="dk1"/>
              </a:solidFill>
              <a:latin typeface="Calibri"/>
              <a:ea typeface="Calibri"/>
              <a:cs typeface="Calibri"/>
              <a:sym typeface="Calibri"/>
            </a:endParaRPr>
          </a:p>
        </p:txBody>
      </p:sp>
      <p:sp>
        <p:nvSpPr>
          <p:cNvPr id="165" name="Google Shape;165;p9"/>
          <p:cNvSpPr/>
          <p:nvPr/>
        </p:nvSpPr>
        <p:spPr>
          <a:xfrm>
            <a:off x="814400" y="1811275"/>
            <a:ext cx="7515300" cy="5715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heterogeneous IoT sources, which </a:t>
            </a:r>
            <a:r>
              <a:rPr lang="en-US" sz="942">
                <a:solidFill>
                  <a:srgbClr val="E0E0E0"/>
                </a:solidFill>
                <a:latin typeface="Roboto"/>
                <a:ea typeface="Roboto"/>
                <a:cs typeface="Roboto"/>
                <a:sym typeface="Roboto"/>
              </a:rPr>
              <a:t>have different event formats and communicate in different forms (such as SSE and polling),</a:t>
            </a:r>
            <a:br>
              <a:rPr lang="en-US" sz="942">
                <a:solidFill>
                  <a:srgbClr val="E0E0E0"/>
                </a:solidFill>
                <a:latin typeface="Roboto"/>
                <a:ea typeface="Roboto"/>
                <a:cs typeface="Roboto"/>
                <a:sym typeface="Roboto"/>
              </a:rPr>
            </a:br>
            <a:r>
              <a:rPr lang="en-US" sz="942">
                <a:solidFill>
                  <a:srgbClr val="E0E0E0"/>
                </a:solidFill>
                <a:latin typeface="Roboto"/>
                <a:ea typeface="Roboto"/>
                <a:cs typeface="Roboto"/>
                <a:sym typeface="Roboto"/>
              </a:rPr>
              <a:t>and the event queues that the other microservices attach to, ensuring that all other components operate on homogeneous and</a:t>
            </a:r>
            <a:br>
              <a:rPr lang="en-US" sz="942">
                <a:solidFill>
                  <a:srgbClr val="E0E0E0"/>
                </a:solidFill>
                <a:latin typeface="Roboto"/>
                <a:ea typeface="Roboto"/>
                <a:cs typeface="Roboto"/>
                <a:sym typeface="Roboto"/>
              </a:rPr>
            </a:br>
            <a:r>
              <a:rPr lang="en-US" sz="942">
                <a:solidFill>
                  <a:srgbClr val="E0E0E0"/>
                </a:solidFill>
                <a:latin typeface="Roboto"/>
                <a:ea typeface="Roboto"/>
                <a:cs typeface="Roboto"/>
                <a:sym typeface="Roboto"/>
              </a:rPr>
              <a:t>similarly structured data.</a:t>
            </a:r>
            <a:endParaRPr sz="942">
              <a:solidFill>
                <a:srgbClr val="E0E0E0"/>
              </a:solidFill>
              <a:latin typeface="Roboto"/>
              <a:ea typeface="Roboto"/>
              <a:cs typeface="Roboto"/>
              <a:sym typeface="Roboto"/>
            </a:endParaRPr>
          </a:p>
        </p:txBody>
      </p:sp>
      <p:pic>
        <p:nvPicPr>
          <p:cNvPr descr="preencoded.png" id="166" name="Google Shape;166;p9"/>
          <p:cNvPicPr preferRelativeResize="0"/>
          <p:nvPr/>
        </p:nvPicPr>
        <p:blipFill rotWithShape="1">
          <a:blip r:embed="rId5">
            <a:alphaModFix/>
          </a:blip>
          <a:srcRect b="0" l="0" r="0" t="0"/>
          <a:stretch/>
        </p:blipFill>
        <p:spPr>
          <a:xfrm>
            <a:off x="814388" y="2637048"/>
            <a:ext cx="128588" cy="128588"/>
          </a:xfrm>
          <a:prstGeom prst="rect">
            <a:avLst/>
          </a:prstGeom>
          <a:noFill/>
          <a:ln>
            <a:noFill/>
          </a:ln>
        </p:spPr>
      </p:pic>
      <p:sp>
        <p:nvSpPr>
          <p:cNvPr id="167" name="Google Shape;167;p9"/>
          <p:cNvSpPr/>
          <p:nvPr/>
        </p:nvSpPr>
        <p:spPr>
          <a:xfrm>
            <a:off x="1014413" y="2629905"/>
            <a:ext cx="7315200" cy="1518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b="0" i="0" lang="en-US" sz="942" u="none" cap="none" strike="noStrike">
                <a:solidFill>
                  <a:srgbClr val="E0E0E0"/>
                </a:solidFill>
                <a:latin typeface="Roboto"/>
                <a:ea typeface="Roboto"/>
                <a:cs typeface="Roboto"/>
                <a:sym typeface="Roboto"/>
              </a:rPr>
              <a:t>By </a:t>
            </a:r>
            <a:r>
              <a:rPr lang="en-US" sz="942">
                <a:solidFill>
                  <a:srgbClr val="E0E0E0"/>
                </a:solidFill>
                <a:latin typeface="Roboto"/>
                <a:ea typeface="Roboto"/>
                <a:cs typeface="Roboto"/>
                <a:sym typeface="Roboto"/>
              </a:rPr>
              <a:t>normalizing the way to receive data from sensors, it deduplicates the other complexity while removing it from all the</a:t>
            </a:r>
            <a:endParaRPr b="0" i="0" sz="942" u="none" cap="none" strike="noStrike">
              <a:solidFill>
                <a:schemeClr val="dk1"/>
              </a:solidFill>
              <a:latin typeface="Calibri"/>
              <a:ea typeface="Calibri"/>
              <a:cs typeface="Calibri"/>
              <a:sym typeface="Calibri"/>
            </a:endParaRPr>
          </a:p>
        </p:txBody>
      </p:sp>
      <p:sp>
        <p:nvSpPr>
          <p:cNvPr id="168" name="Google Shape;168;p9"/>
          <p:cNvSpPr/>
          <p:nvPr/>
        </p:nvSpPr>
        <p:spPr>
          <a:xfrm>
            <a:off x="814400" y="2835625"/>
            <a:ext cx="6744600" cy="151800"/>
          </a:xfrm>
          <a:prstGeom prst="rect">
            <a:avLst/>
          </a:prstGeom>
          <a:noFill/>
          <a:ln>
            <a:noFill/>
          </a:ln>
        </p:spPr>
        <p:txBody>
          <a:bodyPr anchorCtr="0" anchor="t" bIns="0" lIns="0" spcFirstLastPara="1" rIns="0" wrap="square" tIns="0">
            <a:noAutofit/>
          </a:bodyPr>
          <a:lstStyle/>
          <a:p>
            <a:pPr indent="0" lvl="0" marL="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other microservices, ensuring that they can treat every source as basically identical as long as it provides the same “type” of metric (for example temperature, pressure or air particle concentration).</a:t>
            </a:r>
            <a:endParaRPr b="0" i="0" sz="942" u="none" cap="none" strike="noStrike">
              <a:solidFill>
                <a:schemeClr val="dk1"/>
              </a:solidFill>
              <a:latin typeface="Calibri"/>
              <a:ea typeface="Calibri"/>
              <a:cs typeface="Calibri"/>
              <a:sym typeface="Calibri"/>
            </a:endParaRPr>
          </a:p>
        </p:txBody>
      </p:sp>
      <p:sp>
        <p:nvSpPr>
          <p:cNvPr id="169" name="Google Shape;169;p9"/>
          <p:cNvSpPr/>
          <p:nvPr/>
        </p:nvSpPr>
        <p:spPr>
          <a:xfrm>
            <a:off x="814388" y="3812381"/>
            <a:ext cx="7515300" cy="571500"/>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9"/>
          <p:cNvSpPr/>
          <p:nvPr/>
        </p:nvSpPr>
        <p:spPr>
          <a:xfrm>
            <a:off x="957263" y="4021038"/>
            <a:ext cx="1705500" cy="144600"/>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FF4500"/>
              </a:buClr>
              <a:buSzPts val="834"/>
              <a:buFont typeface="Orbitron"/>
              <a:buNone/>
            </a:pPr>
            <a:r>
              <a:rPr b="0" i="0" lang="en-US" sz="834" u="none" cap="none" strike="noStrike">
                <a:solidFill>
                  <a:srgbClr val="FF4500"/>
                </a:solidFill>
                <a:latin typeface="Orbitron"/>
                <a:ea typeface="Orbitron"/>
                <a:cs typeface="Orbitron"/>
                <a:sym typeface="Orbitron"/>
              </a:rPr>
              <a:t>TARGET USER STORIES</a:t>
            </a:r>
            <a:endParaRPr b="0" i="0" sz="834" u="none" cap="none" strike="noStrike">
              <a:solidFill>
                <a:schemeClr val="dk1"/>
              </a:solidFill>
              <a:latin typeface="Calibri"/>
              <a:ea typeface="Calibri"/>
              <a:cs typeface="Calibri"/>
              <a:sym typeface="Calibri"/>
            </a:endParaRPr>
          </a:p>
        </p:txBody>
      </p:sp>
      <p:sp>
        <p:nvSpPr>
          <p:cNvPr id="171" name="Google Shape;171;p9"/>
          <p:cNvSpPr/>
          <p:nvPr/>
        </p:nvSpPr>
        <p:spPr>
          <a:xfrm>
            <a:off x="2805708" y="4004072"/>
            <a:ext cx="1368000" cy="178500"/>
          </a:xfrm>
          <a:prstGeom prst="rect">
            <a:avLst/>
          </a:prstGeom>
          <a:noFill/>
          <a:ln>
            <a:noFill/>
          </a:ln>
        </p:spPr>
        <p:txBody>
          <a:bodyPr anchorCtr="0" anchor="t" bIns="0" lIns="0" spcFirstLastPara="1" rIns="0" wrap="square" tIns="0">
            <a:noAutofit/>
          </a:bodyPr>
          <a:lstStyle/>
          <a:p>
            <a:pPr indent="0" lvl="0" marL="0" marR="0" rtl="0" algn="l">
              <a:lnSpc>
                <a:spcPct val="133333"/>
              </a:lnSpc>
              <a:spcBef>
                <a:spcPts val="0"/>
              </a:spcBef>
              <a:spcAft>
                <a:spcPts val="0"/>
              </a:spcAft>
              <a:buClr>
                <a:srgbClr val="00FFFF"/>
              </a:buClr>
              <a:buSzPts val="1050"/>
              <a:buFont typeface="Orbitron"/>
              <a:buNone/>
            </a:pPr>
            <a:r>
              <a:rPr b="0" i="0" lang="en-US" sz="1050" u="none" cap="none" strike="noStrike">
                <a:solidFill>
                  <a:srgbClr val="00FFFF"/>
                </a:solidFill>
                <a:latin typeface="Orbitron"/>
                <a:ea typeface="Orbitron"/>
                <a:cs typeface="Orbitron"/>
                <a:sym typeface="Orbitron"/>
              </a:rPr>
              <a:t>1, 2, 3, 4, 5, 20</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descr="preencoded.png" id="177" name="Google Shape;177;p10"/>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78" name="Google Shape;178;p10"/>
          <p:cNvSpPr/>
          <p:nvPr/>
        </p:nvSpPr>
        <p:spPr>
          <a:xfrm>
            <a:off x="6759773" y="285750"/>
            <a:ext cx="2098477"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 // PIPELINE</a:t>
            </a:r>
            <a:endParaRPr b="0" i="0" sz="621" u="none" cap="none" strike="noStrike">
              <a:solidFill>
                <a:schemeClr val="dk1"/>
              </a:solidFill>
              <a:latin typeface="Calibri"/>
              <a:ea typeface="Calibri"/>
              <a:cs typeface="Calibri"/>
              <a:sym typeface="Calibri"/>
            </a:endParaRPr>
          </a:p>
        </p:txBody>
      </p:sp>
      <p:sp>
        <p:nvSpPr>
          <p:cNvPr id="179" name="Google Shape;179;p10"/>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0"/>
          <p:cNvSpPr/>
          <p:nvPr/>
        </p:nvSpPr>
        <p:spPr>
          <a:xfrm>
            <a:off x="742950" y="892969"/>
            <a:ext cx="7658100" cy="364331"/>
          </a:xfrm>
          <a:prstGeom prst="rect">
            <a:avLst/>
          </a:prstGeom>
          <a:noFill/>
          <a:ln>
            <a:noFill/>
          </a:ln>
        </p:spPr>
        <p:txBody>
          <a:bodyPr anchorCtr="0" anchor="t" bIns="85075"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NORMALIZATION PIPELINE</a:t>
            </a:r>
            <a:endParaRPr b="0" i="0" sz="1602" u="none" cap="none" strike="noStrike">
              <a:solidFill>
                <a:schemeClr val="dk1"/>
              </a:solidFill>
              <a:latin typeface="Calibri"/>
              <a:ea typeface="Calibri"/>
              <a:cs typeface="Calibri"/>
              <a:sym typeface="Calibri"/>
            </a:endParaRPr>
          </a:p>
        </p:txBody>
      </p:sp>
      <p:sp>
        <p:nvSpPr>
          <p:cNvPr id="181" name="Google Shape;181;p10"/>
          <p:cNvSpPr/>
          <p:nvPr/>
        </p:nvSpPr>
        <p:spPr>
          <a:xfrm>
            <a:off x="742950" y="1435894"/>
            <a:ext cx="3757613" cy="1121569"/>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0"/>
          <p:cNvSpPr/>
          <p:nvPr/>
        </p:nvSpPr>
        <p:spPr>
          <a:xfrm>
            <a:off x="742950" y="1435894"/>
            <a:ext cx="21431" cy="1121569"/>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3" name="Google Shape;183;p10"/>
          <p:cNvPicPr preferRelativeResize="0"/>
          <p:nvPr/>
        </p:nvPicPr>
        <p:blipFill rotWithShape="1">
          <a:blip r:embed="rId4">
            <a:alphaModFix/>
          </a:blip>
          <a:srcRect b="0" l="0" r="0" t="0"/>
          <a:stretch/>
        </p:blipFill>
        <p:spPr>
          <a:xfrm>
            <a:off x="850106" y="1543943"/>
            <a:ext cx="178594" cy="142875"/>
          </a:xfrm>
          <a:prstGeom prst="rect">
            <a:avLst/>
          </a:prstGeom>
          <a:noFill/>
          <a:ln>
            <a:noFill/>
          </a:ln>
        </p:spPr>
      </p:pic>
      <p:sp>
        <p:nvSpPr>
          <p:cNvPr id="184" name="Google Shape;184;p10"/>
          <p:cNvSpPr/>
          <p:nvPr/>
        </p:nvSpPr>
        <p:spPr>
          <a:xfrm>
            <a:off x="1114425" y="1543050"/>
            <a:ext cx="1944886"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REST SENSORS (8 SOURCES)</a:t>
            </a:r>
            <a:endParaRPr b="0" i="0" sz="834" u="none" cap="none" strike="noStrike">
              <a:solidFill>
                <a:schemeClr val="dk1"/>
              </a:solidFill>
              <a:latin typeface="Calibri"/>
              <a:ea typeface="Calibri"/>
              <a:cs typeface="Calibri"/>
              <a:sym typeface="Calibri"/>
            </a:endParaRPr>
          </a:p>
        </p:txBody>
      </p:sp>
      <p:sp>
        <p:nvSpPr>
          <p:cNvPr id="185" name="Google Shape;185;p10"/>
          <p:cNvSpPr/>
          <p:nvPr/>
        </p:nvSpPr>
        <p:spPr>
          <a:xfrm>
            <a:off x="850106" y="1759148"/>
            <a:ext cx="741164"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Poll every 5s via</a:t>
            </a:r>
            <a:endParaRPr b="0" i="0" sz="727" u="none" cap="none" strike="noStrike">
              <a:solidFill>
                <a:schemeClr val="dk1"/>
              </a:solidFill>
              <a:latin typeface="Calibri"/>
              <a:ea typeface="Calibri"/>
              <a:cs typeface="Calibri"/>
              <a:sym typeface="Calibri"/>
            </a:endParaRPr>
          </a:p>
        </p:txBody>
      </p:sp>
      <p:sp>
        <p:nvSpPr>
          <p:cNvPr id="186" name="Google Shape;186;p10"/>
          <p:cNvSpPr/>
          <p:nvPr/>
        </p:nvSpPr>
        <p:spPr>
          <a:xfrm>
            <a:off x="1591270" y="1739503"/>
            <a:ext cx="357188"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0"/>
          <p:cNvSpPr/>
          <p:nvPr/>
        </p:nvSpPr>
        <p:spPr>
          <a:xfrm>
            <a:off x="1591270" y="1739503"/>
            <a:ext cx="357188"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httpx</a:t>
            </a:r>
            <a:endParaRPr b="0" i="0" sz="727" u="none" cap="none" strike="noStrike">
              <a:solidFill>
                <a:schemeClr val="dk1"/>
              </a:solidFill>
              <a:latin typeface="Calibri"/>
              <a:ea typeface="Calibri"/>
              <a:cs typeface="Calibri"/>
              <a:sym typeface="Calibri"/>
            </a:endParaRPr>
          </a:p>
        </p:txBody>
      </p:sp>
      <p:sp>
        <p:nvSpPr>
          <p:cNvPr id="188" name="Google Shape;188;p10"/>
          <p:cNvSpPr/>
          <p:nvPr/>
        </p:nvSpPr>
        <p:spPr>
          <a:xfrm>
            <a:off x="1948458" y="1759148"/>
            <a:ext cx="155377"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189" name="Google Shape;189;p10"/>
          <p:cNvSpPr/>
          <p:nvPr/>
        </p:nvSpPr>
        <p:spPr>
          <a:xfrm>
            <a:off x="2103834" y="1739503"/>
            <a:ext cx="1317324"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0"/>
          <p:cNvSpPr/>
          <p:nvPr/>
        </p:nvSpPr>
        <p:spPr>
          <a:xfrm>
            <a:off x="2103834" y="1739503"/>
            <a:ext cx="1317324"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SENSOR_ID_NORMALIZERS</a:t>
            </a:r>
            <a:endParaRPr b="0" i="0" sz="727" u="none" cap="none" strike="noStrike">
              <a:solidFill>
                <a:schemeClr val="dk1"/>
              </a:solidFill>
              <a:latin typeface="Calibri"/>
              <a:ea typeface="Calibri"/>
              <a:cs typeface="Calibri"/>
              <a:sym typeface="Calibri"/>
            </a:endParaRPr>
          </a:p>
        </p:txBody>
      </p:sp>
      <p:sp>
        <p:nvSpPr>
          <p:cNvPr id="191" name="Google Shape;191;p10"/>
          <p:cNvSpPr/>
          <p:nvPr/>
        </p:nvSpPr>
        <p:spPr>
          <a:xfrm>
            <a:off x="3421159" y="1759148"/>
            <a:ext cx="155377"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192" name="Google Shape;192;p10"/>
          <p:cNvSpPr/>
          <p:nvPr/>
        </p:nvSpPr>
        <p:spPr>
          <a:xfrm>
            <a:off x="3576535" y="1739503"/>
            <a:ext cx="777246"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0"/>
          <p:cNvSpPr/>
          <p:nvPr/>
        </p:nvSpPr>
        <p:spPr>
          <a:xfrm>
            <a:off x="3576535" y="1739503"/>
            <a:ext cx="777246"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UnifiedEvent</a:t>
            </a:r>
            <a:endParaRPr b="0" i="0" sz="727" u="none" cap="none" strike="noStrike">
              <a:solidFill>
                <a:schemeClr val="dk1"/>
              </a:solidFill>
              <a:latin typeface="Calibri"/>
              <a:ea typeface="Calibri"/>
              <a:cs typeface="Calibri"/>
              <a:sym typeface="Calibri"/>
            </a:endParaRPr>
          </a:p>
        </p:txBody>
      </p:sp>
      <p:sp>
        <p:nvSpPr>
          <p:cNvPr id="194" name="Google Shape;194;p10"/>
          <p:cNvSpPr/>
          <p:nvPr/>
        </p:nvSpPr>
        <p:spPr>
          <a:xfrm>
            <a:off x="850106" y="1902721"/>
            <a:ext cx="130373"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195" name="Google Shape;195;p10"/>
          <p:cNvSpPr/>
          <p:nvPr/>
        </p:nvSpPr>
        <p:spPr>
          <a:xfrm>
            <a:off x="980480" y="1883076"/>
            <a:ext cx="837270"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0"/>
          <p:cNvSpPr/>
          <p:nvPr/>
        </p:nvSpPr>
        <p:spPr>
          <a:xfrm>
            <a:off x="980480" y="1883076"/>
            <a:ext cx="837270"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sensor.events</a:t>
            </a:r>
            <a:endParaRPr b="0" i="0" sz="727" u="none" cap="none" strike="noStrike">
              <a:solidFill>
                <a:schemeClr val="dk1"/>
              </a:solidFill>
              <a:latin typeface="Calibri"/>
              <a:ea typeface="Calibri"/>
              <a:cs typeface="Calibri"/>
              <a:sym typeface="Calibri"/>
            </a:endParaRPr>
          </a:p>
        </p:txBody>
      </p:sp>
      <p:sp>
        <p:nvSpPr>
          <p:cNvPr id="197" name="Google Shape;197;p10"/>
          <p:cNvSpPr/>
          <p:nvPr/>
        </p:nvSpPr>
        <p:spPr>
          <a:xfrm>
            <a:off x="1817750" y="1902721"/>
            <a:ext cx="508992"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(multicast)</a:t>
            </a:r>
            <a:endParaRPr b="0" i="0" sz="727" u="none" cap="none" strike="noStrike">
              <a:solidFill>
                <a:schemeClr val="dk1"/>
              </a:solidFill>
              <a:latin typeface="Calibri"/>
              <a:ea typeface="Calibri"/>
              <a:cs typeface="Calibri"/>
              <a:sym typeface="Calibri"/>
            </a:endParaRPr>
          </a:p>
        </p:txBody>
      </p:sp>
      <p:sp>
        <p:nvSpPr>
          <p:cNvPr id="198" name="Google Shape;198;p10"/>
          <p:cNvSpPr/>
          <p:nvPr/>
        </p:nvSpPr>
        <p:spPr>
          <a:xfrm>
            <a:off x="4643438" y="1435894"/>
            <a:ext cx="3757613" cy="1121569"/>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0"/>
          <p:cNvSpPr/>
          <p:nvPr/>
        </p:nvSpPr>
        <p:spPr>
          <a:xfrm>
            <a:off x="4643438" y="1435894"/>
            <a:ext cx="21431" cy="1121569"/>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00" name="Google Shape;200;p10"/>
          <p:cNvPicPr preferRelativeResize="0"/>
          <p:nvPr/>
        </p:nvPicPr>
        <p:blipFill rotWithShape="1">
          <a:blip r:embed="rId5">
            <a:alphaModFix/>
          </a:blip>
          <a:srcRect b="0" l="0" r="0" t="0"/>
          <a:stretch/>
        </p:blipFill>
        <p:spPr>
          <a:xfrm>
            <a:off x="4750594" y="1543943"/>
            <a:ext cx="178594" cy="142875"/>
          </a:xfrm>
          <a:prstGeom prst="rect">
            <a:avLst/>
          </a:prstGeom>
          <a:noFill/>
          <a:ln>
            <a:noFill/>
          </a:ln>
        </p:spPr>
      </p:pic>
      <p:sp>
        <p:nvSpPr>
          <p:cNvPr id="201" name="Google Shape;201;p10"/>
          <p:cNvSpPr/>
          <p:nvPr/>
        </p:nvSpPr>
        <p:spPr>
          <a:xfrm>
            <a:off x="5014913" y="1543050"/>
            <a:ext cx="2128838"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TELEMETRY TOPICS (4 GROUPS)</a:t>
            </a:r>
            <a:endParaRPr b="0" i="0" sz="834" u="none" cap="none" strike="noStrike">
              <a:solidFill>
                <a:schemeClr val="dk1"/>
              </a:solidFill>
              <a:latin typeface="Calibri"/>
              <a:ea typeface="Calibri"/>
              <a:cs typeface="Calibri"/>
              <a:sym typeface="Calibri"/>
            </a:endParaRPr>
          </a:p>
        </p:txBody>
      </p:sp>
      <p:sp>
        <p:nvSpPr>
          <p:cNvPr id="202" name="Google Shape;202;p10"/>
          <p:cNvSpPr/>
          <p:nvPr/>
        </p:nvSpPr>
        <p:spPr>
          <a:xfrm>
            <a:off x="4750594" y="1759148"/>
            <a:ext cx="1569839"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SSE stream with auto-reconnect --&gt;</a:t>
            </a:r>
            <a:endParaRPr b="0" i="0" sz="727" u="none" cap="none" strike="noStrike">
              <a:solidFill>
                <a:schemeClr val="dk1"/>
              </a:solidFill>
              <a:latin typeface="Calibri"/>
              <a:ea typeface="Calibri"/>
              <a:cs typeface="Calibri"/>
              <a:sym typeface="Calibri"/>
            </a:endParaRPr>
          </a:p>
        </p:txBody>
      </p:sp>
      <p:sp>
        <p:nvSpPr>
          <p:cNvPr id="203" name="Google Shape;203;p10"/>
          <p:cNvSpPr/>
          <p:nvPr/>
        </p:nvSpPr>
        <p:spPr>
          <a:xfrm>
            <a:off x="6320433" y="1739503"/>
            <a:ext cx="1137307"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0"/>
          <p:cNvSpPr/>
          <p:nvPr/>
        </p:nvSpPr>
        <p:spPr>
          <a:xfrm>
            <a:off x="6320433" y="1739503"/>
            <a:ext cx="1137307"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SCHEMA_NORMALIZERS</a:t>
            </a:r>
            <a:endParaRPr b="0" i="0" sz="727" u="none" cap="none" strike="noStrike">
              <a:solidFill>
                <a:schemeClr val="dk1"/>
              </a:solidFill>
              <a:latin typeface="Calibri"/>
              <a:ea typeface="Calibri"/>
              <a:cs typeface="Calibri"/>
              <a:sym typeface="Calibri"/>
            </a:endParaRPr>
          </a:p>
        </p:txBody>
      </p:sp>
      <p:sp>
        <p:nvSpPr>
          <p:cNvPr id="205" name="Google Shape;205;p10"/>
          <p:cNvSpPr/>
          <p:nvPr/>
        </p:nvSpPr>
        <p:spPr>
          <a:xfrm>
            <a:off x="7457740" y="1759148"/>
            <a:ext cx="130373"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206" name="Google Shape;206;p10"/>
          <p:cNvSpPr/>
          <p:nvPr/>
        </p:nvSpPr>
        <p:spPr>
          <a:xfrm>
            <a:off x="4750594" y="1883076"/>
            <a:ext cx="777246"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0"/>
          <p:cNvSpPr/>
          <p:nvPr/>
        </p:nvSpPr>
        <p:spPr>
          <a:xfrm>
            <a:off x="4750594" y="1883076"/>
            <a:ext cx="777246"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UnifiedEvent</a:t>
            </a:r>
            <a:endParaRPr b="0" i="0" sz="727" u="none" cap="none" strike="noStrike">
              <a:solidFill>
                <a:schemeClr val="dk1"/>
              </a:solidFill>
              <a:latin typeface="Calibri"/>
              <a:ea typeface="Calibri"/>
              <a:cs typeface="Calibri"/>
              <a:sym typeface="Calibri"/>
            </a:endParaRPr>
          </a:p>
        </p:txBody>
      </p:sp>
      <p:sp>
        <p:nvSpPr>
          <p:cNvPr id="208" name="Google Shape;208;p10"/>
          <p:cNvSpPr/>
          <p:nvPr/>
        </p:nvSpPr>
        <p:spPr>
          <a:xfrm>
            <a:off x="5527839" y="1902721"/>
            <a:ext cx="155377"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209" name="Google Shape;209;p10"/>
          <p:cNvSpPr/>
          <p:nvPr/>
        </p:nvSpPr>
        <p:spPr>
          <a:xfrm>
            <a:off x="5683216" y="1883076"/>
            <a:ext cx="837270"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0"/>
          <p:cNvSpPr/>
          <p:nvPr/>
        </p:nvSpPr>
        <p:spPr>
          <a:xfrm>
            <a:off x="5683216" y="1883076"/>
            <a:ext cx="837270"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sensor.events</a:t>
            </a:r>
            <a:endParaRPr b="0" i="0" sz="727" u="none" cap="none" strike="noStrike">
              <a:solidFill>
                <a:schemeClr val="dk1"/>
              </a:solidFill>
              <a:latin typeface="Calibri"/>
              <a:ea typeface="Calibri"/>
              <a:cs typeface="Calibri"/>
              <a:sym typeface="Calibri"/>
            </a:endParaRPr>
          </a:p>
        </p:txBody>
      </p:sp>
      <p:sp>
        <p:nvSpPr>
          <p:cNvPr id="211" name="Google Shape;211;p10"/>
          <p:cNvSpPr/>
          <p:nvPr/>
        </p:nvSpPr>
        <p:spPr>
          <a:xfrm>
            <a:off x="6520486" y="1902721"/>
            <a:ext cx="508992"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(multicast)</a:t>
            </a:r>
            <a:endParaRPr b="0" i="0" sz="727" u="none" cap="none" strike="noStrike">
              <a:solidFill>
                <a:schemeClr val="dk1"/>
              </a:solidFill>
              <a:latin typeface="Calibri"/>
              <a:ea typeface="Calibri"/>
              <a:cs typeface="Calibri"/>
              <a:sym typeface="Calibri"/>
            </a:endParaRPr>
          </a:p>
        </p:txBody>
      </p:sp>
      <p:sp>
        <p:nvSpPr>
          <p:cNvPr id="212" name="Google Shape;212;p10"/>
          <p:cNvSpPr/>
          <p:nvPr/>
        </p:nvSpPr>
        <p:spPr>
          <a:xfrm>
            <a:off x="742950" y="2700338"/>
            <a:ext cx="3757613" cy="1121569"/>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0"/>
          <p:cNvSpPr/>
          <p:nvPr/>
        </p:nvSpPr>
        <p:spPr>
          <a:xfrm>
            <a:off x="742950" y="2700338"/>
            <a:ext cx="21431" cy="1121569"/>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4" name="Google Shape;214;p10"/>
          <p:cNvPicPr preferRelativeResize="0"/>
          <p:nvPr/>
        </p:nvPicPr>
        <p:blipFill rotWithShape="1">
          <a:blip r:embed="rId6">
            <a:alphaModFix/>
          </a:blip>
          <a:srcRect b="0" l="0" r="0" t="0"/>
          <a:stretch/>
        </p:blipFill>
        <p:spPr>
          <a:xfrm>
            <a:off x="850106" y="2808387"/>
            <a:ext cx="178594" cy="142875"/>
          </a:xfrm>
          <a:prstGeom prst="rect">
            <a:avLst/>
          </a:prstGeom>
          <a:noFill/>
          <a:ln>
            <a:noFill/>
          </a:ln>
        </p:spPr>
      </p:pic>
      <p:sp>
        <p:nvSpPr>
          <p:cNvPr id="215" name="Google Shape;215;p10"/>
          <p:cNvSpPr/>
          <p:nvPr/>
        </p:nvSpPr>
        <p:spPr>
          <a:xfrm>
            <a:off x="1114425" y="2807494"/>
            <a:ext cx="2057400"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ACTUATOR BOOT + COMMANDS</a:t>
            </a:r>
            <a:endParaRPr b="0" i="0" sz="834" u="none" cap="none" strike="noStrike">
              <a:solidFill>
                <a:schemeClr val="dk1"/>
              </a:solidFill>
              <a:latin typeface="Calibri"/>
              <a:ea typeface="Calibri"/>
              <a:cs typeface="Calibri"/>
              <a:sym typeface="Calibri"/>
            </a:endParaRPr>
          </a:p>
        </p:txBody>
      </p:sp>
      <p:sp>
        <p:nvSpPr>
          <p:cNvPr id="216" name="Google Shape;216;p10"/>
          <p:cNvSpPr/>
          <p:nvPr/>
        </p:nvSpPr>
        <p:spPr>
          <a:xfrm>
            <a:off x="850106" y="3023592"/>
            <a:ext cx="1403747"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Fetch REST on startup + AMQP</a:t>
            </a:r>
            <a:endParaRPr b="0" i="0" sz="727" u="none" cap="none" strike="noStrike">
              <a:solidFill>
                <a:schemeClr val="dk1"/>
              </a:solidFill>
              <a:latin typeface="Calibri"/>
              <a:ea typeface="Calibri"/>
              <a:cs typeface="Calibri"/>
              <a:sym typeface="Calibri"/>
            </a:endParaRPr>
          </a:p>
        </p:txBody>
      </p:sp>
      <p:sp>
        <p:nvSpPr>
          <p:cNvPr id="217" name="Google Shape;217;p10"/>
          <p:cNvSpPr/>
          <p:nvPr/>
        </p:nvSpPr>
        <p:spPr>
          <a:xfrm>
            <a:off x="2253853" y="3003947"/>
            <a:ext cx="1077283"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0"/>
          <p:cNvSpPr/>
          <p:nvPr/>
        </p:nvSpPr>
        <p:spPr>
          <a:xfrm>
            <a:off x="2253853" y="3003947"/>
            <a:ext cx="1077283"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actuator.commands</a:t>
            </a:r>
            <a:endParaRPr b="0" i="0" sz="727" u="none" cap="none" strike="noStrike">
              <a:solidFill>
                <a:schemeClr val="dk1"/>
              </a:solidFill>
              <a:latin typeface="Calibri"/>
              <a:ea typeface="Calibri"/>
              <a:cs typeface="Calibri"/>
              <a:sym typeface="Calibri"/>
            </a:endParaRPr>
          </a:p>
        </p:txBody>
      </p:sp>
      <p:sp>
        <p:nvSpPr>
          <p:cNvPr id="219" name="Google Shape;219;p10"/>
          <p:cNvSpPr/>
          <p:nvPr/>
        </p:nvSpPr>
        <p:spPr>
          <a:xfrm>
            <a:off x="3331136" y="3023592"/>
            <a:ext cx="155377"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220" name="Google Shape;220;p10"/>
          <p:cNvSpPr/>
          <p:nvPr/>
        </p:nvSpPr>
        <p:spPr>
          <a:xfrm>
            <a:off x="3486513" y="3003947"/>
            <a:ext cx="837270"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0"/>
          <p:cNvSpPr/>
          <p:nvPr/>
        </p:nvSpPr>
        <p:spPr>
          <a:xfrm>
            <a:off x="3486513" y="3003947"/>
            <a:ext cx="837270"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ActuatorEvent</a:t>
            </a:r>
            <a:endParaRPr b="0" i="0" sz="727" u="none" cap="none" strike="noStrike">
              <a:solidFill>
                <a:schemeClr val="dk1"/>
              </a:solidFill>
              <a:latin typeface="Calibri"/>
              <a:ea typeface="Calibri"/>
              <a:cs typeface="Calibri"/>
              <a:sym typeface="Calibri"/>
            </a:endParaRPr>
          </a:p>
        </p:txBody>
      </p:sp>
      <p:sp>
        <p:nvSpPr>
          <p:cNvPr id="222" name="Google Shape;222;p10"/>
          <p:cNvSpPr/>
          <p:nvPr/>
        </p:nvSpPr>
        <p:spPr>
          <a:xfrm>
            <a:off x="850106" y="3023592"/>
            <a:ext cx="3525469" cy="261445"/>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--&gt;</a:t>
            </a:r>
            <a:endParaRPr b="0" i="0" sz="727" u="none" cap="none" strike="noStrike">
              <a:solidFill>
                <a:schemeClr val="dk1"/>
              </a:solidFill>
              <a:latin typeface="Calibri"/>
              <a:ea typeface="Calibri"/>
              <a:cs typeface="Calibri"/>
              <a:sym typeface="Calibri"/>
            </a:endParaRPr>
          </a:p>
        </p:txBody>
      </p:sp>
      <p:sp>
        <p:nvSpPr>
          <p:cNvPr id="223" name="Google Shape;223;p10"/>
          <p:cNvSpPr/>
          <p:nvPr/>
        </p:nvSpPr>
        <p:spPr>
          <a:xfrm>
            <a:off x="953691" y="3147520"/>
            <a:ext cx="957263"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953691" y="3147520"/>
            <a:ext cx="957263"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actuator.states</a:t>
            </a:r>
            <a:endParaRPr b="0" i="0" sz="727" u="none" cap="none" strike="noStrike">
              <a:solidFill>
                <a:schemeClr val="dk1"/>
              </a:solidFill>
              <a:latin typeface="Calibri"/>
              <a:ea typeface="Calibri"/>
              <a:cs typeface="Calibri"/>
              <a:sym typeface="Calibri"/>
            </a:endParaRPr>
          </a:p>
        </p:txBody>
      </p:sp>
      <p:sp>
        <p:nvSpPr>
          <p:cNvPr id="225" name="Google Shape;225;p10"/>
          <p:cNvSpPr/>
          <p:nvPr/>
        </p:nvSpPr>
        <p:spPr>
          <a:xfrm>
            <a:off x="1910953" y="3167165"/>
            <a:ext cx="441127"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(anycast)</a:t>
            </a:r>
            <a:endParaRPr b="0" i="0" sz="727" u="none" cap="none" strike="noStrike">
              <a:solidFill>
                <a:schemeClr val="dk1"/>
              </a:solidFill>
              <a:latin typeface="Calibri"/>
              <a:ea typeface="Calibri"/>
              <a:cs typeface="Calibri"/>
              <a:sym typeface="Calibri"/>
            </a:endParaRPr>
          </a:p>
        </p:txBody>
      </p:sp>
      <p:sp>
        <p:nvSpPr>
          <p:cNvPr id="226" name="Google Shape;226;p10"/>
          <p:cNvSpPr/>
          <p:nvPr/>
        </p:nvSpPr>
        <p:spPr>
          <a:xfrm>
            <a:off x="4643438" y="2700338"/>
            <a:ext cx="3757613" cy="1121569"/>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0"/>
          <p:cNvSpPr/>
          <p:nvPr/>
        </p:nvSpPr>
        <p:spPr>
          <a:xfrm>
            <a:off x="4643438" y="2700338"/>
            <a:ext cx="21431" cy="1121569"/>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28" name="Google Shape;228;p10"/>
          <p:cNvPicPr preferRelativeResize="0"/>
          <p:nvPr/>
        </p:nvPicPr>
        <p:blipFill rotWithShape="1">
          <a:blip r:embed="rId7">
            <a:alphaModFix/>
          </a:blip>
          <a:srcRect b="0" l="0" r="0" t="0"/>
          <a:stretch/>
        </p:blipFill>
        <p:spPr>
          <a:xfrm>
            <a:off x="4750594" y="2808387"/>
            <a:ext cx="178594" cy="142875"/>
          </a:xfrm>
          <a:prstGeom prst="rect">
            <a:avLst/>
          </a:prstGeom>
          <a:noFill/>
          <a:ln>
            <a:noFill/>
          </a:ln>
        </p:spPr>
      </p:pic>
      <p:sp>
        <p:nvSpPr>
          <p:cNvPr id="229" name="Google Shape;229;p10"/>
          <p:cNvSpPr/>
          <p:nvPr/>
        </p:nvSpPr>
        <p:spPr>
          <a:xfrm>
            <a:off x="5014913" y="2807494"/>
            <a:ext cx="1584127"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E0E0E0"/>
              </a:buClr>
              <a:buSzPts val="834"/>
              <a:buFont typeface="Orbitron"/>
              <a:buNone/>
            </a:pPr>
            <a:r>
              <a:rPr b="0" i="0" lang="en-US" sz="834" u="none" cap="none" strike="noStrike">
                <a:solidFill>
                  <a:srgbClr val="E0E0E0"/>
                </a:solidFill>
                <a:latin typeface="Orbitron"/>
                <a:ea typeface="Orbitron"/>
                <a:cs typeface="Orbitron"/>
                <a:sym typeface="Orbitron"/>
              </a:rPr>
              <a:t>UNIFIEDEVENT SCHEMA</a:t>
            </a:r>
            <a:endParaRPr b="0" i="0" sz="834" u="none" cap="none" strike="noStrike">
              <a:solidFill>
                <a:schemeClr val="dk1"/>
              </a:solidFill>
              <a:latin typeface="Calibri"/>
              <a:ea typeface="Calibri"/>
              <a:cs typeface="Calibri"/>
              <a:sym typeface="Calibri"/>
            </a:endParaRPr>
          </a:p>
        </p:txBody>
      </p:sp>
      <p:sp>
        <p:nvSpPr>
          <p:cNvPr id="230" name="Google Shape;230;p10"/>
          <p:cNvSpPr/>
          <p:nvPr/>
        </p:nvSpPr>
        <p:spPr>
          <a:xfrm>
            <a:off x="4750594" y="3003947"/>
            <a:ext cx="537232"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0"/>
          <p:cNvSpPr/>
          <p:nvPr/>
        </p:nvSpPr>
        <p:spPr>
          <a:xfrm>
            <a:off x="4750594" y="3003947"/>
            <a:ext cx="537232"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group_id</a:t>
            </a:r>
            <a:endParaRPr b="0" i="0" sz="727" u="none" cap="none" strike="noStrike">
              <a:solidFill>
                <a:schemeClr val="dk1"/>
              </a:solidFill>
              <a:latin typeface="Calibri"/>
              <a:ea typeface="Calibri"/>
              <a:cs typeface="Calibri"/>
              <a:sym typeface="Calibri"/>
            </a:endParaRPr>
          </a:p>
        </p:txBody>
      </p:sp>
      <p:sp>
        <p:nvSpPr>
          <p:cNvPr id="232" name="Google Shape;232;p10"/>
          <p:cNvSpPr/>
          <p:nvPr/>
        </p:nvSpPr>
        <p:spPr>
          <a:xfrm>
            <a:off x="5287826" y="3023592"/>
            <a:ext cx="107156"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a:t>
            </a:r>
            <a:endParaRPr b="0" i="0" sz="727" u="none" cap="none" strike="noStrike">
              <a:solidFill>
                <a:schemeClr val="dk1"/>
              </a:solidFill>
              <a:latin typeface="Calibri"/>
              <a:ea typeface="Calibri"/>
              <a:cs typeface="Calibri"/>
              <a:sym typeface="Calibri"/>
            </a:endParaRPr>
          </a:p>
        </p:txBody>
      </p:sp>
      <p:sp>
        <p:nvSpPr>
          <p:cNvPr id="233" name="Google Shape;233;p10"/>
          <p:cNvSpPr/>
          <p:nvPr/>
        </p:nvSpPr>
        <p:spPr>
          <a:xfrm>
            <a:off x="5394982" y="3003947"/>
            <a:ext cx="177171"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0"/>
          <p:cNvSpPr/>
          <p:nvPr/>
        </p:nvSpPr>
        <p:spPr>
          <a:xfrm>
            <a:off x="5394982" y="3003947"/>
            <a:ext cx="177171"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at</a:t>
            </a:r>
            <a:endParaRPr b="0" i="0" sz="727" u="none" cap="none" strike="noStrike">
              <a:solidFill>
                <a:schemeClr val="dk1"/>
              </a:solidFill>
              <a:latin typeface="Calibri"/>
              <a:ea typeface="Calibri"/>
              <a:cs typeface="Calibri"/>
              <a:sym typeface="Calibri"/>
            </a:endParaRPr>
          </a:p>
        </p:txBody>
      </p:sp>
      <p:sp>
        <p:nvSpPr>
          <p:cNvPr id="235" name="Google Shape;235;p10"/>
          <p:cNvSpPr/>
          <p:nvPr/>
        </p:nvSpPr>
        <p:spPr>
          <a:xfrm>
            <a:off x="5572153" y="3023592"/>
            <a:ext cx="107156"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a:t>
            </a:r>
            <a:endParaRPr b="0" i="0" sz="727" u="none" cap="none" strike="noStrike">
              <a:solidFill>
                <a:schemeClr val="dk1"/>
              </a:solidFill>
              <a:latin typeface="Calibri"/>
              <a:ea typeface="Calibri"/>
              <a:cs typeface="Calibri"/>
              <a:sym typeface="Calibri"/>
            </a:endParaRPr>
          </a:p>
        </p:txBody>
      </p:sp>
      <p:sp>
        <p:nvSpPr>
          <p:cNvPr id="236" name="Google Shape;236;p10"/>
          <p:cNvSpPr/>
          <p:nvPr/>
        </p:nvSpPr>
        <p:spPr>
          <a:xfrm>
            <a:off x="5679309" y="3003947"/>
            <a:ext cx="1737382"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0"/>
          <p:cNvSpPr/>
          <p:nvPr/>
        </p:nvSpPr>
        <p:spPr>
          <a:xfrm>
            <a:off x="5679309" y="3003947"/>
            <a:ext cx="1737382"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metrics[]{id, type, value[]}</a:t>
            </a:r>
            <a:endParaRPr b="0" i="0" sz="727" u="none" cap="none" strike="noStrike">
              <a:solidFill>
                <a:schemeClr val="dk1"/>
              </a:solidFill>
              <a:latin typeface="Calibri"/>
              <a:ea typeface="Calibri"/>
              <a:cs typeface="Calibri"/>
              <a:sym typeface="Calibri"/>
            </a:endParaRPr>
          </a:p>
        </p:txBody>
      </p:sp>
      <p:sp>
        <p:nvSpPr>
          <p:cNvPr id="238" name="Google Shape;238;p10"/>
          <p:cNvSpPr/>
          <p:nvPr/>
        </p:nvSpPr>
        <p:spPr>
          <a:xfrm>
            <a:off x="7416691" y="3023592"/>
            <a:ext cx="107156"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a:t>
            </a:r>
            <a:endParaRPr b="0" i="0" sz="727" u="none" cap="none" strike="noStrike">
              <a:solidFill>
                <a:schemeClr val="dk1"/>
              </a:solidFill>
              <a:latin typeface="Calibri"/>
              <a:ea typeface="Calibri"/>
              <a:cs typeface="Calibri"/>
              <a:sym typeface="Calibri"/>
            </a:endParaRPr>
          </a:p>
        </p:txBody>
      </p:sp>
      <p:sp>
        <p:nvSpPr>
          <p:cNvPr id="239" name="Google Shape;239;p10"/>
          <p:cNvSpPr/>
          <p:nvPr/>
        </p:nvSpPr>
        <p:spPr>
          <a:xfrm>
            <a:off x="7523848" y="3003947"/>
            <a:ext cx="417212"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0"/>
          <p:cNvSpPr/>
          <p:nvPr/>
        </p:nvSpPr>
        <p:spPr>
          <a:xfrm>
            <a:off x="7523848" y="3003947"/>
            <a:ext cx="417212"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status</a:t>
            </a:r>
            <a:endParaRPr b="0" i="0" sz="727" u="none" cap="none" strike="noStrike">
              <a:solidFill>
                <a:schemeClr val="dk1"/>
              </a:solidFill>
              <a:latin typeface="Calibri"/>
              <a:ea typeface="Calibri"/>
              <a:cs typeface="Calibri"/>
              <a:sym typeface="Calibri"/>
            </a:endParaRPr>
          </a:p>
        </p:txBody>
      </p:sp>
      <p:sp>
        <p:nvSpPr>
          <p:cNvPr id="241" name="Google Shape;241;p10"/>
          <p:cNvSpPr/>
          <p:nvPr/>
        </p:nvSpPr>
        <p:spPr>
          <a:xfrm>
            <a:off x="7941059" y="3023592"/>
            <a:ext cx="82153"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a:t>
            </a:r>
            <a:endParaRPr b="0" i="0" sz="727" u="none" cap="none" strike="noStrike">
              <a:solidFill>
                <a:schemeClr val="dk1"/>
              </a:solidFill>
              <a:latin typeface="Calibri"/>
              <a:ea typeface="Calibri"/>
              <a:cs typeface="Calibri"/>
              <a:sym typeface="Calibri"/>
            </a:endParaRPr>
          </a:p>
        </p:txBody>
      </p:sp>
      <p:sp>
        <p:nvSpPr>
          <p:cNvPr id="242" name="Google Shape;242;p10"/>
          <p:cNvSpPr/>
          <p:nvPr/>
        </p:nvSpPr>
        <p:spPr>
          <a:xfrm>
            <a:off x="4750594" y="3147520"/>
            <a:ext cx="1077283" cy="150019"/>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0"/>
          <p:cNvSpPr/>
          <p:nvPr/>
        </p:nvSpPr>
        <p:spPr>
          <a:xfrm>
            <a:off x="4750594" y="3147520"/>
            <a:ext cx="1077283" cy="150019"/>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Arial"/>
              <a:buNone/>
            </a:pPr>
            <a:r>
              <a:rPr b="0" i="0" lang="en-US" sz="727" u="none" cap="none" strike="noStrike">
                <a:solidFill>
                  <a:srgbClr val="FF4500"/>
                </a:solidFill>
                <a:latin typeface="Arial"/>
                <a:ea typeface="Arial"/>
                <a:cs typeface="Arial"/>
                <a:sym typeface="Arial"/>
              </a:rPr>
              <a:t>converter_version</a:t>
            </a:r>
            <a:endParaRPr b="0" i="0" sz="727" u="none" cap="none" strike="noStrike">
              <a:solidFill>
                <a:schemeClr val="dk1"/>
              </a:solidFill>
              <a:latin typeface="Calibri"/>
              <a:ea typeface="Calibri"/>
              <a:cs typeface="Calibri"/>
              <a:sym typeface="Calibri"/>
            </a:endParaRPr>
          </a:p>
        </p:txBody>
      </p:sp>
      <p:sp>
        <p:nvSpPr>
          <p:cNvPr id="244" name="Google Shape;244;p10"/>
          <p:cNvSpPr/>
          <p:nvPr/>
        </p:nvSpPr>
        <p:spPr>
          <a:xfrm>
            <a:off x="5827877" y="3167165"/>
            <a:ext cx="1359098"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 Two event types, two queues.</a:t>
            </a:r>
            <a:endParaRPr b="0" i="0" sz="727" u="none" cap="none" strike="noStrike">
              <a:solidFill>
                <a:schemeClr val="dk1"/>
              </a:solidFill>
              <a:latin typeface="Calibri"/>
              <a:ea typeface="Calibri"/>
              <a:cs typeface="Calibri"/>
              <a:sym typeface="Calibri"/>
            </a:endParaRPr>
          </a:p>
        </p:txBody>
      </p:sp>
      <p:sp>
        <p:nvSpPr>
          <p:cNvPr id="245" name="Google Shape;245;p10"/>
          <p:cNvSpPr/>
          <p:nvPr/>
        </p:nvSpPr>
        <p:spPr>
          <a:xfrm>
            <a:off x="742950" y="3964781"/>
            <a:ext cx="7658100" cy="571500"/>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0"/>
          <p:cNvSpPr/>
          <p:nvPr/>
        </p:nvSpPr>
        <p:spPr>
          <a:xfrm>
            <a:off x="850106" y="4071938"/>
            <a:ext cx="7443788" cy="160734"/>
          </a:xfrm>
          <a:prstGeom prst="rect">
            <a:avLst/>
          </a:prstGeom>
          <a:noFill/>
          <a:ln>
            <a:noFill/>
          </a:ln>
        </p:spPr>
        <p:txBody>
          <a:bodyPr anchorCtr="0" anchor="t" bIns="0" lIns="0" spcFirstLastPara="1" rIns="0" wrap="square" tIns="0">
            <a:noAutofit/>
          </a:bodyPr>
          <a:lstStyle/>
          <a:p>
            <a:pPr indent="0" lvl="0" marL="0" marR="0" rtl="0" algn="ctr">
              <a:lnSpc>
                <a:spcPct val="166666"/>
              </a:lnSpc>
              <a:spcBef>
                <a:spcPts val="0"/>
              </a:spcBef>
              <a:spcAft>
                <a:spcPts val="0"/>
              </a:spcAft>
              <a:buClr>
                <a:srgbClr val="E0E0E0"/>
              </a:buClr>
              <a:buSzPts val="780"/>
              <a:buFont typeface="Roboto"/>
              <a:buNone/>
            </a:pPr>
            <a:r>
              <a:rPr b="0" i="1" lang="en-US" sz="780" u="none" cap="none" strike="noStrike">
                <a:solidFill>
                  <a:srgbClr val="E0E0E0"/>
                </a:solidFill>
                <a:latin typeface="Roboto"/>
                <a:ea typeface="Roboto"/>
                <a:cs typeface="Roboto"/>
                <a:sym typeface="Roboto"/>
              </a:rPr>
              <a:t>Both REST and SSE sources converge into the same UnifiedEvent schema, eliminating source-specific complexity for all downstream consumers.</a:t>
            </a:r>
            <a:endParaRPr b="0" i="0" sz="78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pic>
        <p:nvPicPr>
          <p:cNvPr descr="preencoded.png" id="252" name="Google Shape;252;p11"/>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53" name="Google Shape;253;p11"/>
          <p:cNvSpPr/>
          <p:nvPr/>
        </p:nvSpPr>
        <p:spPr>
          <a:xfrm>
            <a:off x="6606183" y="214313"/>
            <a:ext cx="22521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TECH_STACK // REL_3.3.2</a:t>
            </a:r>
            <a:endParaRPr b="0" i="0" sz="621" u="none" cap="none" strike="noStrike">
              <a:solidFill>
                <a:schemeClr val="dk1"/>
              </a:solidFill>
              <a:latin typeface="Calibri"/>
              <a:ea typeface="Calibri"/>
              <a:cs typeface="Calibri"/>
              <a:sym typeface="Calibri"/>
            </a:endParaRPr>
          </a:p>
        </p:txBody>
      </p:sp>
      <p:sp>
        <p:nvSpPr>
          <p:cNvPr id="254" name="Google Shape;254;p11"/>
          <p:cNvSpPr/>
          <p:nvPr/>
        </p:nvSpPr>
        <p:spPr>
          <a:xfrm>
            <a:off x="457275" y="428550"/>
            <a:ext cx="8229600" cy="4286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742950" y="714375"/>
            <a:ext cx="7658100" cy="364200"/>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CONVERTER SERVICE </a:t>
            </a:r>
            <a:r>
              <a:rPr b="1" lang="en-US" sz="1602">
                <a:solidFill>
                  <a:srgbClr val="FF4500"/>
                </a:solidFill>
                <a:latin typeface="Orbitron"/>
                <a:ea typeface="Orbitron"/>
                <a:cs typeface="Orbitron"/>
                <a:sym typeface="Orbitron"/>
              </a:rPr>
              <a:t>- </a:t>
            </a:r>
            <a:r>
              <a:rPr b="1" i="0" lang="en-US" sz="1602" u="none" cap="none" strike="noStrike">
                <a:solidFill>
                  <a:srgbClr val="FF4500"/>
                </a:solidFill>
                <a:latin typeface="Orbitron"/>
                <a:ea typeface="Orbitron"/>
                <a:cs typeface="Orbitron"/>
                <a:sym typeface="Orbitron"/>
              </a:rPr>
              <a:t>TECHNOLOGY STACK</a:t>
            </a:r>
            <a:endParaRPr b="0" i="0" sz="1602" u="none" cap="none" strike="noStrike">
              <a:solidFill>
                <a:schemeClr val="dk1"/>
              </a:solidFill>
              <a:latin typeface="Calibri"/>
              <a:ea typeface="Calibri"/>
              <a:cs typeface="Calibri"/>
              <a:sym typeface="Calibri"/>
            </a:endParaRPr>
          </a:p>
        </p:txBody>
      </p:sp>
      <p:sp>
        <p:nvSpPr>
          <p:cNvPr id="256" name="Google Shape;256;p11"/>
          <p:cNvSpPr/>
          <p:nvPr/>
        </p:nvSpPr>
        <p:spPr>
          <a:xfrm>
            <a:off x="742950"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7" name="Google Shape;257;p11"/>
          <p:cNvPicPr preferRelativeResize="0"/>
          <p:nvPr/>
        </p:nvPicPr>
        <p:blipFill rotWithShape="1">
          <a:blip r:embed="rId4">
            <a:alphaModFix/>
          </a:blip>
          <a:srcRect b="0" l="0" r="0" t="0"/>
          <a:stretch/>
        </p:blipFill>
        <p:spPr>
          <a:xfrm>
            <a:off x="850106" y="1400175"/>
            <a:ext cx="178594" cy="142875"/>
          </a:xfrm>
          <a:prstGeom prst="rect">
            <a:avLst/>
          </a:prstGeom>
          <a:noFill/>
          <a:ln>
            <a:noFill/>
          </a:ln>
        </p:spPr>
      </p:pic>
      <p:sp>
        <p:nvSpPr>
          <p:cNvPr id="258" name="Google Shape;258;p11"/>
          <p:cNvSpPr/>
          <p:nvPr/>
        </p:nvSpPr>
        <p:spPr>
          <a:xfrm>
            <a:off x="1100138" y="1408212"/>
            <a:ext cx="11019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PYTHON 3</a:t>
            </a:r>
            <a:endParaRPr b="0" i="0" sz="727" u="none" cap="none" strike="noStrike">
              <a:solidFill>
                <a:schemeClr val="dk1"/>
              </a:solidFill>
              <a:latin typeface="Calibri"/>
              <a:ea typeface="Calibri"/>
              <a:cs typeface="Calibri"/>
              <a:sym typeface="Calibri"/>
            </a:endParaRPr>
          </a:p>
        </p:txBody>
      </p:sp>
      <p:sp>
        <p:nvSpPr>
          <p:cNvPr id="259" name="Google Shape;259;p11"/>
          <p:cNvSpPr/>
          <p:nvPr/>
        </p:nvSpPr>
        <p:spPr>
          <a:xfrm>
            <a:off x="850106" y="1614488"/>
            <a:ext cx="2243100" cy="129900"/>
          </a:xfrm>
          <a:prstGeom prst="rect">
            <a:avLst/>
          </a:prstGeom>
          <a:noFill/>
          <a:ln>
            <a:noFill/>
          </a:ln>
        </p:spPr>
        <p:txBody>
          <a:bodyPr anchorCtr="0" anchor="t" bIns="0" lIns="0" spcFirstLastPara="1" rIns="0" wrap="square" tIns="0">
            <a:noAutofit/>
          </a:bodyPr>
          <a:lstStyle/>
          <a:p>
            <a:pPr indent="0" lvl="0" marL="0" marR="0" rtl="0" algn="l">
              <a:lnSpc>
                <a:spcPct val="148368"/>
              </a:lnSpc>
              <a:spcBef>
                <a:spcPts val="0"/>
              </a:spcBef>
              <a:spcAft>
                <a:spcPts val="0"/>
              </a:spcAft>
              <a:buClr>
                <a:srgbClr val="E0E0E0"/>
              </a:buClr>
              <a:buSzPts val="674"/>
              <a:buFont typeface="Roboto"/>
              <a:buNone/>
            </a:pPr>
            <a:r>
              <a:rPr lang="en-US" sz="674">
                <a:solidFill>
                  <a:srgbClr val="E0E0E0"/>
                </a:solidFill>
                <a:latin typeface="Roboto"/>
                <a:ea typeface="Roboto"/>
                <a:cs typeface="Roboto"/>
                <a:sym typeface="Roboto"/>
              </a:rPr>
              <a:t>Provides acceptable performance while being extremely fast to prototype in and having a rich ecosystem.</a:t>
            </a:r>
            <a:endParaRPr b="0" i="0" sz="674" u="none" cap="none" strike="noStrike">
              <a:solidFill>
                <a:schemeClr val="dk1"/>
              </a:solidFill>
              <a:latin typeface="Calibri"/>
              <a:ea typeface="Calibri"/>
              <a:cs typeface="Calibri"/>
              <a:sym typeface="Calibri"/>
            </a:endParaRPr>
          </a:p>
        </p:txBody>
      </p:sp>
      <p:sp>
        <p:nvSpPr>
          <p:cNvPr id="260" name="Google Shape;260;p11"/>
          <p:cNvSpPr/>
          <p:nvPr/>
        </p:nvSpPr>
        <p:spPr>
          <a:xfrm>
            <a:off x="3343275"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3700463" y="1408212"/>
            <a:ext cx="11091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HTTPX</a:t>
            </a:r>
            <a:endParaRPr b="0" i="0" sz="727" u="none" cap="none" strike="noStrike">
              <a:solidFill>
                <a:schemeClr val="dk1"/>
              </a:solidFill>
              <a:latin typeface="Calibri"/>
              <a:ea typeface="Calibri"/>
              <a:cs typeface="Calibri"/>
              <a:sym typeface="Calibri"/>
            </a:endParaRPr>
          </a:p>
        </p:txBody>
      </p:sp>
      <p:sp>
        <p:nvSpPr>
          <p:cNvPr id="262" name="Google Shape;262;p11"/>
          <p:cNvSpPr/>
          <p:nvPr/>
        </p:nvSpPr>
        <p:spPr>
          <a:xfrm>
            <a:off x="3450431" y="1614488"/>
            <a:ext cx="2243100" cy="129900"/>
          </a:xfrm>
          <a:prstGeom prst="rect">
            <a:avLst/>
          </a:prstGeom>
          <a:noFill/>
          <a:ln>
            <a:noFill/>
          </a:ln>
        </p:spPr>
        <p:txBody>
          <a:bodyPr anchorCtr="0" anchor="t" bIns="0" lIns="0" spcFirstLastPara="1" rIns="0" wrap="square" tIns="0">
            <a:noAutofit/>
          </a:bodyPr>
          <a:lstStyle/>
          <a:p>
            <a:pPr indent="0" lvl="0" marL="0" marR="0" rtl="0" algn="l">
              <a:lnSpc>
                <a:spcPct val="148368"/>
              </a:lnSpc>
              <a:spcBef>
                <a:spcPts val="0"/>
              </a:spcBef>
              <a:spcAft>
                <a:spcPts val="0"/>
              </a:spcAft>
              <a:buClr>
                <a:srgbClr val="E0E0E0"/>
              </a:buClr>
              <a:buSzPts val="674"/>
              <a:buFont typeface="Roboto"/>
              <a:buNone/>
            </a:pPr>
            <a:r>
              <a:rPr lang="en-US" sz="674">
                <a:solidFill>
                  <a:srgbClr val="E0E0E0"/>
                </a:solidFill>
                <a:latin typeface="Roboto"/>
                <a:ea typeface="Roboto"/>
                <a:cs typeface="Roboto"/>
                <a:sym typeface="Roboto"/>
              </a:rPr>
              <a:t>Enables HTTP request support in order to interface with the sensors’ and actuators HTTP APIs.</a:t>
            </a:r>
            <a:endParaRPr b="0" i="0" sz="674" u="none" cap="none" strike="noStrike">
              <a:solidFill>
                <a:schemeClr val="dk1"/>
              </a:solidFill>
              <a:latin typeface="Calibri"/>
              <a:ea typeface="Calibri"/>
              <a:cs typeface="Calibri"/>
              <a:sym typeface="Calibri"/>
            </a:endParaRPr>
          </a:p>
        </p:txBody>
      </p:sp>
      <p:sp>
        <p:nvSpPr>
          <p:cNvPr id="263" name="Google Shape;263;p11"/>
          <p:cNvSpPr/>
          <p:nvPr/>
        </p:nvSpPr>
        <p:spPr>
          <a:xfrm>
            <a:off x="5943600"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6300810" y="1408200"/>
            <a:ext cx="15540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AMQ (STOMP, PROTON)</a:t>
            </a:r>
            <a:endParaRPr b="0" i="0" sz="727" u="none" cap="none" strike="noStrike">
              <a:solidFill>
                <a:schemeClr val="dk1"/>
              </a:solidFill>
              <a:latin typeface="Calibri"/>
              <a:ea typeface="Calibri"/>
              <a:cs typeface="Calibri"/>
              <a:sym typeface="Calibri"/>
            </a:endParaRPr>
          </a:p>
        </p:txBody>
      </p:sp>
      <p:sp>
        <p:nvSpPr>
          <p:cNvPr id="265" name="Google Shape;265;p11"/>
          <p:cNvSpPr/>
          <p:nvPr/>
        </p:nvSpPr>
        <p:spPr>
          <a:xfrm>
            <a:off x="6050756" y="1614488"/>
            <a:ext cx="2243100" cy="129900"/>
          </a:xfrm>
          <a:prstGeom prst="rect">
            <a:avLst/>
          </a:prstGeom>
          <a:noFill/>
          <a:ln>
            <a:noFill/>
          </a:ln>
        </p:spPr>
        <p:txBody>
          <a:bodyPr anchorCtr="0" anchor="t" bIns="0" lIns="0" spcFirstLastPara="1" rIns="0" wrap="square" tIns="0">
            <a:noAutofit/>
          </a:bodyPr>
          <a:lstStyle/>
          <a:p>
            <a:pPr indent="0" lvl="0" marL="0" marR="0" rtl="0" algn="l">
              <a:lnSpc>
                <a:spcPct val="148368"/>
              </a:lnSpc>
              <a:spcBef>
                <a:spcPts val="0"/>
              </a:spcBef>
              <a:spcAft>
                <a:spcPts val="0"/>
              </a:spcAft>
              <a:buClr>
                <a:srgbClr val="E0E0E0"/>
              </a:buClr>
              <a:buSzPts val="674"/>
              <a:buFont typeface="Roboto"/>
              <a:buNone/>
            </a:pPr>
            <a:r>
              <a:rPr lang="en-US" sz="674">
                <a:solidFill>
                  <a:srgbClr val="E0E0E0"/>
                </a:solidFill>
                <a:latin typeface="Roboto"/>
                <a:ea typeface="Roboto"/>
                <a:cs typeface="Roboto"/>
                <a:sym typeface="Roboto"/>
              </a:rPr>
              <a:t>Interacts with the message queues in order to exchange messages with every other part of the system.</a:t>
            </a:r>
            <a:endParaRPr b="0" i="0" sz="674"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pic>
        <p:nvPicPr>
          <p:cNvPr descr="preencoded.png" id="271" name="Google Shape;271;p12"/>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72" name="Google Shape;272;p12"/>
          <p:cNvSpPr/>
          <p:nvPr/>
        </p:nvSpPr>
        <p:spPr>
          <a:xfrm>
            <a:off x="6968728" y="214313"/>
            <a:ext cx="1889522"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SERVICE // CACHING</a:t>
            </a:r>
            <a:endParaRPr b="0" i="0" sz="621" u="none" cap="none" strike="noStrike">
              <a:solidFill>
                <a:schemeClr val="dk1"/>
              </a:solidFill>
              <a:latin typeface="Calibri"/>
              <a:ea typeface="Calibri"/>
              <a:cs typeface="Calibri"/>
              <a:sym typeface="Calibri"/>
            </a:endParaRPr>
          </a:p>
        </p:txBody>
      </p:sp>
      <p:sp>
        <p:nvSpPr>
          <p:cNvPr id="273" name="Google Shape;273;p12"/>
          <p:cNvSpPr/>
          <p:nvPr/>
        </p:nvSpPr>
        <p:spPr>
          <a:xfrm>
            <a:off x="457200" y="578644"/>
            <a:ext cx="8229600" cy="398621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2"/>
          <p:cNvSpPr/>
          <p:nvPr/>
        </p:nvSpPr>
        <p:spPr>
          <a:xfrm>
            <a:off x="742950" y="871538"/>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CACHING SERVICE</a:t>
            </a:r>
            <a:endParaRPr b="0" i="0" sz="1602" u="none" cap="none" strike="noStrike">
              <a:solidFill>
                <a:schemeClr val="dk1"/>
              </a:solidFill>
              <a:latin typeface="Calibri"/>
              <a:ea typeface="Calibri"/>
              <a:cs typeface="Calibri"/>
              <a:sym typeface="Calibri"/>
            </a:endParaRPr>
          </a:p>
        </p:txBody>
      </p:sp>
      <p:sp>
        <p:nvSpPr>
          <p:cNvPr id="275" name="Google Shape;275;p12"/>
          <p:cNvSpPr/>
          <p:nvPr/>
        </p:nvSpPr>
        <p:spPr>
          <a:xfrm>
            <a:off x="742950" y="1450181"/>
            <a:ext cx="3739753" cy="10001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6" name="Google Shape;276;p12"/>
          <p:cNvPicPr preferRelativeResize="0"/>
          <p:nvPr/>
        </p:nvPicPr>
        <p:blipFill rotWithShape="1">
          <a:blip r:embed="rId4">
            <a:alphaModFix/>
          </a:blip>
          <a:srcRect b="0" l="0" r="0" t="0"/>
          <a:stretch/>
        </p:blipFill>
        <p:spPr>
          <a:xfrm>
            <a:off x="885825" y="1593056"/>
            <a:ext cx="214313" cy="171450"/>
          </a:xfrm>
          <a:prstGeom prst="rect">
            <a:avLst/>
          </a:prstGeom>
          <a:noFill/>
          <a:ln>
            <a:noFill/>
          </a:ln>
        </p:spPr>
      </p:pic>
      <p:sp>
        <p:nvSpPr>
          <p:cNvPr id="277" name="Google Shape;277;p12"/>
          <p:cNvSpPr/>
          <p:nvPr/>
        </p:nvSpPr>
        <p:spPr>
          <a:xfrm>
            <a:off x="1207294" y="1598414"/>
            <a:ext cx="1618059"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IN-MEMORY STORAGE</a:t>
            </a:r>
            <a:endParaRPr b="0" i="0" sz="942" u="none" cap="none" strike="noStrike">
              <a:solidFill>
                <a:schemeClr val="dk1"/>
              </a:solidFill>
              <a:latin typeface="Calibri"/>
              <a:ea typeface="Calibri"/>
              <a:cs typeface="Calibri"/>
              <a:sym typeface="Calibri"/>
            </a:endParaRPr>
          </a:p>
        </p:txBody>
      </p:sp>
      <p:sp>
        <p:nvSpPr>
          <p:cNvPr id="278" name="Google Shape;278;p12"/>
          <p:cNvSpPr/>
          <p:nvPr/>
        </p:nvSpPr>
        <p:spPr>
          <a:xfrm>
            <a:off x="885825" y="1835944"/>
            <a:ext cx="3454003"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The Caching Service uses Redis to store the most recent state of all sensors and actuators.</a:t>
            </a:r>
            <a:endParaRPr b="0" i="0" sz="780" u="none" cap="none" strike="noStrike">
              <a:solidFill>
                <a:schemeClr val="dk1"/>
              </a:solidFill>
              <a:latin typeface="Calibri"/>
              <a:ea typeface="Calibri"/>
              <a:cs typeface="Calibri"/>
              <a:sym typeface="Calibri"/>
            </a:endParaRPr>
          </a:p>
        </p:txBody>
      </p:sp>
      <p:sp>
        <p:nvSpPr>
          <p:cNvPr id="279" name="Google Shape;279;p12"/>
          <p:cNvSpPr/>
          <p:nvPr/>
        </p:nvSpPr>
        <p:spPr>
          <a:xfrm>
            <a:off x="4661297" y="1450181"/>
            <a:ext cx="3739753" cy="10001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0" name="Google Shape;280;p12"/>
          <p:cNvPicPr preferRelativeResize="0"/>
          <p:nvPr/>
        </p:nvPicPr>
        <p:blipFill rotWithShape="1">
          <a:blip r:embed="rId5">
            <a:alphaModFix/>
          </a:blip>
          <a:srcRect b="0" l="0" r="0" t="0"/>
          <a:stretch/>
        </p:blipFill>
        <p:spPr>
          <a:xfrm>
            <a:off x="4804172" y="1593056"/>
            <a:ext cx="214313" cy="171450"/>
          </a:xfrm>
          <a:prstGeom prst="rect">
            <a:avLst/>
          </a:prstGeom>
          <a:noFill/>
          <a:ln>
            <a:noFill/>
          </a:ln>
        </p:spPr>
      </p:pic>
      <p:sp>
        <p:nvSpPr>
          <p:cNvPr id="281" name="Google Shape;281;p12"/>
          <p:cNvSpPr/>
          <p:nvPr/>
        </p:nvSpPr>
        <p:spPr>
          <a:xfrm>
            <a:off x="5125641" y="1598414"/>
            <a:ext cx="1114425"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LOW LATENCY</a:t>
            </a:r>
            <a:endParaRPr b="0" i="0" sz="942" u="none" cap="none" strike="noStrike">
              <a:solidFill>
                <a:schemeClr val="dk1"/>
              </a:solidFill>
              <a:latin typeface="Calibri"/>
              <a:ea typeface="Calibri"/>
              <a:cs typeface="Calibri"/>
              <a:sym typeface="Calibri"/>
            </a:endParaRPr>
          </a:p>
        </p:txBody>
      </p:sp>
      <p:sp>
        <p:nvSpPr>
          <p:cNvPr id="282" name="Google Shape;282;p12"/>
          <p:cNvSpPr/>
          <p:nvPr/>
        </p:nvSpPr>
        <p:spPr>
          <a:xfrm>
            <a:off x="4804172" y="1835944"/>
            <a:ext cx="3454003"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Provides sub-millisecond access to habitat telemetry for critical decision-making.</a:t>
            </a:r>
            <a:endParaRPr b="0" i="0" sz="780" u="none" cap="none" strike="noStrike">
              <a:solidFill>
                <a:schemeClr val="dk1"/>
              </a:solidFill>
              <a:latin typeface="Calibri"/>
              <a:ea typeface="Calibri"/>
              <a:cs typeface="Calibri"/>
              <a:sym typeface="Calibri"/>
            </a:endParaRPr>
          </a:p>
        </p:txBody>
      </p:sp>
      <p:sp>
        <p:nvSpPr>
          <p:cNvPr id="283" name="Google Shape;283;p12"/>
          <p:cNvSpPr/>
          <p:nvPr/>
        </p:nvSpPr>
        <p:spPr>
          <a:xfrm>
            <a:off x="742950" y="2628900"/>
            <a:ext cx="3739753" cy="10001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4" name="Google Shape;284;p12"/>
          <p:cNvPicPr preferRelativeResize="0"/>
          <p:nvPr/>
        </p:nvPicPr>
        <p:blipFill rotWithShape="1">
          <a:blip r:embed="rId6">
            <a:alphaModFix/>
          </a:blip>
          <a:srcRect b="0" l="0" r="0" t="0"/>
          <a:stretch/>
        </p:blipFill>
        <p:spPr>
          <a:xfrm>
            <a:off x="885825" y="2771775"/>
            <a:ext cx="214313" cy="171450"/>
          </a:xfrm>
          <a:prstGeom prst="rect">
            <a:avLst/>
          </a:prstGeom>
          <a:noFill/>
          <a:ln>
            <a:noFill/>
          </a:ln>
        </p:spPr>
      </p:pic>
      <p:sp>
        <p:nvSpPr>
          <p:cNvPr id="285" name="Google Shape;285;p12"/>
          <p:cNvSpPr/>
          <p:nvPr/>
        </p:nvSpPr>
        <p:spPr>
          <a:xfrm>
            <a:off x="1207294" y="2777133"/>
            <a:ext cx="1975247"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STATE SYNCHRONIZATION</a:t>
            </a:r>
            <a:endParaRPr b="0" i="0" sz="942" u="none" cap="none" strike="noStrike">
              <a:solidFill>
                <a:schemeClr val="dk1"/>
              </a:solidFill>
              <a:latin typeface="Calibri"/>
              <a:ea typeface="Calibri"/>
              <a:cs typeface="Calibri"/>
              <a:sym typeface="Calibri"/>
            </a:endParaRPr>
          </a:p>
        </p:txBody>
      </p:sp>
      <p:sp>
        <p:nvSpPr>
          <p:cNvPr id="286" name="Google Shape;286;p12"/>
          <p:cNvSpPr/>
          <p:nvPr/>
        </p:nvSpPr>
        <p:spPr>
          <a:xfrm>
            <a:off x="885825" y="3014663"/>
            <a:ext cx="3454003"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Ensures all microservices have a consistent view of the habitat's current status.</a:t>
            </a:r>
            <a:endParaRPr b="0" i="0" sz="780" u="none" cap="none" strike="noStrike">
              <a:solidFill>
                <a:schemeClr val="dk1"/>
              </a:solidFill>
              <a:latin typeface="Calibri"/>
              <a:ea typeface="Calibri"/>
              <a:cs typeface="Calibri"/>
              <a:sym typeface="Calibri"/>
            </a:endParaRPr>
          </a:p>
        </p:txBody>
      </p:sp>
      <p:sp>
        <p:nvSpPr>
          <p:cNvPr id="287" name="Google Shape;287;p12"/>
          <p:cNvSpPr/>
          <p:nvPr/>
        </p:nvSpPr>
        <p:spPr>
          <a:xfrm>
            <a:off x="4661297" y="2628900"/>
            <a:ext cx="3739753" cy="10001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8" name="Google Shape;288;p12"/>
          <p:cNvPicPr preferRelativeResize="0"/>
          <p:nvPr/>
        </p:nvPicPr>
        <p:blipFill rotWithShape="1">
          <a:blip r:embed="rId7">
            <a:alphaModFix/>
          </a:blip>
          <a:srcRect b="0" l="0" r="0" t="0"/>
          <a:stretch/>
        </p:blipFill>
        <p:spPr>
          <a:xfrm>
            <a:off x="4804172" y="2771775"/>
            <a:ext cx="214313" cy="171450"/>
          </a:xfrm>
          <a:prstGeom prst="rect">
            <a:avLst/>
          </a:prstGeom>
          <a:noFill/>
          <a:ln>
            <a:noFill/>
          </a:ln>
        </p:spPr>
      </p:pic>
      <p:sp>
        <p:nvSpPr>
          <p:cNvPr id="289" name="Google Shape;289;p12"/>
          <p:cNvSpPr/>
          <p:nvPr/>
        </p:nvSpPr>
        <p:spPr>
          <a:xfrm>
            <a:off x="5125641" y="2777133"/>
            <a:ext cx="1728788"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FF4500"/>
              </a:buClr>
              <a:buSzPts val="942"/>
              <a:buFont typeface="Orbitron"/>
              <a:buNone/>
            </a:pPr>
            <a:r>
              <a:rPr b="0" i="0" lang="en-US" sz="942" u="none" cap="none" strike="noStrike">
                <a:solidFill>
                  <a:srgbClr val="FF4500"/>
                </a:solidFill>
                <a:latin typeface="Orbitron"/>
                <a:ea typeface="Orbitron"/>
                <a:cs typeface="Orbitron"/>
                <a:sym typeface="Orbitron"/>
              </a:rPr>
              <a:t>DASHBOARD SUPPORT</a:t>
            </a:r>
            <a:endParaRPr b="0" i="0" sz="942" u="none" cap="none" strike="noStrike">
              <a:solidFill>
                <a:schemeClr val="dk1"/>
              </a:solidFill>
              <a:latin typeface="Calibri"/>
              <a:ea typeface="Calibri"/>
              <a:cs typeface="Calibri"/>
              <a:sym typeface="Calibri"/>
            </a:endParaRPr>
          </a:p>
        </p:txBody>
      </p:sp>
      <p:sp>
        <p:nvSpPr>
          <p:cNvPr id="290" name="Google Shape;290;p12"/>
          <p:cNvSpPr/>
          <p:nvPr/>
        </p:nvSpPr>
        <p:spPr>
          <a:xfrm>
            <a:off x="4804172" y="3014663"/>
            <a:ext cx="3454003"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Powers the real-time dashboard by providing the initial state on connection.</a:t>
            </a:r>
            <a:endParaRPr b="0" i="0" sz="780" u="none" cap="none" strike="noStrike">
              <a:solidFill>
                <a:schemeClr val="dk1"/>
              </a:solidFill>
              <a:latin typeface="Calibri"/>
              <a:ea typeface="Calibri"/>
              <a:cs typeface="Calibri"/>
              <a:sym typeface="Calibri"/>
            </a:endParaRPr>
          </a:p>
        </p:txBody>
      </p:sp>
      <p:sp>
        <p:nvSpPr>
          <p:cNvPr id="291" name="Google Shape;291;p12"/>
          <p:cNvSpPr/>
          <p:nvPr/>
        </p:nvSpPr>
        <p:spPr>
          <a:xfrm>
            <a:off x="742950" y="3843338"/>
            <a:ext cx="7658100" cy="714375"/>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2"/>
          <p:cNvSpPr/>
          <p:nvPr/>
        </p:nvSpPr>
        <p:spPr>
          <a:xfrm>
            <a:off x="885825" y="3986213"/>
            <a:ext cx="7372350"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FF4500"/>
              </a:buClr>
              <a:buSzPts val="834"/>
              <a:buFont typeface="Orbitron"/>
              <a:buNone/>
            </a:pPr>
            <a:r>
              <a:rPr b="0" i="0" lang="en-US" sz="834" u="none" cap="none" strike="noStrike">
                <a:solidFill>
                  <a:srgbClr val="FF4500"/>
                </a:solidFill>
                <a:latin typeface="Orbitron"/>
                <a:ea typeface="Orbitron"/>
                <a:cs typeface="Orbitron"/>
                <a:sym typeface="Orbitron"/>
              </a:rPr>
              <a:t>TECHNICAL NOTE</a:t>
            </a:r>
            <a:endParaRPr b="0" i="0" sz="834" u="none" cap="none" strike="noStrike">
              <a:solidFill>
                <a:schemeClr val="dk1"/>
              </a:solidFill>
              <a:latin typeface="Calibri"/>
              <a:ea typeface="Calibri"/>
              <a:cs typeface="Calibri"/>
              <a:sym typeface="Calibri"/>
            </a:endParaRPr>
          </a:p>
        </p:txBody>
      </p:sp>
      <p:sp>
        <p:nvSpPr>
          <p:cNvPr id="293" name="Google Shape;293;p12"/>
          <p:cNvSpPr/>
          <p:nvPr/>
        </p:nvSpPr>
        <p:spPr>
          <a:xfrm>
            <a:off x="885825" y="4202311"/>
            <a:ext cx="7372350" cy="321469"/>
          </a:xfrm>
          <a:prstGeom prst="rect">
            <a:avLst/>
          </a:prstGeom>
          <a:noFill/>
          <a:ln>
            <a:noFill/>
          </a:ln>
        </p:spPr>
        <p:txBody>
          <a:bodyPr anchorCtr="0" anchor="t" bIns="0" lIns="0" spcFirstLastPara="1" rIns="0" wrap="square" tIns="0">
            <a:noAutofit/>
          </a:bodyPr>
          <a:lstStyle/>
          <a:p>
            <a:pPr indent="0" lvl="0" marL="0" marR="0" rtl="0" algn="l">
              <a:lnSpc>
                <a:spcPct val="166666"/>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By decoupling state from the primary database, the Caching Service reduces load on persistent storage and ensures high availability of real-time data across the entire MarsOps ecosystem.</a:t>
            </a:r>
            <a:endParaRPr b="0" i="0" sz="78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pic>
        <p:nvPicPr>
          <p:cNvPr descr="preencoded.png" id="299" name="Google Shape;299;p1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00" name="Google Shape;300;p13"/>
          <p:cNvSpPr/>
          <p:nvPr/>
        </p:nvSpPr>
        <p:spPr>
          <a:xfrm>
            <a:off x="6470452" y="285750"/>
            <a:ext cx="23877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CONVERTER-SERVICE // V1.0</a:t>
            </a:r>
            <a:endParaRPr b="0" i="0" sz="621" u="none" cap="none" strike="noStrike">
              <a:solidFill>
                <a:schemeClr val="dk1"/>
              </a:solidFill>
              <a:latin typeface="Calibri"/>
              <a:ea typeface="Calibri"/>
              <a:cs typeface="Calibri"/>
              <a:sym typeface="Calibri"/>
            </a:endParaRPr>
          </a:p>
        </p:txBody>
      </p:sp>
      <p:sp>
        <p:nvSpPr>
          <p:cNvPr id="301" name="Google Shape;301;p13"/>
          <p:cNvSpPr/>
          <p:nvPr/>
        </p:nvSpPr>
        <p:spPr>
          <a:xfrm>
            <a:off x="457200" y="607219"/>
            <a:ext cx="8229600" cy="39291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3"/>
          <p:cNvSpPr/>
          <p:nvPr/>
        </p:nvSpPr>
        <p:spPr>
          <a:xfrm>
            <a:off x="814388" y="964406"/>
            <a:ext cx="7515300" cy="40020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CACHE</a:t>
            </a:r>
            <a:r>
              <a:rPr b="1" lang="en-US" sz="1602">
                <a:solidFill>
                  <a:srgbClr val="FF4500"/>
                </a:solidFill>
                <a:latin typeface="Orbitron"/>
                <a:ea typeface="Orbitron"/>
                <a:cs typeface="Orbitron"/>
                <a:sym typeface="Orbitron"/>
              </a:rPr>
              <a:t> </a:t>
            </a:r>
            <a:r>
              <a:rPr b="1" i="0" lang="en-US" sz="1602" u="none" cap="none" strike="noStrike">
                <a:solidFill>
                  <a:srgbClr val="FF4500"/>
                </a:solidFill>
                <a:latin typeface="Orbitron"/>
                <a:ea typeface="Orbitron"/>
                <a:cs typeface="Orbitron"/>
                <a:sym typeface="Orbitron"/>
              </a:rPr>
              <a:t>SERVICE</a:t>
            </a:r>
            <a:endParaRPr b="0" i="0" sz="1602" u="none" cap="none" strike="noStrike">
              <a:solidFill>
                <a:schemeClr val="dk1"/>
              </a:solidFill>
              <a:latin typeface="Calibri"/>
              <a:ea typeface="Calibri"/>
              <a:cs typeface="Calibri"/>
              <a:sym typeface="Calibri"/>
            </a:endParaRPr>
          </a:p>
        </p:txBody>
      </p:sp>
      <p:sp>
        <p:nvSpPr>
          <p:cNvPr id="303" name="Google Shape;303;p13"/>
          <p:cNvSpPr/>
          <p:nvPr/>
        </p:nvSpPr>
        <p:spPr>
          <a:xfrm>
            <a:off x="814325" y="1605550"/>
            <a:ext cx="6744600" cy="205800"/>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The cache service ensures that upon outages of the converter service, or whenever other microservices restart, they can</a:t>
            </a:r>
            <a:endParaRPr b="0" i="0" sz="942" u="none" cap="none" strike="noStrike">
              <a:solidFill>
                <a:schemeClr val="dk1"/>
              </a:solidFill>
              <a:latin typeface="Calibri"/>
              <a:ea typeface="Calibri"/>
              <a:cs typeface="Calibri"/>
              <a:sym typeface="Calibri"/>
            </a:endParaRPr>
          </a:p>
        </p:txBody>
      </p:sp>
      <p:sp>
        <p:nvSpPr>
          <p:cNvPr id="304" name="Google Shape;304;p13"/>
          <p:cNvSpPr/>
          <p:nvPr/>
        </p:nvSpPr>
        <p:spPr>
          <a:xfrm>
            <a:off x="814400" y="1804334"/>
            <a:ext cx="6744600" cy="5736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immediately query the system’s current state without waiting for update messages to appear on the internal event queue. It does so by using Redis as an in-memory “ephemeral” cache, that however can still immediately provide the needed data.</a:t>
            </a:r>
            <a:endParaRPr sz="942">
              <a:solidFill>
                <a:srgbClr val="E0E0E0"/>
              </a:solidFill>
              <a:latin typeface="Roboto"/>
              <a:ea typeface="Roboto"/>
              <a:cs typeface="Roboto"/>
              <a:sym typeface="Roboto"/>
            </a:endParaRPr>
          </a:p>
        </p:txBody>
      </p:sp>
      <p:sp>
        <p:nvSpPr>
          <p:cNvPr id="305" name="Google Shape;305;p13"/>
          <p:cNvSpPr/>
          <p:nvPr/>
        </p:nvSpPr>
        <p:spPr>
          <a:xfrm>
            <a:off x="814325" y="2629900"/>
            <a:ext cx="6744600" cy="1398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This powers several parts of the system: for example, whenever the frontend connects for live updates, an initial batch of</a:t>
            </a:r>
            <a:endParaRPr b="0" i="0" sz="942" u="none" cap="none" strike="noStrike">
              <a:solidFill>
                <a:schemeClr val="dk1"/>
              </a:solidFill>
              <a:latin typeface="Calibri"/>
              <a:ea typeface="Calibri"/>
              <a:cs typeface="Calibri"/>
              <a:sym typeface="Calibri"/>
            </a:endParaRPr>
          </a:p>
        </p:txBody>
      </p:sp>
      <p:sp>
        <p:nvSpPr>
          <p:cNvPr id="306" name="Google Shape;306;p13"/>
          <p:cNvSpPr/>
          <p:nvPr/>
        </p:nvSpPr>
        <p:spPr>
          <a:xfrm>
            <a:off x="814400" y="2814801"/>
            <a:ext cx="6744600" cy="794700"/>
          </a:xfrm>
          <a:prstGeom prst="rect">
            <a:avLst/>
          </a:prstGeom>
          <a:noFill/>
          <a:ln>
            <a:noFill/>
          </a:ln>
        </p:spPr>
        <p:txBody>
          <a:bodyPr anchorCtr="0" anchor="t" bIns="0" lIns="0" spcFirstLastPara="1" rIns="0" wrap="square" tIns="0">
            <a:noAutofit/>
          </a:bodyPr>
          <a:lstStyle/>
          <a:p>
            <a:pPr indent="0" lvl="0" marL="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synthesized updates is immediately sent to notify it of the state that it should display, in order to never display an empty dashboard. Analogously, when the automation rules service starts, it can fetch the current state for all sensors and actuators so that it can know which rules to skip as they have already run.</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pic>
        <p:nvPicPr>
          <p:cNvPr descr="preencoded.png" id="312" name="Google Shape;312;p1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13" name="Google Shape;313;p14"/>
          <p:cNvSpPr/>
          <p:nvPr/>
        </p:nvSpPr>
        <p:spPr>
          <a:xfrm>
            <a:off x="6606183" y="214313"/>
            <a:ext cx="22521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TECH_STACK // REL_3.3.2</a:t>
            </a:r>
            <a:endParaRPr b="0" i="0" sz="621" u="none" cap="none" strike="noStrike">
              <a:solidFill>
                <a:schemeClr val="dk1"/>
              </a:solidFill>
              <a:latin typeface="Calibri"/>
              <a:ea typeface="Calibri"/>
              <a:cs typeface="Calibri"/>
              <a:sym typeface="Calibri"/>
            </a:endParaRPr>
          </a:p>
        </p:txBody>
      </p:sp>
      <p:sp>
        <p:nvSpPr>
          <p:cNvPr id="314" name="Google Shape;314;p14"/>
          <p:cNvSpPr/>
          <p:nvPr/>
        </p:nvSpPr>
        <p:spPr>
          <a:xfrm>
            <a:off x="457200" y="428625"/>
            <a:ext cx="8229600" cy="4286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742950" y="714375"/>
            <a:ext cx="7658100" cy="364200"/>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CACHE</a:t>
            </a:r>
            <a:r>
              <a:rPr b="1" lang="en-US" sz="1602">
                <a:solidFill>
                  <a:srgbClr val="FF4500"/>
                </a:solidFill>
                <a:latin typeface="Orbitron"/>
                <a:ea typeface="Orbitron"/>
                <a:cs typeface="Orbitron"/>
                <a:sym typeface="Orbitron"/>
              </a:rPr>
              <a:t> SERVICE - </a:t>
            </a:r>
            <a:r>
              <a:rPr b="1" i="0" lang="en-US" sz="1602" u="none" cap="none" strike="noStrike">
                <a:solidFill>
                  <a:srgbClr val="FF4500"/>
                </a:solidFill>
                <a:latin typeface="Orbitron"/>
                <a:ea typeface="Orbitron"/>
                <a:cs typeface="Orbitron"/>
                <a:sym typeface="Orbitron"/>
              </a:rPr>
              <a:t>TECHNOLOGY STACK</a:t>
            </a:r>
            <a:endParaRPr b="0" i="0" sz="1602" u="none" cap="none" strike="noStrike">
              <a:solidFill>
                <a:schemeClr val="dk1"/>
              </a:solidFill>
              <a:latin typeface="Calibri"/>
              <a:ea typeface="Calibri"/>
              <a:cs typeface="Calibri"/>
              <a:sym typeface="Calibri"/>
            </a:endParaRPr>
          </a:p>
        </p:txBody>
      </p:sp>
      <p:sp>
        <p:nvSpPr>
          <p:cNvPr id="316" name="Google Shape;316;p14"/>
          <p:cNvSpPr/>
          <p:nvPr/>
        </p:nvSpPr>
        <p:spPr>
          <a:xfrm>
            <a:off x="742950"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7" name="Google Shape;317;p14"/>
          <p:cNvPicPr preferRelativeResize="0"/>
          <p:nvPr/>
        </p:nvPicPr>
        <p:blipFill rotWithShape="1">
          <a:blip r:embed="rId4">
            <a:alphaModFix/>
          </a:blip>
          <a:srcRect b="0" l="0" r="0" t="0"/>
          <a:stretch/>
        </p:blipFill>
        <p:spPr>
          <a:xfrm>
            <a:off x="850106" y="1400175"/>
            <a:ext cx="178594" cy="142875"/>
          </a:xfrm>
          <a:prstGeom prst="rect">
            <a:avLst/>
          </a:prstGeom>
          <a:noFill/>
          <a:ln>
            <a:noFill/>
          </a:ln>
        </p:spPr>
      </p:pic>
      <p:sp>
        <p:nvSpPr>
          <p:cNvPr id="318" name="Google Shape;318;p14"/>
          <p:cNvSpPr/>
          <p:nvPr/>
        </p:nvSpPr>
        <p:spPr>
          <a:xfrm>
            <a:off x="1100138" y="1408212"/>
            <a:ext cx="11019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PYTHON 3</a:t>
            </a:r>
            <a:endParaRPr b="0" i="0" sz="727" u="none" cap="none" strike="noStrike">
              <a:solidFill>
                <a:schemeClr val="dk1"/>
              </a:solidFill>
              <a:latin typeface="Calibri"/>
              <a:ea typeface="Calibri"/>
              <a:cs typeface="Calibri"/>
              <a:sym typeface="Calibri"/>
            </a:endParaRPr>
          </a:p>
        </p:txBody>
      </p:sp>
      <p:sp>
        <p:nvSpPr>
          <p:cNvPr id="319" name="Google Shape;319;p14"/>
          <p:cNvSpPr/>
          <p:nvPr/>
        </p:nvSpPr>
        <p:spPr>
          <a:xfrm>
            <a:off x="3343275"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4"/>
          <p:cNvSpPr/>
          <p:nvPr/>
        </p:nvSpPr>
        <p:spPr>
          <a:xfrm>
            <a:off x="3700463" y="1408212"/>
            <a:ext cx="11091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FASTAPI</a:t>
            </a:r>
            <a:endParaRPr b="0" i="0" sz="727" u="none" cap="none" strike="noStrike">
              <a:solidFill>
                <a:schemeClr val="dk1"/>
              </a:solidFill>
              <a:latin typeface="Calibri"/>
              <a:ea typeface="Calibri"/>
              <a:cs typeface="Calibri"/>
              <a:sym typeface="Calibri"/>
            </a:endParaRPr>
          </a:p>
        </p:txBody>
      </p:sp>
      <p:sp>
        <p:nvSpPr>
          <p:cNvPr id="321" name="Google Shape;321;p14"/>
          <p:cNvSpPr/>
          <p:nvPr/>
        </p:nvSpPr>
        <p:spPr>
          <a:xfrm>
            <a:off x="3450431" y="1614488"/>
            <a:ext cx="2243100" cy="129900"/>
          </a:xfrm>
          <a:prstGeom prst="rect">
            <a:avLst/>
          </a:prstGeom>
          <a:noFill/>
          <a:ln>
            <a:noFill/>
          </a:ln>
        </p:spPr>
        <p:txBody>
          <a:bodyPr anchorCtr="0" anchor="t" bIns="0" lIns="0" spcFirstLastPara="1" rIns="0" wrap="square" tIns="0">
            <a:noAutofit/>
          </a:bodyPr>
          <a:lstStyle/>
          <a:p>
            <a:pPr indent="0" lvl="0" marL="0" marR="0" rtl="0" algn="l">
              <a:lnSpc>
                <a:spcPct val="148368"/>
              </a:lnSpc>
              <a:spcBef>
                <a:spcPts val="0"/>
              </a:spcBef>
              <a:spcAft>
                <a:spcPts val="0"/>
              </a:spcAft>
              <a:buClr>
                <a:srgbClr val="E0E0E0"/>
              </a:buClr>
              <a:buSzPts val="674"/>
              <a:buFont typeface="Roboto"/>
              <a:buNone/>
            </a:pPr>
            <a:r>
              <a:rPr lang="en-US" sz="674">
                <a:solidFill>
                  <a:srgbClr val="E0E0E0"/>
                </a:solidFill>
                <a:latin typeface="Roboto"/>
                <a:ea typeface="Roboto"/>
                <a:cs typeface="Roboto"/>
                <a:sym typeface="Roboto"/>
              </a:rPr>
              <a:t>Provides built-in support for OpenAPI and Swagger documentation, as well as enabling fast API prototyping.</a:t>
            </a:r>
            <a:endParaRPr b="0" i="0" sz="674" u="none" cap="none" strike="noStrike">
              <a:solidFill>
                <a:schemeClr val="dk1"/>
              </a:solidFill>
              <a:latin typeface="Calibri"/>
              <a:ea typeface="Calibri"/>
              <a:cs typeface="Calibri"/>
              <a:sym typeface="Calibri"/>
            </a:endParaRPr>
          </a:p>
        </p:txBody>
      </p:sp>
      <p:sp>
        <p:nvSpPr>
          <p:cNvPr id="322" name="Google Shape;322;p14"/>
          <p:cNvSpPr/>
          <p:nvPr/>
        </p:nvSpPr>
        <p:spPr>
          <a:xfrm>
            <a:off x="5943600"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6300788" y="1408212"/>
            <a:ext cx="8430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REDIS</a:t>
            </a:r>
            <a:endParaRPr b="0" i="0" sz="727" u="none" cap="none" strike="noStrike">
              <a:solidFill>
                <a:schemeClr val="dk1"/>
              </a:solidFill>
              <a:latin typeface="Calibri"/>
              <a:ea typeface="Calibri"/>
              <a:cs typeface="Calibri"/>
              <a:sym typeface="Calibri"/>
            </a:endParaRPr>
          </a:p>
        </p:txBody>
      </p:sp>
      <p:sp>
        <p:nvSpPr>
          <p:cNvPr id="324" name="Google Shape;324;p14"/>
          <p:cNvSpPr/>
          <p:nvPr/>
        </p:nvSpPr>
        <p:spPr>
          <a:xfrm>
            <a:off x="6050756" y="1614488"/>
            <a:ext cx="2243100" cy="129900"/>
          </a:xfrm>
          <a:prstGeom prst="rect">
            <a:avLst/>
          </a:prstGeom>
          <a:noFill/>
          <a:ln>
            <a:noFill/>
          </a:ln>
        </p:spPr>
        <p:txBody>
          <a:bodyPr anchorCtr="0" anchor="t" bIns="0" lIns="0" spcFirstLastPara="1" rIns="0" wrap="square" tIns="0">
            <a:noAutofit/>
          </a:bodyPr>
          <a:lstStyle/>
          <a:p>
            <a:pPr indent="0" lvl="0" marL="0" marR="0" rtl="0" algn="l">
              <a:lnSpc>
                <a:spcPct val="148368"/>
              </a:lnSpc>
              <a:spcBef>
                <a:spcPts val="0"/>
              </a:spcBef>
              <a:spcAft>
                <a:spcPts val="0"/>
              </a:spcAft>
              <a:buClr>
                <a:srgbClr val="E0E0E0"/>
              </a:buClr>
              <a:buSzPts val="674"/>
              <a:buFont typeface="Roboto"/>
              <a:buNone/>
            </a:pPr>
            <a:r>
              <a:rPr lang="en-US" sz="674">
                <a:solidFill>
                  <a:srgbClr val="E0E0E0"/>
                </a:solidFill>
                <a:latin typeface="Roboto"/>
                <a:ea typeface="Roboto"/>
                <a:cs typeface="Roboto"/>
                <a:sym typeface="Roboto"/>
              </a:rPr>
              <a:t>Provides the in-memory cache that powers the service.</a:t>
            </a:r>
            <a:endParaRPr b="0" i="0" sz="674" u="none" cap="none" strike="noStrike">
              <a:solidFill>
                <a:schemeClr val="dk1"/>
              </a:solidFill>
              <a:latin typeface="Calibri"/>
              <a:ea typeface="Calibri"/>
              <a:cs typeface="Calibri"/>
              <a:sym typeface="Calibri"/>
            </a:endParaRPr>
          </a:p>
        </p:txBody>
      </p:sp>
      <p:pic>
        <p:nvPicPr>
          <p:cNvPr descr="preencoded.png" id="325" name="Google Shape;325;p14"/>
          <p:cNvPicPr preferRelativeResize="0"/>
          <p:nvPr/>
        </p:nvPicPr>
        <p:blipFill rotWithShape="1">
          <a:blip r:embed="rId5">
            <a:alphaModFix/>
          </a:blip>
          <a:srcRect b="0" l="0" r="0" t="0"/>
          <a:stretch/>
        </p:blipFill>
        <p:spPr>
          <a:xfrm>
            <a:off x="6050756" y="1400175"/>
            <a:ext cx="178594" cy="1428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pic>
        <p:nvPicPr>
          <p:cNvPr descr="preencoded.png" id="331" name="Google Shape;331;p1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32" name="Google Shape;332;p15"/>
          <p:cNvSpPr/>
          <p:nvPr/>
        </p:nvSpPr>
        <p:spPr>
          <a:xfrm>
            <a:off x="6470452" y="285750"/>
            <a:ext cx="23877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CONVERTER-SERVICE // V1.0</a:t>
            </a:r>
            <a:endParaRPr b="0" i="0" sz="621" u="none" cap="none" strike="noStrike">
              <a:solidFill>
                <a:schemeClr val="dk1"/>
              </a:solidFill>
              <a:latin typeface="Calibri"/>
              <a:ea typeface="Calibri"/>
              <a:cs typeface="Calibri"/>
              <a:sym typeface="Calibri"/>
            </a:endParaRPr>
          </a:p>
        </p:txBody>
      </p:sp>
      <p:sp>
        <p:nvSpPr>
          <p:cNvPr id="333" name="Google Shape;333;p15"/>
          <p:cNvSpPr/>
          <p:nvPr/>
        </p:nvSpPr>
        <p:spPr>
          <a:xfrm>
            <a:off x="457200" y="607219"/>
            <a:ext cx="8229600" cy="39291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5"/>
          <p:cNvSpPr/>
          <p:nvPr/>
        </p:nvSpPr>
        <p:spPr>
          <a:xfrm>
            <a:off x="814388" y="964406"/>
            <a:ext cx="7515300" cy="40020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METRICS SERVICE</a:t>
            </a:r>
            <a:endParaRPr b="0" i="0" sz="1602" u="none" cap="none" strike="noStrike">
              <a:solidFill>
                <a:schemeClr val="dk1"/>
              </a:solidFill>
              <a:latin typeface="Calibri"/>
              <a:ea typeface="Calibri"/>
              <a:cs typeface="Calibri"/>
              <a:sym typeface="Calibri"/>
            </a:endParaRPr>
          </a:p>
        </p:txBody>
      </p:sp>
      <p:sp>
        <p:nvSpPr>
          <p:cNvPr id="335" name="Google Shape;335;p15"/>
          <p:cNvSpPr/>
          <p:nvPr/>
        </p:nvSpPr>
        <p:spPr>
          <a:xfrm>
            <a:off x="814325" y="1605550"/>
            <a:ext cx="6744600" cy="205800"/>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The metrics service acts as middleware between the backend’s internal event queues and cache and a user or frontend that</a:t>
            </a:r>
            <a:endParaRPr b="0" i="0" sz="942" u="none" cap="none" strike="noStrike">
              <a:solidFill>
                <a:schemeClr val="dk1"/>
              </a:solidFill>
              <a:latin typeface="Calibri"/>
              <a:ea typeface="Calibri"/>
              <a:cs typeface="Calibri"/>
              <a:sym typeface="Calibri"/>
            </a:endParaRPr>
          </a:p>
        </p:txBody>
      </p:sp>
      <p:sp>
        <p:nvSpPr>
          <p:cNvPr id="336" name="Google Shape;336;p15"/>
          <p:cNvSpPr/>
          <p:nvPr/>
        </p:nvSpPr>
        <p:spPr>
          <a:xfrm>
            <a:off x="814400" y="1804334"/>
            <a:ext cx="6744600" cy="5736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might just want to receive live updates over more standard web browser protocols. For this reason, it exposes WebSockets for both general updates, spanning all metrics, and more granular updates, for specific metric “group”, in order to avoid overloading a client with information that it doesn’t care about.</a:t>
            </a:r>
            <a:endParaRPr sz="942">
              <a:solidFill>
                <a:srgbClr val="E0E0E0"/>
              </a:solidFill>
              <a:latin typeface="Roboto"/>
              <a:ea typeface="Roboto"/>
              <a:cs typeface="Roboto"/>
              <a:sym typeface="Roboto"/>
            </a:endParaRPr>
          </a:p>
        </p:txBody>
      </p:sp>
      <p:sp>
        <p:nvSpPr>
          <p:cNvPr id="337" name="Google Shape;337;p15"/>
          <p:cNvSpPr/>
          <p:nvPr/>
        </p:nvSpPr>
        <p:spPr>
          <a:xfrm>
            <a:off x="814325" y="2553700"/>
            <a:ext cx="6744600" cy="1398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As described in the previous slides, when a WebSocket is opened it first sends to it the </a:t>
            </a:r>
            <a:r>
              <a:rPr lang="en-US" sz="942">
                <a:solidFill>
                  <a:srgbClr val="E0E0E0"/>
                </a:solidFill>
                <a:latin typeface="Roboto"/>
                <a:ea typeface="Roboto"/>
                <a:cs typeface="Roboto"/>
                <a:sym typeface="Roboto"/>
              </a:rPr>
              <a:t>currently cached state. This ensures that as soon as clients request data, they receive a valid copy of it to display, while still getting live updates later.</a:t>
            </a:r>
            <a:endParaRPr b="0" i="0" sz="942" u="none" cap="none" strike="noStrike">
              <a:solidFill>
                <a:schemeClr val="dk1"/>
              </a:solidFill>
              <a:latin typeface="Calibri"/>
              <a:ea typeface="Calibri"/>
              <a:cs typeface="Calibri"/>
              <a:sym typeface="Calibri"/>
            </a:endParaRPr>
          </a:p>
        </p:txBody>
      </p:sp>
      <p:sp>
        <p:nvSpPr>
          <p:cNvPr id="338" name="Google Shape;338;p15"/>
          <p:cNvSpPr/>
          <p:nvPr/>
        </p:nvSpPr>
        <p:spPr>
          <a:xfrm>
            <a:off x="814325" y="3126850"/>
            <a:ext cx="6744600" cy="4002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Additionally, it enables discovery of all available metrics and their names and info by the frontend, making sure that it doesn’t have to hardcode almost anything.</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pic>
        <p:nvPicPr>
          <p:cNvPr descr="preencoded.png" id="344" name="Google Shape;344;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45" name="Google Shape;345;p16"/>
          <p:cNvSpPr/>
          <p:nvPr/>
        </p:nvSpPr>
        <p:spPr>
          <a:xfrm>
            <a:off x="6850856" y="214313"/>
            <a:ext cx="2007394"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SERVICE // ACTUATOR</a:t>
            </a:r>
            <a:endParaRPr b="0" i="0" sz="621" u="none" cap="none" strike="noStrike">
              <a:solidFill>
                <a:schemeClr val="dk1"/>
              </a:solidFill>
              <a:latin typeface="Calibri"/>
              <a:ea typeface="Calibri"/>
              <a:cs typeface="Calibri"/>
              <a:sym typeface="Calibri"/>
            </a:endParaRPr>
          </a:p>
        </p:txBody>
      </p:sp>
      <p:sp>
        <p:nvSpPr>
          <p:cNvPr id="346" name="Google Shape;346;p16"/>
          <p:cNvSpPr/>
          <p:nvPr/>
        </p:nvSpPr>
        <p:spPr>
          <a:xfrm>
            <a:off x="457200" y="428625"/>
            <a:ext cx="8229600" cy="428625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6"/>
          <p:cNvSpPr/>
          <p:nvPr/>
        </p:nvSpPr>
        <p:spPr>
          <a:xfrm>
            <a:off x="742950" y="714375"/>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ACTUATOR SERVICE</a:t>
            </a:r>
            <a:endParaRPr b="0" i="0" sz="1602" u="none" cap="none" strike="noStrike">
              <a:solidFill>
                <a:schemeClr val="dk1"/>
              </a:solidFill>
              <a:latin typeface="Calibri"/>
              <a:ea typeface="Calibri"/>
              <a:cs typeface="Calibri"/>
              <a:sym typeface="Calibri"/>
            </a:endParaRPr>
          </a:p>
        </p:txBody>
      </p:sp>
      <p:sp>
        <p:nvSpPr>
          <p:cNvPr id="348" name="Google Shape;348;p16"/>
          <p:cNvSpPr/>
          <p:nvPr/>
        </p:nvSpPr>
        <p:spPr>
          <a:xfrm>
            <a:off x="742950" y="1257300"/>
            <a:ext cx="7658100" cy="571500"/>
          </a:xfrm>
          <a:prstGeom prst="rect">
            <a:avLst/>
          </a:prstGeom>
          <a:solidFill>
            <a:srgbClr val="00FFFF">
              <a:alpha val="313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6"/>
          <p:cNvSpPr/>
          <p:nvPr/>
        </p:nvSpPr>
        <p:spPr>
          <a:xfrm>
            <a:off x="742950" y="1257300"/>
            <a:ext cx="21431" cy="5715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50" name="Google Shape;350;p16"/>
          <p:cNvPicPr preferRelativeResize="0"/>
          <p:nvPr/>
        </p:nvPicPr>
        <p:blipFill rotWithShape="1">
          <a:blip r:embed="rId4">
            <a:alphaModFix/>
          </a:blip>
          <a:srcRect b="0" l="0" r="0" t="0"/>
          <a:stretch/>
        </p:blipFill>
        <p:spPr>
          <a:xfrm>
            <a:off x="850106" y="1364456"/>
            <a:ext cx="178594" cy="35719"/>
          </a:xfrm>
          <a:prstGeom prst="rect">
            <a:avLst/>
          </a:prstGeom>
          <a:noFill/>
          <a:ln>
            <a:noFill/>
          </a:ln>
        </p:spPr>
      </p:pic>
      <p:sp>
        <p:nvSpPr>
          <p:cNvPr id="351" name="Google Shape;351;p16"/>
          <p:cNvSpPr/>
          <p:nvPr/>
        </p:nvSpPr>
        <p:spPr>
          <a:xfrm>
            <a:off x="1171575" y="1364456"/>
            <a:ext cx="5207794"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FUNCTION</a:t>
            </a:r>
            <a:endParaRPr b="0" i="0" sz="727" u="none" cap="none" strike="noStrike">
              <a:solidFill>
                <a:schemeClr val="dk1"/>
              </a:solidFill>
              <a:latin typeface="Calibri"/>
              <a:ea typeface="Calibri"/>
              <a:cs typeface="Calibri"/>
              <a:sym typeface="Calibri"/>
            </a:endParaRPr>
          </a:p>
        </p:txBody>
      </p:sp>
      <p:sp>
        <p:nvSpPr>
          <p:cNvPr id="352" name="Google Shape;352;p16"/>
          <p:cNvSpPr/>
          <p:nvPr/>
        </p:nvSpPr>
        <p:spPr>
          <a:xfrm>
            <a:off x="1171575" y="1526977"/>
            <a:ext cx="5207794" cy="140001"/>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Acts as the "bridge" between the Automation Engine (logic provider) and the physical actuators of the Martian habitat.</a:t>
            </a:r>
            <a:endParaRPr b="0" i="0" sz="727" u="none" cap="none" strike="noStrike">
              <a:solidFill>
                <a:schemeClr val="dk1"/>
              </a:solidFill>
              <a:latin typeface="Calibri"/>
              <a:ea typeface="Calibri"/>
              <a:cs typeface="Calibri"/>
              <a:sym typeface="Calibri"/>
            </a:endParaRPr>
          </a:p>
        </p:txBody>
      </p:sp>
      <p:sp>
        <p:nvSpPr>
          <p:cNvPr id="353" name="Google Shape;353;p16"/>
          <p:cNvSpPr/>
          <p:nvPr/>
        </p:nvSpPr>
        <p:spPr>
          <a:xfrm>
            <a:off x="742950" y="1935956"/>
            <a:ext cx="7658100" cy="571500"/>
          </a:xfrm>
          <a:prstGeom prst="rect">
            <a:avLst/>
          </a:prstGeom>
          <a:solidFill>
            <a:srgbClr val="00FFFF">
              <a:alpha val="313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6"/>
          <p:cNvSpPr/>
          <p:nvPr/>
        </p:nvSpPr>
        <p:spPr>
          <a:xfrm>
            <a:off x="742950" y="1935956"/>
            <a:ext cx="21431" cy="5715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55" name="Google Shape;355;p16"/>
          <p:cNvPicPr preferRelativeResize="0"/>
          <p:nvPr/>
        </p:nvPicPr>
        <p:blipFill rotWithShape="1">
          <a:blip r:embed="rId5">
            <a:alphaModFix/>
          </a:blip>
          <a:srcRect b="0" l="0" r="0" t="0"/>
          <a:stretch/>
        </p:blipFill>
        <p:spPr>
          <a:xfrm>
            <a:off x="850106" y="2043113"/>
            <a:ext cx="178594" cy="178594"/>
          </a:xfrm>
          <a:prstGeom prst="rect">
            <a:avLst/>
          </a:prstGeom>
          <a:noFill/>
          <a:ln>
            <a:noFill/>
          </a:ln>
        </p:spPr>
      </p:pic>
      <p:sp>
        <p:nvSpPr>
          <p:cNvPr id="356" name="Google Shape;356;p16"/>
          <p:cNvSpPr/>
          <p:nvPr/>
        </p:nvSpPr>
        <p:spPr>
          <a:xfrm>
            <a:off x="1171575" y="2043113"/>
            <a:ext cx="3961209"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SUBSCRIPTION</a:t>
            </a:r>
            <a:endParaRPr b="0" i="0" sz="727" u="none" cap="none" strike="noStrike">
              <a:solidFill>
                <a:schemeClr val="dk1"/>
              </a:solidFill>
              <a:latin typeface="Calibri"/>
              <a:ea typeface="Calibri"/>
              <a:cs typeface="Calibri"/>
              <a:sym typeface="Calibri"/>
            </a:endParaRPr>
          </a:p>
        </p:txBody>
      </p:sp>
      <p:sp>
        <p:nvSpPr>
          <p:cNvPr id="357" name="Google Shape;357;p16"/>
          <p:cNvSpPr/>
          <p:nvPr/>
        </p:nvSpPr>
        <p:spPr>
          <a:xfrm>
            <a:off x="1171575" y="2205633"/>
            <a:ext cx="3961209" cy="140001"/>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Listens to the dedicated command topic (multicast/ </a:t>
            </a:r>
            <a:r>
              <a:rPr b="0" i="0" lang="en-US" sz="727" u="none" cap="none" strike="noStrike">
                <a:solidFill>
                  <a:srgbClr val="00FFFF"/>
                </a:solidFill>
                <a:latin typeface="Roboto"/>
                <a:ea typeface="Roboto"/>
                <a:cs typeface="Roboto"/>
                <a:sym typeface="Roboto"/>
              </a:rPr>
              <a:t>actuator.commands</a:t>
            </a:r>
            <a:r>
              <a:rPr b="0" i="0" lang="en-US" sz="727" u="none" cap="none" strike="noStrike">
                <a:solidFill>
                  <a:srgbClr val="E0E0E0"/>
                </a:solidFill>
                <a:latin typeface="Roboto"/>
                <a:ea typeface="Roboto"/>
                <a:cs typeface="Roboto"/>
                <a:sym typeface="Roboto"/>
              </a:rPr>
              <a:t>) on AMQ/Kafka.</a:t>
            </a:r>
            <a:endParaRPr b="0" i="0" sz="727" u="none" cap="none" strike="noStrike">
              <a:solidFill>
                <a:schemeClr val="dk1"/>
              </a:solidFill>
              <a:latin typeface="Calibri"/>
              <a:ea typeface="Calibri"/>
              <a:cs typeface="Calibri"/>
              <a:sym typeface="Calibri"/>
            </a:endParaRPr>
          </a:p>
        </p:txBody>
      </p:sp>
      <p:sp>
        <p:nvSpPr>
          <p:cNvPr id="358" name="Google Shape;358;p16"/>
          <p:cNvSpPr/>
          <p:nvPr/>
        </p:nvSpPr>
        <p:spPr>
          <a:xfrm>
            <a:off x="742950" y="2614613"/>
            <a:ext cx="7658100" cy="571500"/>
          </a:xfrm>
          <a:prstGeom prst="rect">
            <a:avLst/>
          </a:prstGeom>
          <a:solidFill>
            <a:srgbClr val="00FFFF">
              <a:alpha val="313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6"/>
          <p:cNvSpPr/>
          <p:nvPr/>
        </p:nvSpPr>
        <p:spPr>
          <a:xfrm>
            <a:off x="742950" y="2614613"/>
            <a:ext cx="21431" cy="5715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60" name="Google Shape;360;p16"/>
          <p:cNvPicPr preferRelativeResize="0"/>
          <p:nvPr/>
        </p:nvPicPr>
        <p:blipFill rotWithShape="1">
          <a:blip r:embed="rId6">
            <a:alphaModFix/>
          </a:blip>
          <a:srcRect b="0" l="0" r="0" t="0"/>
          <a:stretch/>
        </p:blipFill>
        <p:spPr>
          <a:xfrm>
            <a:off x="850106" y="2721769"/>
            <a:ext cx="178594" cy="178594"/>
          </a:xfrm>
          <a:prstGeom prst="rect">
            <a:avLst/>
          </a:prstGeom>
          <a:noFill/>
          <a:ln>
            <a:noFill/>
          </a:ln>
        </p:spPr>
      </p:pic>
      <p:sp>
        <p:nvSpPr>
          <p:cNvPr id="361" name="Google Shape;361;p16"/>
          <p:cNvSpPr/>
          <p:nvPr/>
        </p:nvSpPr>
        <p:spPr>
          <a:xfrm>
            <a:off x="1171575" y="2721769"/>
            <a:ext cx="4695230"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VALIDATION</a:t>
            </a:r>
            <a:endParaRPr b="0" i="0" sz="727" u="none" cap="none" strike="noStrike">
              <a:solidFill>
                <a:schemeClr val="dk1"/>
              </a:solidFill>
              <a:latin typeface="Calibri"/>
              <a:ea typeface="Calibri"/>
              <a:cs typeface="Calibri"/>
              <a:sym typeface="Calibri"/>
            </a:endParaRPr>
          </a:p>
        </p:txBody>
      </p:sp>
      <p:sp>
        <p:nvSpPr>
          <p:cNvPr id="362" name="Google Shape;362;p16"/>
          <p:cNvSpPr/>
          <p:nvPr/>
        </p:nvSpPr>
        <p:spPr>
          <a:xfrm>
            <a:off x="1171575" y="2900363"/>
            <a:ext cx="3482578"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Ensures the command matches the JSON schema defined in the contract.</a:t>
            </a:r>
            <a:endParaRPr b="0" i="0" sz="727" u="none" cap="none" strike="noStrike">
              <a:solidFill>
                <a:schemeClr val="dk1"/>
              </a:solidFill>
              <a:latin typeface="Calibri"/>
              <a:ea typeface="Calibri"/>
              <a:cs typeface="Calibri"/>
              <a:sym typeface="Calibri"/>
            </a:endParaRPr>
          </a:p>
        </p:txBody>
      </p:sp>
      <p:sp>
        <p:nvSpPr>
          <p:cNvPr id="363" name="Google Shape;363;p16"/>
          <p:cNvSpPr/>
          <p:nvPr/>
        </p:nvSpPr>
        <p:spPr>
          <a:xfrm>
            <a:off x="4654153" y="2880717"/>
            <a:ext cx="1150144" cy="146447"/>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6"/>
          <p:cNvSpPr/>
          <p:nvPr/>
        </p:nvSpPr>
        <p:spPr>
          <a:xfrm>
            <a:off x="742950" y="3293269"/>
            <a:ext cx="7658100" cy="571500"/>
          </a:xfrm>
          <a:prstGeom prst="rect">
            <a:avLst/>
          </a:prstGeom>
          <a:solidFill>
            <a:srgbClr val="00FFFF">
              <a:alpha val="313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6"/>
          <p:cNvSpPr/>
          <p:nvPr/>
        </p:nvSpPr>
        <p:spPr>
          <a:xfrm>
            <a:off x="742950" y="3293269"/>
            <a:ext cx="21431" cy="5715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66" name="Google Shape;366;p16"/>
          <p:cNvPicPr preferRelativeResize="0"/>
          <p:nvPr/>
        </p:nvPicPr>
        <p:blipFill rotWithShape="1">
          <a:blip r:embed="rId7">
            <a:alphaModFix/>
          </a:blip>
          <a:srcRect b="0" l="0" r="0" t="0"/>
          <a:stretch/>
        </p:blipFill>
        <p:spPr>
          <a:xfrm>
            <a:off x="850106" y="3400425"/>
            <a:ext cx="160734" cy="178594"/>
          </a:xfrm>
          <a:prstGeom prst="rect">
            <a:avLst/>
          </a:prstGeom>
          <a:noFill/>
          <a:ln>
            <a:noFill/>
          </a:ln>
        </p:spPr>
      </p:pic>
      <p:sp>
        <p:nvSpPr>
          <p:cNvPr id="367" name="Google Shape;367;p16"/>
          <p:cNvSpPr/>
          <p:nvPr/>
        </p:nvSpPr>
        <p:spPr>
          <a:xfrm>
            <a:off x="1153716" y="3400425"/>
            <a:ext cx="7140178"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EXECUTION</a:t>
            </a:r>
            <a:endParaRPr b="0" i="0" sz="727" u="none" cap="none" strike="noStrike">
              <a:solidFill>
                <a:schemeClr val="dk1"/>
              </a:solidFill>
              <a:latin typeface="Calibri"/>
              <a:ea typeface="Calibri"/>
              <a:cs typeface="Calibri"/>
              <a:sym typeface="Calibri"/>
            </a:endParaRPr>
          </a:p>
        </p:txBody>
      </p:sp>
      <p:sp>
        <p:nvSpPr>
          <p:cNvPr id="368" name="Google Shape;368;p16"/>
          <p:cNvSpPr/>
          <p:nvPr/>
        </p:nvSpPr>
        <p:spPr>
          <a:xfrm>
            <a:off x="1153716" y="3579019"/>
            <a:ext cx="3084314"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Provides a REST POST request to the specific actuator endpoint (e.g.,</a:t>
            </a:r>
            <a:endParaRPr b="0" i="0" sz="727" u="none" cap="none" strike="noStrike">
              <a:solidFill>
                <a:schemeClr val="dk1"/>
              </a:solidFill>
              <a:latin typeface="Calibri"/>
              <a:ea typeface="Calibri"/>
              <a:cs typeface="Calibri"/>
              <a:sym typeface="Calibri"/>
            </a:endParaRPr>
          </a:p>
        </p:txBody>
      </p:sp>
      <p:sp>
        <p:nvSpPr>
          <p:cNvPr id="369" name="Google Shape;369;p16"/>
          <p:cNvSpPr/>
          <p:nvPr/>
        </p:nvSpPr>
        <p:spPr>
          <a:xfrm>
            <a:off x="4238030" y="3559373"/>
            <a:ext cx="1635919" cy="146447"/>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6"/>
          <p:cNvSpPr/>
          <p:nvPr/>
        </p:nvSpPr>
        <p:spPr>
          <a:xfrm>
            <a:off x="4238030" y="3559373"/>
            <a:ext cx="1635919" cy="146447"/>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Roboto Mono"/>
              <a:buNone/>
            </a:pPr>
            <a:r>
              <a:rPr b="0" i="0" lang="en-US" sz="727" u="none" cap="none" strike="noStrike">
                <a:solidFill>
                  <a:srgbClr val="FF4500"/>
                </a:solidFill>
                <a:latin typeface="Roboto Mono"/>
                <a:ea typeface="Roboto Mono"/>
                <a:cs typeface="Roboto Mono"/>
                <a:sym typeface="Roboto Mono"/>
              </a:rPr>
              <a:t>/api/actuators/cooling_fan</a:t>
            </a:r>
            <a:endParaRPr b="0" i="0" sz="727" u="none" cap="none" strike="noStrike">
              <a:solidFill>
                <a:schemeClr val="dk1"/>
              </a:solidFill>
              <a:latin typeface="Calibri"/>
              <a:ea typeface="Calibri"/>
              <a:cs typeface="Calibri"/>
              <a:sym typeface="Calibri"/>
            </a:endParaRPr>
          </a:p>
        </p:txBody>
      </p:sp>
      <p:sp>
        <p:nvSpPr>
          <p:cNvPr id="371" name="Google Shape;371;p16"/>
          <p:cNvSpPr/>
          <p:nvPr/>
        </p:nvSpPr>
        <p:spPr>
          <a:xfrm>
            <a:off x="5873948" y="3579019"/>
            <a:ext cx="2135981"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 to update its state. The new state is sent to the</a:t>
            </a:r>
            <a:endParaRPr b="0" i="0" sz="727" u="none" cap="none" strike="noStrike">
              <a:solidFill>
                <a:schemeClr val="dk1"/>
              </a:solidFill>
              <a:latin typeface="Calibri"/>
              <a:ea typeface="Calibri"/>
              <a:cs typeface="Calibri"/>
              <a:sym typeface="Calibri"/>
            </a:endParaRPr>
          </a:p>
        </p:txBody>
      </p:sp>
      <p:sp>
        <p:nvSpPr>
          <p:cNvPr id="372" name="Google Shape;372;p16"/>
          <p:cNvSpPr/>
          <p:nvPr/>
        </p:nvSpPr>
        <p:spPr>
          <a:xfrm>
            <a:off x="1153716" y="3724377"/>
            <a:ext cx="312539"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Queue</a:t>
            </a:r>
            <a:endParaRPr b="0" i="0" sz="727" u="none" cap="none" strike="noStrike">
              <a:solidFill>
                <a:schemeClr val="dk1"/>
              </a:solidFill>
              <a:latin typeface="Calibri"/>
              <a:ea typeface="Calibri"/>
              <a:cs typeface="Calibri"/>
              <a:sym typeface="Calibri"/>
            </a:endParaRPr>
          </a:p>
        </p:txBody>
      </p:sp>
      <p:sp>
        <p:nvSpPr>
          <p:cNvPr id="373" name="Google Shape;373;p16"/>
          <p:cNvSpPr/>
          <p:nvPr/>
        </p:nvSpPr>
        <p:spPr>
          <a:xfrm>
            <a:off x="1466255" y="3704732"/>
            <a:ext cx="1089422" cy="146447"/>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6"/>
          <p:cNvSpPr/>
          <p:nvPr/>
        </p:nvSpPr>
        <p:spPr>
          <a:xfrm>
            <a:off x="1466255" y="3704732"/>
            <a:ext cx="1089422" cy="146447"/>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Roboto Mono"/>
              <a:buNone/>
            </a:pPr>
            <a:r>
              <a:rPr b="0" i="0" lang="en-US" sz="727" u="none" cap="none" strike="noStrike">
                <a:solidFill>
                  <a:srgbClr val="FF4500"/>
                </a:solidFill>
                <a:latin typeface="Roboto Mono"/>
                <a:ea typeface="Roboto Mono"/>
                <a:cs typeface="Roboto Mono"/>
                <a:sym typeface="Roboto Mono"/>
              </a:rPr>
              <a:t>actuator.commands</a:t>
            </a:r>
            <a:endParaRPr b="0" i="0" sz="727" u="none" cap="none" strike="noStrike">
              <a:solidFill>
                <a:schemeClr val="dk1"/>
              </a:solidFill>
              <a:latin typeface="Calibri"/>
              <a:ea typeface="Calibri"/>
              <a:cs typeface="Calibri"/>
              <a:sym typeface="Calibri"/>
            </a:endParaRPr>
          </a:p>
        </p:txBody>
      </p:sp>
      <p:sp>
        <p:nvSpPr>
          <p:cNvPr id="375" name="Google Shape;375;p16"/>
          <p:cNvSpPr/>
          <p:nvPr/>
        </p:nvSpPr>
        <p:spPr>
          <a:xfrm>
            <a:off x="2555677" y="3724377"/>
            <a:ext cx="5079206"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 managed by the Converter Service who will then update the state of the actuator with a REST call to the Simulator.</a:t>
            </a:r>
            <a:endParaRPr b="0" i="0" sz="727" u="none" cap="none" strike="noStrike">
              <a:solidFill>
                <a:schemeClr val="dk1"/>
              </a:solidFill>
              <a:latin typeface="Calibri"/>
              <a:ea typeface="Calibri"/>
              <a:cs typeface="Calibri"/>
              <a:sym typeface="Calibri"/>
            </a:endParaRPr>
          </a:p>
        </p:txBody>
      </p:sp>
      <p:sp>
        <p:nvSpPr>
          <p:cNvPr id="376" name="Google Shape;376;p16"/>
          <p:cNvSpPr/>
          <p:nvPr/>
        </p:nvSpPr>
        <p:spPr>
          <a:xfrm>
            <a:off x="742950" y="3971925"/>
            <a:ext cx="7658100" cy="571500"/>
          </a:xfrm>
          <a:prstGeom prst="rect">
            <a:avLst/>
          </a:prstGeom>
          <a:solidFill>
            <a:srgbClr val="00FFFF">
              <a:alpha val="313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6"/>
          <p:cNvSpPr/>
          <p:nvPr/>
        </p:nvSpPr>
        <p:spPr>
          <a:xfrm>
            <a:off x="742950" y="3971925"/>
            <a:ext cx="21431" cy="5715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8" name="Google Shape;378;p16"/>
          <p:cNvPicPr preferRelativeResize="0"/>
          <p:nvPr/>
        </p:nvPicPr>
        <p:blipFill rotWithShape="1">
          <a:blip r:embed="rId8">
            <a:alphaModFix/>
          </a:blip>
          <a:srcRect b="0" l="0" r="0" t="0"/>
          <a:stretch/>
        </p:blipFill>
        <p:spPr>
          <a:xfrm>
            <a:off x="850106" y="4079081"/>
            <a:ext cx="160734" cy="178594"/>
          </a:xfrm>
          <a:prstGeom prst="rect">
            <a:avLst/>
          </a:prstGeom>
          <a:noFill/>
          <a:ln>
            <a:noFill/>
          </a:ln>
        </p:spPr>
      </p:pic>
      <p:sp>
        <p:nvSpPr>
          <p:cNvPr id="379" name="Google Shape;379;p16"/>
          <p:cNvSpPr/>
          <p:nvPr/>
        </p:nvSpPr>
        <p:spPr>
          <a:xfrm>
            <a:off x="1153716" y="4079081"/>
            <a:ext cx="7140178"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REAL-TIME STATE BROADCASTING</a:t>
            </a:r>
            <a:endParaRPr b="0" i="0" sz="727" u="none" cap="none" strike="noStrike">
              <a:solidFill>
                <a:schemeClr val="dk1"/>
              </a:solidFill>
              <a:latin typeface="Calibri"/>
              <a:ea typeface="Calibri"/>
              <a:cs typeface="Calibri"/>
              <a:sym typeface="Calibri"/>
            </a:endParaRPr>
          </a:p>
        </p:txBody>
      </p:sp>
      <p:sp>
        <p:nvSpPr>
          <p:cNvPr id="380" name="Google Shape;380;p16"/>
          <p:cNvSpPr/>
          <p:nvPr/>
        </p:nvSpPr>
        <p:spPr>
          <a:xfrm>
            <a:off x="1153716" y="4257675"/>
            <a:ext cx="2059186"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Exposes dedicated WebSocket channels (e.g.,</a:t>
            </a:r>
            <a:endParaRPr b="0" i="0" sz="727" u="none" cap="none" strike="noStrike">
              <a:solidFill>
                <a:schemeClr val="dk1"/>
              </a:solidFill>
              <a:latin typeface="Calibri"/>
              <a:ea typeface="Calibri"/>
              <a:cs typeface="Calibri"/>
              <a:sym typeface="Calibri"/>
            </a:endParaRPr>
          </a:p>
        </p:txBody>
      </p:sp>
      <p:sp>
        <p:nvSpPr>
          <p:cNvPr id="381" name="Google Shape;381;p16"/>
          <p:cNvSpPr/>
          <p:nvPr/>
        </p:nvSpPr>
        <p:spPr>
          <a:xfrm>
            <a:off x="3212902" y="4238030"/>
            <a:ext cx="1089422" cy="146447"/>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6"/>
          <p:cNvSpPr/>
          <p:nvPr/>
        </p:nvSpPr>
        <p:spPr>
          <a:xfrm>
            <a:off x="3212902" y="4238030"/>
            <a:ext cx="1089422" cy="146447"/>
          </a:xfrm>
          <a:prstGeom prst="rect">
            <a:avLst/>
          </a:prstGeom>
          <a:noFill/>
          <a:ln>
            <a:noFill/>
          </a:ln>
        </p:spPr>
        <p:txBody>
          <a:bodyPr anchorCtr="0" anchor="t" bIns="8500" lIns="34025" spcFirstLastPara="1" rIns="34025" wrap="square" tIns="8500">
            <a:noAutofit/>
          </a:bodyPr>
          <a:lstStyle/>
          <a:p>
            <a:pPr indent="0" lvl="0" marL="0" marR="0" rtl="0" algn="l">
              <a:lnSpc>
                <a:spcPct val="151306"/>
              </a:lnSpc>
              <a:spcBef>
                <a:spcPts val="0"/>
              </a:spcBef>
              <a:spcAft>
                <a:spcPts val="0"/>
              </a:spcAft>
              <a:buClr>
                <a:srgbClr val="FF4500"/>
              </a:buClr>
              <a:buSzPts val="727"/>
              <a:buFont typeface="Roboto Mono"/>
              <a:buNone/>
            </a:pPr>
            <a:r>
              <a:rPr b="0" i="0" lang="en-US" sz="727" u="none" cap="none" strike="noStrike">
                <a:solidFill>
                  <a:srgbClr val="FF4500"/>
                </a:solidFill>
                <a:latin typeface="Roboto Mono"/>
                <a:ea typeface="Roboto Mono"/>
                <a:cs typeface="Roboto Mono"/>
                <a:sym typeface="Roboto Mono"/>
              </a:rPr>
              <a:t>/api/actuators/ws</a:t>
            </a:r>
            <a:endParaRPr b="0" i="0" sz="727" u="none" cap="none" strike="noStrike">
              <a:solidFill>
                <a:schemeClr val="dk1"/>
              </a:solidFill>
              <a:latin typeface="Calibri"/>
              <a:ea typeface="Calibri"/>
              <a:cs typeface="Calibri"/>
              <a:sym typeface="Calibri"/>
            </a:endParaRPr>
          </a:p>
        </p:txBody>
      </p:sp>
      <p:sp>
        <p:nvSpPr>
          <p:cNvPr id="383" name="Google Shape;383;p16"/>
          <p:cNvSpPr/>
          <p:nvPr/>
        </p:nvSpPr>
        <p:spPr>
          <a:xfrm>
            <a:off x="4302323" y="4257675"/>
            <a:ext cx="3945136"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 to instantly push live state changes to the frontend. This ensures operators immediately</a:t>
            </a:r>
            <a:endParaRPr b="0" i="0" sz="727" u="none" cap="none" strike="noStrike">
              <a:solidFill>
                <a:schemeClr val="dk1"/>
              </a:solidFill>
              <a:latin typeface="Calibri"/>
              <a:ea typeface="Calibri"/>
              <a:cs typeface="Calibri"/>
              <a:sym typeface="Calibri"/>
            </a:endParaRPr>
          </a:p>
        </p:txBody>
      </p:sp>
      <p:sp>
        <p:nvSpPr>
          <p:cNvPr id="384" name="Google Shape;384;p16"/>
          <p:cNvSpPr/>
          <p:nvPr/>
        </p:nvSpPr>
        <p:spPr>
          <a:xfrm>
            <a:off x="1153716" y="4397676"/>
            <a:ext cx="5216723" cy="117872"/>
          </a:xfrm>
          <a:prstGeom prst="rect">
            <a:avLst/>
          </a:prstGeom>
          <a:noFill/>
          <a:ln>
            <a:noFill/>
          </a:ln>
        </p:spPr>
        <p:txBody>
          <a:bodyPr anchorCtr="0" anchor="t" bIns="0" lIns="0" spcFirstLastPara="1" rIns="0" wrap="square" tIns="0">
            <a:noAutofit/>
          </a:bodyPr>
          <a:lstStyle/>
          <a:p>
            <a:pPr indent="0" lvl="0" marL="0" marR="0" rtl="0" algn="l">
              <a:lnSpc>
                <a:spcPct val="151306"/>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see the physical response (ON/OFF) to their manual commands or automated rules without refreshing the dashboard.</a:t>
            </a:r>
            <a:endParaRPr b="0" i="0" sz="727" u="none" cap="none" strike="noStrike">
              <a:solidFill>
                <a:schemeClr val="dk1"/>
              </a:solidFill>
              <a:latin typeface="Calibri"/>
              <a:ea typeface="Calibri"/>
              <a:cs typeface="Calibri"/>
              <a:sym typeface="Calibri"/>
            </a:endParaRPr>
          </a:p>
        </p:txBody>
      </p:sp>
      <p:pic>
        <p:nvPicPr>
          <p:cNvPr descr="preencoded.png" id="385" name="Google Shape;385;p16"/>
          <p:cNvPicPr preferRelativeResize="0"/>
          <p:nvPr/>
        </p:nvPicPr>
        <p:blipFill rotWithShape="1">
          <a:blip r:embed="rId9">
            <a:alphaModFix/>
          </a:blip>
          <a:srcRect b="0" l="0" r="0" t="0"/>
          <a:stretch/>
        </p:blipFill>
        <p:spPr>
          <a:xfrm>
            <a:off x="878681" y="1435887"/>
            <a:ext cx="178594" cy="1428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pic>
        <p:nvPicPr>
          <p:cNvPr descr="preencoded.png" id="391" name="Google Shape;391;p17"/>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92" name="Google Shape;392;p17"/>
          <p:cNvSpPr/>
          <p:nvPr/>
        </p:nvSpPr>
        <p:spPr>
          <a:xfrm>
            <a:off x="6470452" y="285750"/>
            <a:ext cx="23877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CONVERTER-SERVICE // V1.0</a:t>
            </a:r>
            <a:endParaRPr b="0" i="0" sz="621" u="none" cap="none" strike="noStrike">
              <a:solidFill>
                <a:schemeClr val="dk1"/>
              </a:solidFill>
              <a:latin typeface="Calibri"/>
              <a:ea typeface="Calibri"/>
              <a:cs typeface="Calibri"/>
              <a:sym typeface="Calibri"/>
            </a:endParaRPr>
          </a:p>
        </p:txBody>
      </p:sp>
      <p:sp>
        <p:nvSpPr>
          <p:cNvPr id="393" name="Google Shape;393;p17"/>
          <p:cNvSpPr/>
          <p:nvPr/>
        </p:nvSpPr>
        <p:spPr>
          <a:xfrm>
            <a:off x="457200" y="607219"/>
            <a:ext cx="8229600" cy="39291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7"/>
          <p:cNvSpPr/>
          <p:nvPr/>
        </p:nvSpPr>
        <p:spPr>
          <a:xfrm>
            <a:off x="814388" y="964406"/>
            <a:ext cx="7515300" cy="40020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ACTUATOR </a:t>
            </a:r>
            <a:r>
              <a:rPr b="1" lang="en-US" sz="1602">
                <a:solidFill>
                  <a:srgbClr val="FF4500"/>
                </a:solidFill>
                <a:latin typeface="Orbitron"/>
                <a:ea typeface="Orbitron"/>
                <a:cs typeface="Orbitron"/>
                <a:sym typeface="Orbitron"/>
              </a:rPr>
              <a:t>SERVICE</a:t>
            </a:r>
            <a:endParaRPr b="0" i="0" sz="1602" u="none" cap="none" strike="noStrike">
              <a:solidFill>
                <a:schemeClr val="dk1"/>
              </a:solidFill>
              <a:latin typeface="Calibri"/>
              <a:ea typeface="Calibri"/>
              <a:cs typeface="Calibri"/>
              <a:sym typeface="Calibri"/>
            </a:endParaRPr>
          </a:p>
        </p:txBody>
      </p:sp>
      <p:sp>
        <p:nvSpPr>
          <p:cNvPr id="395" name="Google Shape;395;p17"/>
          <p:cNvSpPr/>
          <p:nvPr/>
        </p:nvSpPr>
        <p:spPr>
          <a:xfrm>
            <a:off x="814325" y="1605550"/>
            <a:ext cx="6744600" cy="205800"/>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The actuator service also acts as middleware between the backend’s internal event queues and cache and a user or frontend,</a:t>
            </a:r>
            <a:endParaRPr b="0" i="0" sz="942" u="none" cap="none" strike="noStrike">
              <a:solidFill>
                <a:schemeClr val="dk1"/>
              </a:solidFill>
              <a:latin typeface="Calibri"/>
              <a:ea typeface="Calibri"/>
              <a:cs typeface="Calibri"/>
              <a:sym typeface="Calibri"/>
            </a:endParaRPr>
          </a:p>
        </p:txBody>
      </p:sp>
      <p:sp>
        <p:nvSpPr>
          <p:cNvPr id="396" name="Google Shape;396;p17"/>
          <p:cNvSpPr/>
          <p:nvPr/>
        </p:nvSpPr>
        <p:spPr>
          <a:xfrm>
            <a:off x="814400" y="1804334"/>
            <a:ext cx="6744600" cy="5736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however this time that is relative to the actuators’ state and their updates. For this reason, in </a:t>
            </a:r>
            <a:r>
              <a:rPr lang="en-US" sz="942">
                <a:solidFill>
                  <a:srgbClr val="E0E0E0"/>
                </a:solidFill>
                <a:latin typeface="Roboto"/>
                <a:ea typeface="Roboto"/>
                <a:cs typeface="Roboto"/>
                <a:sym typeface="Roboto"/>
              </a:rPr>
              <a:t>addition</a:t>
            </a:r>
            <a:r>
              <a:rPr lang="en-US" sz="942">
                <a:solidFill>
                  <a:srgbClr val="E0E0E0"/>
                </a:solidFill>
                <a:latin typeface="Roboto"/>
                <a:ea typeface="Roboto"/>
                <a:cs typeface="Roboto"/>
                <a:sym typeface="Roboto"/>
              </a:rPr>
              <a:t> to the discovery features and WebSockets for live state updates, it also provides POST endpoints to manually toggle actuators from the dashboard.</a:t>
            </a:r>
            <a:endParaRPr sz="942">
              <a:solidFill>
                <a:srgbClr val="E0E0E0"/>
              </a:solidFill>
              <a:latin typeface="Roboto"/>
              <a:ea typeface="Roboto"/>
              <a:cs typeface="Roboto"/>
              <a:sym typeface="Roboto"/>
            </a:endParaRPr>
          </a:p>
        </p:txBody>
      </p:sp>
      <p:sp>
        <p:nvSpPr>
          <p:cNvPr id="397" name="Google Shape;397;p17"/>
          <p:cNvSpPr/>
          <p:nvPr/>
        </p:nvSpPr>
        <p:spPr>
          <a:xfrm>
            <a:off x="814400" y="2377934"/>
            <a:ext cx="6744600" cy="573600"/>
          </a:xfrm>
          <a:prstGeom prst="rect">
            <a:avLst/>
          </a:prstGeom>
          <a:noFill/>
          <a:ln>
            <a:noFill/>
          </a:ln>
        </p:spPr>
        <p:txBody>
          <a:bodyPr anchorCtr="0" anchor="t" bIns="0" lIns="0" spcFirstLastPara="1" rIns="0" wrap="square" tIns="0">
            <a:noAutofit/>
          </a:bodyPr>
          <a:lstStyle/>
          <a:p>
            <a:pPr indent="0" lvl="0" marL="0" rtl="0" algn="just">
              <a:lnSpc>
                <a:spcPct val="140000"/>
              </a:lnSpc>
              <a:spcBef>
                <a:spcPts val="0"/>
              </a:spcBef>
              <a:spcAft>
                <a:spcPts val="0"/>
              </a:spcAft>
              <a:buClr>
                <a:schemeClr val="dk1"/>
              </a:buClr>
              <a:buSzPts val="1100"/>
              <a:buFont typeface="Arial"/>
              <a:buNone/>
            </a:pPr>
            <a:r>
              <a:rPr lang="en-US" sz="942">
                <a:solidFill>
                  <a:srgbClr val="E0E0E0"/>
                </a:solidFill>
                <a:latin typeface="Roboto"/>
                <a:ea typeface="Roboto"/>
                <a:cs typeface="Roboto"/>
                <a:sym typeface="Roboto"/>
              </a:rPr>
              <a:t>Like the metrics service, it also caches actuators’ state.</a:t>
            </a:r>
            <a:endParaRPr>
              <a:solidFill>
                <a:schemeClr val="dk1"/>
              </a:solidFill>
            </a:endParaRPr>
          </a:p>
          <a:p>
            <a:pPr indent="0" lvl="0" marL="0" marR="0" rtl="0" algn="just">
              <a:lnSpc>
                <a:spcPct val="140000"/>
              </a:lnSpc>
              <a:spcBef>
                <a:spcPts val="0"/>
              </a:spcBef>
              <a:spcAft>
                <a:spcPts val="0"/>
              </a:spcAft>
              <a:buClr>
                <a:srgbClr val="E0E0E0"/>
              </a:buClr>
              <a:buSzPts val="942"/>
              <a:buFont typeface="Roboto"/>
              <a:buNone/>
            </a:pPr>
            <a:r>
              <a:t/>
            </a:r>
            <a:endParaRPr sz="942">
              <a:solidFill>
                <a:srgbClr val="E0E0E0"/>
              </a:solidFill>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pic>
        <p:nvPicPr>
          <p:cNvPr descr="preencoded.png" id="403" name="Google Shape;403;p18"/>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04" name="Google Shape;404;p18"/>
          <p:cNvSpPr/>
          <p:nvPr/>
        </p:nvSpPr>
        <p:spPr>
          <a:xfrm>
            <a:off x="6532959" y="285750"/>
            <a:ext cx="2325291"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COMMUNICATION // WS_V1.0</a:t>
            </a:r>
            <a:endParaRPr b="0" i="0" sz="621" u="none" cap="none" strike="noStrike">
              <a:solidFill>
                <a:schemeClr val="dk1"/>
              </a:solidFill>
              <a:latin typeface="Calibri"/>
              <a:ea typeface="Calibri"/>
              <a:cs typeface="Calibri"/>
              <a:sym typeface="Calibri"/>
            </a:endParaRPr>
          </a:p>
        </p:txBody>
      </p:sp>
      <p:sp>
        <p:nvSpPr>
          <p:cNvPr id="405" name="Google Shape;405;p18"/>
          <p:cNvSpPr/>
          <p:nvPr/>
        </p:nvSpPr>
        <p:spPr>
          <a:xfrm>
            <a:off x="457200" y="607219"/>
            <a:ext cx="8229600" cy="3929063"/>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8"/>
          <p:cNvSpPr/>
          <p:nvPr/>
        </p:nvSpPr>
        <p:spPr>
          <a:xfrm>
            <a:off x="742950" y="892969"/>
            <a:ext cx="7658100" cy="40005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WEBSOCKETS</a:t>
            </a:r>
            <a:endParaRPr b="0" i="0" sz="1602" u="none" cap="none" strike="noStrike">
              <a:solidFill>
                <a:schemeClr val="dk1"/>
              </a:solidFill>
              <a:latin typeface="Calibri"/>
              <a:ea typeface="Calibri"/>
              <a:cs typeface="Calibri"/>
              <a:sym typeface="Calibri"/>
            </a:endParaRPr>
          </a:p>
        </p:txBody>
      </p:sp>
      <p:sp>
        <p:nvSpPr>
          <p:cNvPr id="407" name="Google Shape;407;p18"/>
          <p:cNvSpPr/>
          <p:nvPr/>
        </p:nvSpPr>
        <p:spPr>
          <a:xfrm>
            <a:off x="742950" y="1507331"/>
            <a:ext cx="7658100" cy="1143000"/>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8"/>
          <p:cNvSpPr/>
          <p:nvPr/>
        </p:nvSpPr>
        <p:spPr>
          <a:xfrm>
            <a:off x="742950" y="1507331"/>
            <a:ext cx="28575" cy="11430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09" name="Google Shape;409;p18"/>
          <p:cNvPicPr preferRelativeResize="0"/>
          <p:nvPr/>
        </p:nvPicPr>
        <p:blipFill rotWithShape="1">
          <a:blip r:embed="rId4">
            <a:alphaModFix/>
          </a:blip>
          <a:srcRect b="0" l="0" r="0" t="0"/>
          <a:stretch/>
        </p:blipFill>
        <p:spPr>
          <a:xfrm>
            <a:off x="885825" y="1650206"/>
            <a:ext cx="192881" cy="171450"/>
          </a:xfrm>
          <a:prstGeom prst="rect">
            <a:avLst/>
          </a:prstGeom>
          <a:noFill/>
          <a:ln>
            <a:noFill/>
          </a:ln>
        </p:spPr>
      </p:pic>
      <p:sp>
        <p:nvSpPr>
          <p:cNvPr id="410" name="Google Shape;410;p18"/>
          <p:cNvSpPr/>
          <p:nvPr/>
        </p:nvSpPr>
        <p:spPr>
          <a:xfrm>
            <a:off x="1185863" y="1655564"/>
            <a:ext cx="2466380"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GLOBAL STATUS WEBSOCKET</a:t>
            </a:r>
            <a:endParaRPr b="0" i="0" sz="942" u="none" cap="none" strike="noStrike">
              <a:solidFill>
                <a:schemeClr val="dk1"/>
              </a:solidFill>
              <a:latin typeface="Calibri"/>
              <a:ea typeface="Calibri"/>
              <a:cs typeface="Calibri"/>
              <a:sym typeface="Calibri"/>
            </a:endParaRPr>
          </a:p>
        </p:txBody>
      </p:sp>
      <p:sp>
        <p:nvSpPr>
          <p:cNvPr id="411" name="Google Shape;411;p18"/>
          <p:cNvSpPr/>
          <p:nvPr/>
        </p:nvSpPr>
        <p:spPr>
          <a:xfrm>
            <a:off x="3723680" y="1655564"/>
            <a:ext cx="2239566" cy="160734"/>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8"/>
          <p:cNvSpPr/>
          <p:nvPr/>
        </p:nvSpPr>
        <p:spPr>
          <a:xfrm>
            <a:off x="3723680" y="1655564"/>
            <a:ext cx="2239566" cy="160734"/>
          </a:xfrm>
          <a:prstGeom prst="rect">
            <a:avLst/>
          </a:prstGeom>
          <a:noFill/>
          <a:ln>
            <a:noFill/>
          </a:ln>
        </p:spPr>
        <p:txBody>
          <a:bodyPr anchorCtr="0" anchor="t" bIns="17000" lIns="68050" spcFirstLastPara="1" rIns="68050" wrap="square" tIns="17000">
            <a:noAutofit/>
          </a:bodyPr>
          <a:lstStyle/>
          <a:p>
            <a:pPr indent="0" lvl="0" marL="0" marR="0" rtl="0" algn="l">
              <a:lnSpc>
                <a:spcPct val="123796"/>
              </a:lnSpc>
              <a:spcBef>
                <a:spcPts val="0"/>
              </a:spcBef>
              <a:spcAft>
                <a:spcPts val="0"/>
              </a:spcAft>
              <a:buClr>
                <a:srgbClr val="FF4500"/>
              </a:buClr>
              <a:buSzPts val="727"/>
              <a:buFont typeface="Roboto Mono"/>
              <a:buNone/>
            </a:pPr>
            <a:r>
              <a:rPr b="0" i="0" lang="en-US" sz="727" u="none" cap="none" strike="noStrike">
                <a:solidFill>
                  <a:srgbClr val="FF4500"/>
                </a:solidFill>
                <a:latin typeface="Roboto Mono"/>
                <a:ea typeface="Roboto Mono"/>
                <a:cs typeface="Roboto Mono"/>
                <a:sym typeface="Roboto Mono"/>
              </a:rPr>
              <a:t>/api/sensors/ws &amp; /api/actuators/ws</a:t>
            </a:r>
            <a:endParaRPr b="0" i="0" sz="727" u="none" cap="none" strike="noStrike">
              <a:solidFill>
                <a:schemeClr val="dk1"/>
              </a:solidFill>
              <a:latin typeface="Calibri"/>
              <a:ea typeface="Calibri"/>
              <a:cs typeface="Calibri"/>
              <a:sym typeface="Calibri"/>
            </a:endParaRPr>
          </a:p>
        </p:txBody>
      </p:sp>
      <p:sp>
        <p:nvSpPr>
          <p:cNvPr id="413" name="Google Shape;413;p18"/>
          <p:cNvSpPr/>
          <p:nvPr/>
        </p:nvSpPr>
        <p:spPr>
          <a:xfrm>
            <a:off x="885825" y="1928813"/>
            <a:ext cx="7372350" cy="365727"/>
          </a:xfrm>
          <a:prstGeom prst="rect">
            <a:avLst/>
          </a:prstGeom>
          <a:noFill/>
          <a:ln>
            <a:noFill/>
          </a:ln>
        </p:spPr>
        <p:txBody>
          <a:bodyPr anchorCtr="0" anchor="t" bIns="0" lIns="0" spcFirstLastPara="1" rIns="0" wrap="square" tIns="0">
            <a:noAutofit/>
          </a:bodyPr>
          <a:lstStyle/>
          <a:p>
            <a:pPr indent="0" lvl="0" marL="0" marR="0" rtl="0" algn="l">
              <a:lnSpc>
                <a:spcPct val="167865"/>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Provides a broadcast stream of all sensor/actuator states, synchronizing the entire habitat dashboard upon connection by fetching the full dataset from the Redis cache.</a:t>
            </a:r>
            <a:endParaRPr b="0" i="0" sz="834" u="none" cap="none" strike="noStrike">
              <a:solidFill>
                <a:schemeClr val="dk1"/>
              </a:solidFill>
              <a:latin typeface="Calibri"/>
              <a:ea typeface="Calibri"/>
              <a:cs typeface="Calibri"/>
              <a:sym typeface="Calibri"/>
            </a:endParaRPr>
          </a:p>
        </p:txBody>
      </p:sp>
      <p:sp>
        <p:nvSpPr>
          <p:cNvPr id="414" name="Google Shape;414;p18"/>
          <p:cNvSpPr/>
          <p:nvPr/>
        </p:nvSpPr>
        <p:spPr>
          <a:xfrm>
            <a:off x="742950" y="2900363"/>
            <a:ext cx="7658100" cy="1143000"/>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8"/>
          <p:cNvSpPr/>
          <p:nvPr/>
        </p:nvSpPr>
        <p:spPr>
          <a:xfrm>
            <a:off x="742950" y="2900363"/>
            <a:ext cx="28575" cy="1143000"/>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6" name="Google Shape;416;p18"/>
          <p:cNvPicPr preferRelativeResize="0"/>
          <p:nvPr/>
        </p:nvPicPr>
        <p:blipFill rotWithShape="1">
          <a:blip r:embed="rId5">
            <a:alphaModFix/>
          </a:blip>
          <a:srcRect b="0" l="0" r="0" t="0"/>
          <a:stretch/>
        </p:blipFill>
        <p:spPr>
          <a:xfrm>
            <a:off x="885825" y="3043238"/>
            <a:ext cx="171450" cy="171450"/>
          </a:xfrm>
          <a:prstGeom prst="rect">
            <a:avLst/>
          </a:prstGeom>
          <a:noFill/>
          <a:ln>
            <a:noFill/>
          </a:ln>
        </p:spPr>
      </p:pic>
      <p:sp>
        <p:nvSpPr>
          <p:cNvPr id="417" name="Google Shape;417;p18"/>
          <p:cNvSpPr/>
          <p:nvPr/>
        </p:nvSpPr>
        <p:spPr>
          <a:xfrm>
            <a:off x="1164431" y="3048595"/>
            <a:ext cx="2614613"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E0E0E0"/>
              </a:buClr>
              <a:buSzPts val="942"/>
              <a:buFont typeface="Orbitron"/>
              <a:buNone/>
            </a:pPr>
            <a:r>
              <a:rPr b="0" i="0" lang="en-US" sz="942" u="none" cap="none" strike="noStrike">
                <a:solidFill>
                  <a:srgbClr val="E0E0E0"/>
                </a:solidFill>
                <a:latin typeface="Orbitron"/>
                <a:ea typeface="Orbitron"/>
                <a:cs typeface="Orbitron"/>
                <a:sym typeface="Orbitron"/>
              </a:rPr>
              <a:t>TARGETED DEVICE WEBSOCKET</a:t>
            </a:r>
            <a:endParaRPr b="0" i="0" sz="942" u="none" cap="none" strike="noStrike">
              <a:solidFill>
                <a:schemeClr val="dk1"/>
              </a:solidFill>
              <a:latin typeface="Calibri"/>
              <a:ea typeface="Calibri"/>
              <a:cs typeface="Calibri"/>
              <a:sym typeface="Calibri"/>
            </a:endParaRPr>
          </a:p>
        </p:txBody>
      </p:sp>
      <p:sp>
        <p:nvSpPr>
          <p:cNvPr id="418" name="Google Shape;418;p18"/>
          <p:cNvSpPr/>
          <p:nvPr/>
        </p:nvSpPr>
        <p:spPr>
          <a:xfrm>
            <a:off x="3850481" y="3048595"/>
            <a:ext cx="2846784" cy="160734"/>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8"/>
          <p:cNvSpPr/>
          <p:nvPr/>
        </p:nvSpPr>
        <p:spPr>
          <a:xfrm>
            <a:off x="3850481" y="3048595"/>
            <a:ext cx="2846784" cy="160734"/>
          </a:xfrm>
          <a:prstGeom prst="rect">
            <a:avLst/>
          </a:prstGeom>
          <a:noFill/>
          <a:ln>
            <a:noFill/>
          </a:ln>
        </p:spPr>
        <p:txBody>
          <a:bodyPr anchorCtr="0" anchor="t" bIns="17000" lIns="68050" spcFirstLastPara="1" rIns="68050" wrap="square" tIns="17000">
            <a:noAutofit/>
          </a:bodyPr>
          <a:lstStyle/>
          <a:p>
            <a:pPr indent="0" lvl="0" marL="0" marR="0" rtl="0" algn="l">
              <a:lnSpc>
                <a:spcPct val="123796"/>
              </a:lnSpc>
              <a:spcBef>
                <a:spcPts val="0"/>
              </a:spcBef>
              <a:spcAft>
                <a:spcPts val="0"/>
              </a:spcAft>
              <a:buClr>
                <a:srgbClr val="FF4500"/>
              </a:buClr>
              <a:buSzPts val="727"/>
              <a:buFont typeface="Roboto Mono"/>
              <a:buNone/>
            </a:pPr>
            <a:r>
              <a:rPr b="0" i="0" lang="en-US" sz="727" u="none" cap="none" strike="noStrike">
                <a:solidFill>
                  <a:srgbClr val="FF4500"/>
                </a:solidFill>
                <a:latin typeface="Roboto Mono"/>
                <a:ea typeface="Roboto Mono"/>
                <a:cs typeface="Roboto Mono"/>
                <a:sym typeface="Roboto Mono"/>
              </a:rPr>
              <a:t>/api/sensors/{id}/ws &amp; /api/actuators/{id}/ws</a:t>
            </a:r>
            <a:endParaRPr b="0" i="0" sz="727" u="none" cap="none" strike="noStrike">
              <a:solidFill>
                <a:schemeClr val="dk1"/>
              </a:solidFill>
              <a:latin typeface="Calibri"/>
              <a:ea typeface="Calibri"/>
              <a:cs typeface="Calibri"/>
              <a:sym typeface="Calibri"/>
            </a:endParaRPr>
          </a:p>
        </p:txBody>
      </p:sp>
      <p:sp>
        <p:nvSpPr>
          <p:cNvPr id="420" name="Google Shape;420;p18"/>
          <p:cNvSpPr/>
          <p:nvPr/>
        </p:nvSpPr>
        <p:spPr>
          <a:xfrm>
            <a:off x="885825" y="3321844"/>
            <a:ext cx="7372350" cy="365727"/>
          </a:xfrm>
          <a:prstGeom prst="rect">
            <a:avLst/>
          </a:prstGeom>
          <a:noFill/>
          <a:ln>
            <a:noFill/>
          </a:ln>
        </p:spPr>
        <p:txBody>
          <a:bodyPr anchorCtr="0" anchor="t" bIns="0" lIns="0" spcFirstLastPara="1" rIns="0" wrap="square" tIns="0">
            <a:noAutofit/>
          </a:bodyPr>
          <a:lstStyle/>
          <a:p>
            <a:pPr indent="0" lvl="0" marL="0" marR="0" rtl="0" algn="l">
              <a:lnSpc>
                <a:spcPct val="167865"/>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Dedicated low-latency channel for monitoring a specific hardware component, reducing overhead by filtering updates exclusively for the selected actuator ID.</a:t>
            </a:r>
            <a:endParaRPr b="0" i="0" sz="834"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pic>
        <p:nvPicPr>
          <p:cNvPr descr="preencoded.png" id="426" name="Google Shape;426;p19"/>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27" name="Google Shape;427;p19"/>
          <p:cNvSpPr/>
          <p:nvPr/>
        </p:nvSpPr>
        <p:spPr>
          <a:xfrm>
            <a:off x="6606183" y="214313"/>
            <a:ext cx="22521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TECH_STACK // REL_3.3.2</a:t>
            </a:r>
            <a:endParaRPr b="0" i="0" sz="621" u="none" cap="none" strike="noStrike">
              <a:solidFill>
                <a:schemeClr val="dk1"/>
              </a:solidFill>
              <a:latin typeface="Calibri"/>
              <a:ea typeface="Calibri"/>
              <a:cs typeface="Calibri"/>
              <a:sym typeface="Calibri"/>
            </a:endParaRPr>
          </a:p>
        </p:txBody>
      </p:sp>
      <p:sp>
        <p:nvSpPr>
          <p:cNvPr id="428" name="Google Shape;428;p19"/>
          <p:cNvSpPr/>
          <p:nvPr/>
        </p:nvSpPr>
        <p:spPr>
          <a:xfrm>
            <a:off x="457200" y="428625"/>
            <a:ext cx="8229600" cy="4286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9"/>
          <p:cNvSpPr/>
          <p:nvPr/>
        </p:nvSpPr>
        <p:spPr>
          <a:xfrm>
            <a:off x="742950" y="714375"/>
            <a:ext cx="7658100" cy="364200"/>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METRICS/ACTUATOR</a:t>
            </a:r>
            <a:r>
              <a:rPr b="1" lang="en-US" sz="1602">
                <a:solidFill>
                  <a:srgbClr val="FF4500"/>
                </a:solidFill>
                <a:latin typeface="Orbitron"/>
                <a:ea typeface="Orbitron"/>
                <a:cs typeface="Orbitron"/>
                <a:sym typeface="Orbitron"/>
              </a:rPr>
              <a:t> SERVICES - </a:t>
            </a:r>
            <a:r>
              <a:rPr b="1" i="0" lang="en-US" sz="1602" u="none" cap="none" strike="noStrike">
                <a:solidFill>
                  <a:srgbClr val="FF4500"/>
                </a:solidFill>
                <a:latin typeface="Orbitron"/>
                <a:ea typeface="Orbitron"/>
                <a:cs typeface="Orbitron"/>
                <a:sym typeface="Orbitron"/>
              </a:rPr>
              <a:t>TECHNOLOGY STACK</a:t>
            </a:r>
            <a:endParaRPr b="0" i="0" sz="1602" u="none" cap="none" strike="noStrike">
              <a:solidFill>
                <a:schemeClr val="dk1"/>
              </a:solidFill>
              <a:latin typeface="Calibri"/>
              <a:ea typeface="Calibri"/>
              <a:cs typeface="Calibri"/>
              <a:sym typeface="Calibri"/>
            </a:endParaRPr>
          </a:p>
        </p:txBody>
      </p:sp>
      <p:sp>
        <p:nvSpPr>
          <p:cNvPr id="430" name="Google Shape;430;p19"/>
          <p:cNvSpPr/>
          <p:nvPr/>
        </p:nvSpPr>
        <p:spPr>
          <a:xfrm>
            <a:off x="742950"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31" name="Google Shape;431;p19"/>
          <p:cNvPicPr preferRelativeResize="0"/>
          <p:nvPr/>
        </p:nvPicPr>
        <p:blipFill rotWithShape="1">
          <a:blip r:embed="rId4">
            <a:alphaModFix/>
          </a:blip>
          <a:srcRect b="0" l="0" r="0" t="0"/>
          <a:stretch/>
        </p:blipFill>
        <p:spPr>
          <a:xfrm>
            <a:off x="850106" y="1400175"/>
            <a:ext cx="178594" cy="142875"/>
          </a:xfrm>
          <a:prstGeom prst="rect">
            <a:avLst/>
          </a:prstGeom>
          <a:noFill/>
          <a:ln>
            <a:noFill/>
          </a:ln>
        </p:spPr>
      </p:pic>
      <p:sp>
        <p:nvSpPr>
          <p:cNvPr id="432" name="Google Shape;432;p19"/>
          <p:cNvSpPr/>
          <p:nvPr/>
        </p:nvSpPr>
        <p:spPr>
          <a:xfrm>
            <a:off x="1100138" y="1408212"/>
            <a:ext cx="11019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PYTHON 3</a:t>
            </a:r>
            <a:endParaRPr b="0" i="0" sz="727" u="none" cap="none" strike="noStrike">
              <a:solidFill>
                <a:schemeClr val="dk1"/>
              </a:solidFill>
              <a:latin typeface="Calibri"/>
              <a:ea typeface="Calibri"/>
              <a:cs typeface="Calibri"/>
              <a:sym typeface="Calibri"/>
            </a:endParaRPr>
          </a:p>
        </p:txBody>
      </p:sp>
      <p:sp>
        <p:nvSpPr>
          <p:cNvPr id="433" name="Google Shape;433;p19"/>
          <p:cNvSpPr/>
          <p:nvPr/>
        </p:nvSpPr>
        <p:spPr>
          <a:xfrm>
            <a:off x="3343275"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9"/>
          <p:cNvSpPr/>
          <p:nvPr/>
        </p:nvSpPr>
        <p:spPr>
          <a:xfrm>
            <a:off x="3700463" y="1408212"/>
            <a:ext cx="11091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FASTAPI</a:t>
            </a:r>
            <a:endParaRPr b="0" i="0" sz="727" u="none" cap="none" strike="noStrike">
              <a:solidFill>
                <a:schemeClr val="dk1"/>
              </a:solidFill>
              <a:latin typeface="Calibri"/>
              <a:ea typeface="Calibri"/>
              <a:cs typeface="Calibri"/>
              <a:sym typeface="Calibri"/>
            </a:endParaRPr>
          </a:p>
        </p:txBody>
      </p:sp>
      <p:sp>
        <p:nvSpPr>
          <p:cNvPr id="435" name="Google Shape;435;p19"/>
          <p:cNvSpPr/>
          <p:nvPr/>
        </p:nvSpPr>
        <p:spPr>
          <a:xfrm>
            <a:off x="5943600" y="1293019"/>
            <a:ext cx="2457600" cy="857400"/>
          </a:xfrm>
          <a:prstGeom prst="rect">
            <a:avLst/>
          </a:prstGeom>
          <a:solidFill>
            <a:srgbClr val="00FFFF">
              <a:alpha val="5100"/>
            </a:srgbClr>
          </a:solidFill>
          <a:ln cap="flat" cmpd="sng" w="9525">
            <a:solidFill>
              <a:srgbClr val="00FFFF">
                <a:alpha val="102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9"/>
          <p:cNvSpPr/>
          <p:nvPr/>
        </p:nvSpPr>
        <p:spPr>
          <a:xfrm>
            <a:off x="6300788" y="1408212"/>
            <a:ext cx="843000" cy="126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lang="en-US" sz="727">
                <a:solidFill>
                  <a:srgbClr val="FF4500"/>
                </a:solidFill>
                <a:latin typeface="Orbitron"/>
                <a:ea typeface="Orbitron"/>
                <a:cs typeface="Orbitron"/>
                <a:sym typeface="Orbitron"/>
              </a:rPr>
              <a:t>AMQ (PROTON)</a:t>
            </a:r>
            <a:endParaRPr b="0" i="0" sz="727"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pic>
        <p:nvPicPr>
          <p:cNvPr descr="preencoded.png" id="442" name="Google Shape;442;p20"/>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43" name="Google Shape;443;p20"/>
          <p:cNvSpPr/>
          <p:nvPr/>
        </p:nvSpPr>
        <p:spPr>
          <a:xfrm>
            <a:off x="6470452" y="285750"/>
            <a:ext cx="2387700" cy="108900"/>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CONVERTER-SERVICE // V1.0</a:t>
            </a:r>
            <a:endParaRPr b="0" i="0" sz="621" u="none" cap="none" strike="noStrike">
              <a:solidFill>
                <a:schemeClr val="dk1"/>
              </a:solidFill>
              <a:latin typeface="Calibri"/>
              <a:ea typeface="Calibri"/>
              <a:cs typeface="Calibri"/>
              <a:sym typeface="Calibri"/>
            </a:endParaRPr>
          </a:p>
        </p:txBody>
      </p:sp>
      <p:sp>
        <p:nvSpPr>
          <p:cNvPr id="444" name="Google Shape;444;p20"/>
          <p:cNvSpPr/>
          <p:nvPr/>
        </p:nvSpPr>
        <p:spPr>
          <a:xfrm>
            <a:off x="457200" y="607219"/>
            <a:ext cx="8229600" cy="39291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0"/>
          <p:cNvSpPr/>
          <p:nvPr/>
        </p:nvSpPr>
        <p:spPr>
          <a:xfrm>
            <a:off x="814388" y="964406"/>
            <a:ext cx="7515300" cy="400200"/>
          </a:xfrm>
          <a:prstGeom prst="rect">
            <a:avLst/>
          </a:prstGeom>
          <a:noFill/>
          <a:ln>
            <a:noFill/>
          </a:ln>
        </p:spPr>
        <p:txBody>
          <a:bodyPr anchorCtr="0" anchor="t" bIns="127500" lIns="0" spcFirstLastPara="1" rIns="0" wrap="square" tIns="0">
            <a:noAutofit/>
          </a:bodyPr>
          <a:lstStyle/>
          <a:p>
            <a:pPr indent="0" lvl="0" marL="0" marR="0" rtl="0" algn="l">
              <a:lnSpc>
                <a:spcPct val="137328"/>
              </a:lnSpc>
              <a:spcBef>
                <a:spcPts val="0"/>
              </a:spcBef>
              <a:spcAft>
                <a:spcPts val="0"/>
              </a:spcAft>
              <a:buClr>
                <a:srgbClr val="FF4500"/>
              </a:buClr>
              <a:buSzPts val="1602"/>
              <a:buFont typeface="Orbitron"/>
              <a:buNone/>
            </a:pPr>
            <a:r>
              <a:rPr b="1" lang="en-US" sz="1602">
                <a:solidFill>
                  <a:srgbClr val="FF4500"/>
                </a:solidFill>
                <a:latin typeface="Orbitron"/>
                <a:ea typeface="Orbitron"/>
                <a:cs typeface="Orbitron"/>
                <a:sym typeface="Orbitron"/>
              </a:rPr>
              <a:t>AUTOMATION RULES </a:t>
            </a:r>
            <a:r>
              <a:rPr b="1" lang="en-US" sz="1602">
                <a:solidFill>
                  <a:srgbClr val="FF4500"/>
                </a:solidFill>
                <a:latin typeface="Orbitron"/>
                <a:ea typeface="Orbitron"/>
                <a:cs typeface="Orbitron"/>
                <a:sym typeface="Orbitron"/>
              </a:rPr>
              <a:t>SERVICE</a:t>
            </a:r>
            <a:endParaRPr b="0" i="0" sz="1602" u="none" cap="none" strike="noStrike">
              <a:solidFill>
                <a:schemeClr val="dk1"/>
              </a:solidFill>
              <a:latin typeface="Calibri"/>
              <a:ea typeface="Calibri"/>
              <a:cs typeface="Calibri"/>
              <a:sym typeface="Calibri"/>
            </a:endParaRPr>
          </a:p>
        </p:txBody>
      </p:sp>
      <p:sp>
        <p:nvSpPr>
          <p:cNvPr id="446" name="Google Shape;446;p20"/>
          <p:cNvSpPr/>
          <p:nvPr/>
        </p:nvSpPr>
        <p:spPr>
          <a:xfrm>
            <a:off x="814325" y="1605550"/>
            <a:ext cx="6744600" cy="205800"/>
          </a:xfrm>
          <a:prstGeom prst="rect">
            <a:avLst/>
          </a:prstGeom>
          <a:noFill/>
          <a:ln>
            <a:noFill/>
          </a:ln>
        </p:spPr>
        <p:txBody>
          <a:bodyPr anchorCtr="0" anchor="t" bIns="0" lIns="0" spcFirstLastPara="1" rIns="0" wrap="square" tIns="0">
            <a:noAutofit/>
          </a:bodyPr>
          <a:lstStyle/>
          <a:p>
            <a:pPr indent="0" lvl="0" marL="0" marR="0" rtl="0" algn="just">
              <a:lnSpc>
                <a:spcPct val="169851"/>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The automation rules service maintains a core part of the system, by managing and persisting the automation rules that make</a:t>
            </a:r>
            <a:endParaRPr b="0" i="0" sz="942" u="none" cap="none" strike="noStrike">
              <a:solidFill>
                <a:schemeClr val="dk1"/>
              </a:solidFill>
              <a:latin typeface="Calibri"/>
              <a:ea typeface="Calibri"/>
              <a:cs typeface="Calibri"/>
              <a:sym typeface="Calibri"/>
            </a:endParaRPr>
          </a:p>
        </p:txBody>
      </p:sp>
      <p:sp>
        <p:nvSpPr>
          <p:cNvPr id="447" name="Google Shape;447;p20"/>
          <p:cNvSpPr/>
          <p:nvPr/>
        </p:nvSpPr>
        <p:spPr>
          <a:xfrm>
            <a:off x="814400" y="1804334"/>
            <a:ext cx="6744600" cy="5736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sure it correctly responds to specific situations detected by the sensors with the actuators it has available. For this reason, whenever it receives updates from the sensor state queue, it evaluates them against all the rules it has stored and decides if a rule needs to be fired. If so, it sends a message to the converter service to toggle the relevant actuator.</a:t>
            </a:r>
            <a:endParaRPr sz="942">
              <a:solidFill>
                <a:srgbClr val="E0E0E0"/>
              </a:solidFill>
              <a:latin typeface="Roboto"/>
              <a:ea typeface="Roboto"/>
              <a:cs typeface="Roboto"/>
              <a:sym typeface="Roboto"/>
            </a:endParaRPr>
          </a:p>
        </p:txBody>
      </p:sp>
      <p:sp>
        <p:nvSpPr>
          <p:cNvPr id="448" name="Google Shape;448;p20"/>
          <p:cNvSpPr/>
          <p:nvPr/>
        </p:nvSpPr>
        <p:spPr>
          <a:xfrm>
            <a:off x="814400" y="2536684"/>
            <a:ext cx="6744600" cy="573600"/>
          </a:xfrm>
          <a:prstGeom prst="rect">
            <a:avLst/>
          </a:prstGeom>
          <a:noFill/>
          <a:ln>
            <a:noFill/>
          </a:ln>
        </p:spPr>
        <p:txBody>
          <a:bodyPr anchorCtr="0" anchor="t" bIns="0" lIns="0" spcFirstLastPara="1" rIns="0" wrap="square" tIns="0">
            <a:noAutofit/>
          </a:bodyPr>
          <a:lstStyle/>
          <a:p>
            <a:pPr indent="0" lvl="0" marL="0" rtl="0" algn="just">
              <a:lnSpc>
                <a:spcPct val="140000"/>
              </a:lnSpc>
              <a:spcBef>
                <a:spcPts val="0"/>
              </a:spcBef>
              <a:spcAft>
                <a:spcPts val="0"/>
              </a:spcAft>
              <a:buClr>
                <a:schemeClr val="dk1"/>
              </a:buClr>
              <a:buSzPts val="1100"/>
              <a:buFont typeface="Arial"/>
              <a:buNone/>
            </a:pPr>
            <a:r>
              <a:rPr lang="en-US" sz="942">
                <a:solidFill>
                  <a:srgbClr val="E0E0E0"/>
                </a:solidFill>
                <a:latin typeface="Roboto"/>
                <a:ea typeface="Roboto"/>
                <a:cs typeface="Roboto"/>
                <a:sym typeface="Roboto"/>
              </a:rPr>
              <a:t>Internally, it uses SQLite to store automation rules, making sure that they don’t go lost even if the system goes down. Additionally, it stores metadata about when the rules were fired, and why.</a:t>
            </a:r>
            <a:endParaRPr>
              <a:solidFill>
                <a:schemeClr val="dk1"/>
              </a:solidFill>
            </a:endParaRPr>
          </a:p>
          <a:p>
            <a:pPr indent="0" lvl="0" marL="0" marR="0" rtl="0" algn="just">
              <a:lnSpc>
                <a:spcPct val="140000"/>
              </a:lnSpc>
              <a:spcBef>
                <a:spcPts val="0"/>
              </a:spcBef>
              <a:spcAft>
                <a:spcPts val="0"/>
              </a:spcAft>
              <a:buClr>
                <a:srgbClr val="E0E0E0"/>
              </a:buClr>
              <a:buSzPts val="942"/>
              <a:buFont typeface="Roboto"/>
              <a:buNone/>
            </a:pPr>
            <a:r>
              <a:t/>
            </a:r>
            <a:endParaRPr sz="942">
              <a:solidFill>
                <a:srgbClr val="E0E0E0"/>
              </a:solidFill>
              <a:latin typeface="Roboto"/>
              <a:ea typeface="Roboto"/>
              <a:cs typeface="Roboto"/>
              <a:sym typeface="Roboto"/>
            </a:endParaRPr>
          </a:p>
        </p:txBody>
      </p:sp>
      <p:sp>
        <p:nvSpPr>
          <p:cNvPr id="449" name="Google Shape;449;p20"/>
          <p:cNvSpPr/>
          <p:nvPr/>
        </p:nvSpPr>
        <p:spPr>
          <a:xfrm>
            <a:off x="814325" y="3096034"/>
            <a:ext cx="6744600" cy="573600"/>
          </a:xfrm>
          <a:prstGeom prst="rect">
            <a:avLst/>
          </a:prstGeom>
          <a:noFill/>
          <a:ln>
            <a:noFill/>
          </a:ln>
        </p:spPr>
        <p:txBody>
          <a:bodyPr anchorCtr="0" anchor="t" bIns="0" lIns="0" spcFirstLastPara="1" rIns="0" wrap="square" tIns="0">
            <a:noAutofit/>
          </a:bodyPr>
          <a:lstStyle/>
          <a:p>
            <a:pPr indent="0" lvl="0" marL="0" marR="0" rtl="0" algn="just">
              <a:lnSpc>
                <a:spcPct val="140000"/>
              </a:lnSpc>
              <a:spcBef>
                <a:spcPts val="0"/>
              </a:spcBef>
              <a:spcAft>
                <a:spcPts val="0"/>
              </a:spcAft>
              <a:buClr>
                <a:srgbClr val="E0E0E0"/>
              </a:buClr>
              <a:buSzPts val="942"/>
              <a:buFont typeface="Roboto"/>
              <a:buNone/>
            </a:pPr>
            <a:r>
              <a:rPr lang="en-US" sz="942">
                <a:solidFill>
                  <a:srgbClr val="E0E0E0"/>
                </a:solidFill>
                <a:latin typeface="Roboto"/>
                <a:ea typeface="Roboto"/>
                <a:cs typeface="Roboto"/>
                <a:sym typeface="Roboto"/>
              </a:rPr>
              <a:t>For a frontend, it provides a rich API to view, edit and delete all rules, as well as consulting the aforementioned logging data it has collected; like the other services, it also provides a description of all this in a standardized OpenAPI format.</a:t>
            </a:r>
            <a:endParaRPr sz="942">
              <a:solidFill>
                <a:srgbClr val="E0E0E0"/>
              </a:solidFill>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pic>
        <p:nvPicPr>
          <p:cNvPr descr="preencoded.png" id="455" name="Google Shape;455;p21"/>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56" name="Google Shape;456;p21"/>
          <p:cNvSpPr/>
          <p:nvPr/>
        </p:nvSpPr>
        <p:spPr>
          <a:xfrm>
            <a:off x="6606183" y="214313"/>
            <a:ext cx="2252067"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TECH_STACK // REL_3.3.2</a:t>
            </a:r>
            <a:endParaRPr b="0" i="0" sz="621" u="none" cap="none" strike="noStrike">
              <a:solidFill>
                <a:schemeClr val="dk1"/>
              </a:solidFill>
              <a:latin typeface="Calibri"/>
              <a:ea typeface="Calibri"/>
              <a:cs typeface="Calibri"/>
              <a:sym typeface="Calibri"/>
            </a:endParaRPr>
          </a:p>
        </p:txBody>
      </p:sp>
      <p:sp>
        <p:nvSpPr>
          <p:cNvPr id="457" name="Google Shape;457;p21"/>
          <p:cNvSpPr/>
          <p:nvPr/>
        </p:nvSpPr>
        <p:spPr>
          <a:xfrm>
            <a:off x="457200" y="428625"/>
            <a:ext cx="8229600" cy="428625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21"/>
          <p:cNvSpPr/>
          <p:nvPr/>
        </p:nvSpPr>
        <p:spPr>
          <a:xfrm>
            <a:off x="742950" y="714375"/>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A</a:t>
            </a:r>
            <a:r>
              <a:rPr b="1" lang="en-US" sz="1602">
                <a:solidFill>
                  <a:srgbClr val="FF4500"/>
                </a:solidFill>
                <a:latin typeface="Orbitron"/>
                <a:ea typeface="Orbitron"/>
                <a:cs typeface="Orbitron"/>
                <a:sym typeface="Orbitron"/>
              </a:rPr>
              <a:t>UTOMATION RULES - </a:t>
            </a:r>
            <a:r>
              <a:rPr b="1" i="0" lang="en-US" sz="1602" u="none" cap="none" strike="noStrike">
                <a:solidFill>
                  <a:srgbClr val="FF4500"/>
                </a:solidFill>
                <a:latin typeface="Orbitron"/>
                <a:ea typeface="Orbitron"/>
                <a:cs typeface="Orbitron"/>
                <a:sym typeface="Orbitron"/>
              </a:rPr>
              <a:t>TECHNOLOGY STACK</a:t>
            </a:r>
            <a:endParaRPr b="0" i="0" sz="1602" u="none" cap="none" strike="noStrike">
              <a:solidFill>
                <a:schemeClr val="dk1"/>
              </a:solidFill>
              <a:latin typeface="Calibri"/>
              <a:ea typeface="Calibri"/>
              <a:cs typeface="Calibri"/>
              <a:sym typeface="Calibri"/>
            </a:endParaRPr>
          </a:p>
        </p:txBody>
      </p:sp>
      <p:sp>
        <p:nvSpPr>
          <p:cNvPr id="459" name="Google Shape;459;p21"/>
          <p:cNvSpPr/>
          <p:nvPr/>
        </p:nvSpPr>
        <p:spPr>
          <a:xfrm>
            <a:off x="742950" y="1293019"/>
            <a:ext cx="2457450" cy="85725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60" name="Google Shape;460;p21"/>
          <p:cNvPicPr preferRelativeResize="0"/>
          <p:nvPr/>
        </p:nvPicPr>
        <p:blipFill rotWithShape="1">
          <a:blip r:embed="rId4">
            <a:alphaModFix/>
          </a:blip>
          <a:srcRect b="0" l="0" r="0" t="0"/>
          <a:stretch/>
        </p:blipFill>
        <p:spPr>
          <a:xfrm>
            <a:off x="850106" y="1400175"/>
            <a:ext cx="178594" cy="142875"/>
          </a:xfrm>
          <a:prstGeom prst="rect">
            <a:avLst/>
          </a:prstGeom>
          <a:noFill/>
          <a:ln>
            <a:noFill/>
          </a:ln>
        </p:spPr>
      </p:pic>
      <p:sp>
        <p:nvSpPr>
          <p:cNvPr id="461" name="Google Shape;461;p21"/>
          <p:cNvSpPr/>
          <p:nvPr/>
        </p:nvSpPr>
        <p:spPr>
          <a:xfrm>
            <a:off x="1100149" y="1408200"/>
            <a:ext cx="1743000" cy="108900"/>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JAVA 21 + LOMBOK + JACKSON</a:t>
            </a:r>
            <a:endParaRPr b="0" i="0" sz="727" u="none" cap="none" strike="noStrike">
              <a:solidFill>
                <a:schemeClr val="dk1"/>
              </a:solidFill>
              <a:latin typeface="Calibri"/>
              <a:ea typeface="Calibri"/>
              <a:cs typeface="Calibri"/>
              <a:sym typeface="Calibri"/>
            </a:endParaRPr>
          </a:p>
        </p:txBody>
      </p:sp>
      <p:sp>
        <p:nvSpPr>
          <p:cNvPr id="462" name="Google Shape;462;p21"/>
          <p:cNvSpPr/>
          <p:nvPr/>
        </p:nvSpPr>
        <p:spPr>
          <a:xfrm>
            <a:off x="850106" y="1614488"/>
            <a:ext cx="2243138"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lang="en-US" sz="674">
                <a:solidFill>
                  <a:srgbClr val="E0E0E0"/>
                </a:solidFill>
                <a:latin typeface="Roboto"/>
                <a:ea typeface="Roboto"/>
                <a:cs typeface="Roboto"/>
                <a:sym typeface="Roboto"/>
              </a:rPr>
              <a:t>Industry-standard language, with libraries added specifically for boilerplate reduction.</a:t>
            </a:r>
            <a:endParaRPr b="0" i="0" sz="674" u="none" cap="none" strike="noStrike">
              <a:solidFill>
                <a:schemeClr val="dk1"/>
              </a:solidFill>
              <a:latin typeface="Calibri"/>
              <a:ea typeface="Calibri"/>
              <a:cs typeface="Calibri"/>
              <a:sym typeface="Calibri"/>
            </a:endParaRPr>
          </a:p>
        </p:txBody>
      </p:sp>
      <p:sp>
        <p:nvSpPr>
          <p:cNvPr id="463" name="Google Shape;463;p21"/>
          <p:cNvSpPr/>
          <p:nvPr/>
        </p:nvSpPr>
        <p:spPr>
          <a:xfrm>
            <a:off x="3343275" y="1293019"/>
            <a:ext cx="2457450" cy="85725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64" name="Google Shape;464;p21"/>
          <p:cNvPicPr preferRelativeResize="0"/>
          <p:nvPr/>
        </p:nvPicPr>
        <p:blipFill rotWithShape="1">
          <a:blip r:embed="rId5">
            <a:alphaModFix/>
          </a:blip>
          <a:srcRect b="0" l="0" r="0" t="0"/>
          <a:stretch/>
        </p:blipFill>
        <p:spPr>
          <a:xfrm>
            <a:off x="3450431" y="1400175"/>
            <a:ext cx="178594" cy="142875"/>
          </a:xfrm>
          <a:prstGeom prst="rect">
            <a:avLst/>
          </a:prstGeom>
          <a:noFill/>
          <a:ln>
            <a:noFill/>
          </a:ln>
        </p:spPr>
      </p:pic>
      <p:sp>
        <p:nvSpPr>
          <p:cNvPr id="465" name="Google Shape;465;p21"/>
          <p:cNvSpPr/>
          <p:nvPr/>
        </p:nvSpPr>
        <p:spPr>
          <a:xfrm>
            <a:off x="3700463" y="1408212"/>
            <a:ext cx="1109067"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SPRING BOOT 3.3.2</a:t>
            </a:r>
            <a:endParaRPr b="0" i="0" sz="727" u="none" cap="none" strike="noStrike">
              <a:solidFill>
                <a:schemeClr val="dk1"/>
              </a:solidFill>
              <a:latin typeface="Calibri"/>
              <a:ea typeface="Calibri"/>
              <a:cs typeface="Calibri"/>
              <a:sym typeface="Calibri"/>
            </a:endParaRPr>
          </a:p>
        </p:txBody>
      </p:sp>
      <p:sp>
        <p:nvSpPr>
          <p:cNvPr id="466" name="Google Shape;466;p21"/>
          <p:cNvSpPr/>
          <p:nvPr/>
        </p:nvSpPr>
        <p:spPr>
          <a:xfrm>
            <a:off x="3450431" y="1614488"/>
            <a:ext cx="2243138"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Spring Web, JMS, and JDBC modules.</a:t>
            </a:r>
            <a:endParaRPr b="0" i="0" sz="674" u="none" cap="none" strike="noStrike">
              <a:solidFill>
                <a:schemeClr val="dk1"/>
              </a:solidFill>
              <a:latin typeface="Calibri"/>
              <a:ea typeface="Calibri"/>
              <a:cs typeface="Calibri"/>
              <a:sym typeface="Calibri"/>
            </a:endParaRPr>
          </a:p>
        </p:txBody>
      </p:sp>
      <p:sp>
        <p:nvSpPr>
          <p:cNvPr id="467" name="Google Shape;467;p21"/>
          <p:cNvSpPr/>
          <p:nvPr/>
        </p:nvSpPr>
        <p:spPr>
          <a:xfrm>
            <a:off x="5943600" y="1293019"/>
            <a:ext cx="2457450" cy="857250"/>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68" name="Google Shape;468;p21"/>
          <p:cNvPicPr preferRelativeResize="0"/>
          <p:nvPr/>
        </p:nvPicPr>
        <p:blipFill rotWithShape="1">
          <a:blip r:embed="rId6">
            <a:alphaModFix/>
          </a:blip>
          <a:srcRect b="0" l="0" r="0" t="0"/>
          <a:stretch/>
        </p:blipFill>
        <p:spPr>
          <a:xfrm>
            <a:off x="6050756" y="1400175"/>
            <a:ext cx="178594" cy="142875"/>
          </a:xfrm>
          <a:prstGeom prst="rect">
            <a:avLst/>
          </a:prstGeom>
          <a:noFill/>
          <a:ln>
            <a:noFill/>
          </a:ln>
        </p:spPr>
      </p:pic>
      <p:sp>
        <p:nvSpPr>
          <p:cNvPr id="469" name="Google Shape;469;p21"/>
          <p:cNvSpPr/>
          <p:nvPr/>
        </p:nvSpPr>
        <p:spPr>
          <a:xfrm>
            <a:off x="6300788" y="1408212"/>
            <a:ext cx="842963"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SQLITE (JDBC)</a:t>
            </a:r>
            <a:endParaRPr b="0" i="0" sz="727" u="none" cap="none" strike="noStrike">
              <a:solidFill>
                <a:schemeClr val="dk1"/>
              </a:solidFill>
              <a:latin typeface="Calibri"/>
              <a:ea typeface="Calibri"/>
              <a:cs typeface="Calibri"/>
              <a:sym typeface="Calibri"/>
            </a:endParaRPr>
          </a:p>
        </p:txBody>
      </p:sp>
      <p:sp>
        <p:nvSpPr>
          <p:cNvPr id="470" name="Google Shape;470;p21"/>
          <p:cNvSpPr/>
          <p:nvPr/>
        </p:nvSpPr>
        <p:spPr>
          <a:xfrm>
            <a:off x="6050756" y="1614488"/>
            <a:ext cx="2243138"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Lightweight embedded persistent storage.</a:t>
            </a:r>
            <a:endParaRPr b="0" i="0" sz="674"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5" name="Shape 475"/>
        <p:cNvGrpSpPr/>
        <p:nvPr/>
      </p:nvGrpSpPr>
      <p:grpSpPr>
        <a:xfrm>
          <a:off x="0" y="0"/>
          <a:ext cx="0" cy="0"/>
          <a:chOff x="0" y="0"/>
          <a:chExt cx="0" cy="0"/>
        </a:xfrm>
      </p:grpSpPr>
      <p:pic>
        <p:nvPicPr>
          <p:cNvPr descr="preencoded.png" id="476" name="Google Shape;476;p22"/>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7" name="Google Shape;477;p22"/>
          <p:cNvSpPr/>
          <p:nvPr/>
        </p:nvSpPr>
        <p:spPr>
          <a:xfrm>
            <a:off x="6693694" y="214313"/>
            <a:ext cx="2164556"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REST_API // RULE_MGMT</a:t>
            </a:r>
            <a:endParaRPr b="0" i="0" sz="621" u="none" cap="none" strike="noStrike">
              <a:solidFill>
                <a:schemeClr val="dk1"/>
              </a:solidFill>
              <a:latin typeface="Calibri"/>
              <a:ea typeface="Calibri"/>
              <a:cs typeface="Calibri"/>
              <a:sym typeface="Calibri"/>
            </a:endParaRPr>
          </a:p>
        </p:txBody>
      </p:sp>
      <p:sp>
        <p:nvSpPr>
          <p:cNvPr id="478" name="Google Shape;478;p22"/>
          <p:cNvSpPr/>
          <p:nvPr/>
        </p:nvSpPr>
        <p:spPr>
          <a:xfrm>
            <a:off x="457200" y="428625"/>
            <a:ext cx="8229600" cy="428625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2"/>
          <p:cNvSpPr/>
          <p:nvPr/>
        </p:nvSpPr>
        <p:spPr>
          <a:xfrm>
            <a:off x="742950" y="714375"/>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REST API &amp; RULE DEFINITION</a:t>
            </a:r>
            <a:endParaRPr b="0" i="0" sz="1602" u="none" cap="none" strike="noStrike">
              <a:solidFill>
                <a:schemeClr val="dk1"/>
              </a:solidFill>
              <a:latin typeface="Calibri"/>
              <a:ea typeface="Calibri"/>
              <a:cs typeface="Calibri"/>
              <a:sym typeface="Calibri"/>
            </a:endParaRPr>
          </a:p>
        </p:txBody>
      </p:sp>
      <p:sp>
        <p:nvSpPr>
          <p:cNvPr id="480" name="Google Shape;480;p22"/>
          <p:cNvSpPr/>
          <p:nvPr/>
        </p:nvSpPr>
        <p:spPr>
          <a:xfrm>
            <a:off x="742950" y="1150144"/>
            <a:ext cx="7658100" cy="16966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00FFFF"/>
              </a:buClr>
              <a:buSzPts val="942"/>
              <a:buFont typeface="Roboto Mono"/>
              <a:buNone/>
            </a:pPr>
            <a:r>
              <a:rPr b="0" i="0" lang="en-US" sz="942" u="none" cap="none" strike="noStrike">
                <a:solidFill>
                  <a:srgbClr val="00FFFF"/>
                </a:solidFill>
                <a:latin typeface="Roboto Mono"/>
                <a:ea typeface="Roboto Mono"/>
                <a:cs typeface="Roboto Mono"/>
                <a:sym typeface="Roboto Mono"/>
              </a:rPr>
              <a:t>ENDPOINT: /API/RULES</a:t>
            </a:r>
            <a:endParaRPr b="0" i="0" sz="942" u="none" cap="none" strike="noStrike">
              <a:solidFill>
                <a:schemeClr val="dk1"/>
              </a:solidFill>
              <a:latin typeface="Calibri"/>
              <a:ea typeface="Calibri"/>
              <a:cs typeface="Calibri"/>
              <a:sym typeface="Calibri"/>
            </a:endParaRPr>
          </a:p>
        </p:txBody>
      </p:sp>
      <p:sp>
        <p:nvSpPr>
          <p:cNvPr id="481" name="Google Shape;481;p22"/>
          <p:cNvSpPr/>
          <p:nvPr/>
        </p:nvSpPr>
        <p:spPr>
          <a:xfrm>
            <a:off x="742950" y="1462683"/>
            <a:ext cx="7658100" cy="171450"/>
          </a:xfrm>
          <a:prstGeom prst="rect">
            <a:avLst/>
          </a:prstGeom>
          <a:noFill/>
          <a:ln>
            <a:noFill/>
          </a:ln>
        </p:spPr>
        <p:txBody>
          <a:bodyPr anchorCtr="0" anchor="t" bIns="0" lIns="0" spcFirstLastPara="1" rIns="0" wrap="square" tIns="0">
            <a:noAutofit/>
          </a:bodyPr>
          <a:lstStyle/>
          <a:p>
            <a:pPr indent="0" lvl="0" marL="0" marR="0" rtl="0" algn="l">
              <a:lnSpc>
                <a:spcPct val="167865"/>
              </a:lnSpc>
              <a:spcBef>
                <a:spcPts val="0"/>
              </a:spcBef>
              <a:spcAft>
                <a:spcPts val="0"/>
              </a:spcAft>
              <a:buClr>
                <a:srgbClr val="E0E0E0"/>
              </a:buClr>
              <a:buSzPts val="834"/>
              <a:buFont typeface="Roboto"/>
              <a:buNone/>
            </a:pPr>
            <a:r>
              <a:rPr b="0" i="0" lang="en-US" sz="834" u="none" cap="none" strike="noStrike">
                <a:solidFill>
                  <a:srgbClr val="E0E0E0"/>
                </a:solidFill>
                <a:latin typeface="Roboto"/>
                <a:ea typeface="Roboto"/>
                <a:cs typeface="Roboto"/>
                <a:sym typeface="Roboto"/>
              </a:rPr>
              <a:t>Standard CRUD semantics for comprehensive rule management: list, get by ID, create, update, enable/disable, and delete rules.</a:t>
            </a:r>
            <a:endParaRPr b="0" i="0" sz="834" u="none" cap="none" strike="noStrike">
              <a:solidFill>
                <a:schemeClr val="dk1"/>
              </a:solidFill>
              <a:latin typeface="Calibri"/>
              <a:ea typeface="Calibri"/>
              <a:cs typeface="Calibri"/>
              <a:sym typeface="Calibri"/>
            </a:endParaRPr>
          </a:p>
        </p:txBody>
      </p:sp>
      <p:sp>
        <p:nvSpPr>
          <p:cNvPr id="482" name="Google Shape;482;p22"/>
          <p:cNvSpPr/>
          <p:nvPr/>
        </p:nvSpPr>
        <p:spPr>
          <a:xfrm>
            <a:off x="742950" y="1812727"/>
            <a:ext cx="3775472" cy="428625"/>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22"/>
          <p:cNvSpPr/>
          <p:nvPr/>
        </p:nvSpPr>
        <p:spPr>
          <a:xfrm>
            <a:off x="742950" y="1812727"/>
            <a:ext cx="21431" cy="42862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2"/>
          <p:cNvSpPr/>
          <p:nvPr/>
        </p:nvSpPr>
        <p:spPr>
          <a:xfrm>
            <a:off x="828675" y="1898452"/>
            <a:ext cx="360402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GROUP_ID &amp; METRIC_ID</a:t>
            </a:r>
            <a:endParaRPr b="0" i="0" sz="727" u="none" cap="none" strike="noStrike">
              <a:solidFill>
                <a:schemeClr val="dk1"/>
              </a:solidFill>
              <a:latin typeface="Calibri"/>
              <a:ea typeface="Calibri"/>
              <a:cs typeface="Calibri"/>
              <a:sym typeface="Calibri"/>
            </a:endParaRPr>
          </a:p>
        </p:txBody>
      </p:sp>
      <p:sp>
        <p:nvSpPr>
          <p:cNvPr id="485" name="Google Shape;485;p22"/>
          <p:cNvSpPr/>
          <p:nvPr/>
        </p:nvSpPr>
        <p:spPr>
          <a:xfrm>
            <a:off x="828675" y="2060972"/>
            <a:ext cx="3604022"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Identifies metric within sensor group.</a:t>
            </a:r>
            <a:endParaRPr b="0" i="0" sz="674" u="none" cap="none" strike="noStrike">
              <a:solidFill>
                <a:schemeClr val="dk1"/>
              </a:solidFill>
              <a:latin typeface="Calibri"/>
              <a:ea typeface="Calibri"/>
              <a:cs typeface="Calibri"/>
              <a:sym typeface="Calibri"/>
            </a:endParaRPr>
          </a:p>
        </p:txBody>
      </p:sp>
      <p:sp>
        <p:nvSpPr>
          <p:cNvPr id="486" name="Google Shape;486;p22"/>
          <p:cNvSpPr/>
          <p:nvPr/>
        </p:nvSpPr>
        <p:spPr>
          <a:xfrm>
            <a:off x="4625578" y="1812727"/>
            <a:ext cx="3775472" cy="428625"/>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22"/>
          <p:cNvSpPr/>
          <p:nvPr/>
        </p:nvSpPr>
        <p:spPr>
          <a:xfrm>
            <a:off x="4625578" y="1812727"/>
            <a:ext cx="21431" cy="42862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2"/>
          <p:cNvSpPr/>
          <p:nvPr/>
        </p:nvSpPr>
        <p:spPr>
          <a:xfrm>
            <a:off x="4711303" y="1898452"/>
            <a:ext cx="360402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OPERATOR</a:t>
            </a:r>
            <a:endParaRPr b="0" i="0" sz="727" u="none" cap="none" strike="noStrike">
              <a:solidFill>
                <a:schemeClr val="dk1"/>
              </a:solidFill>
              <a:latin typeface="Calibri"/>
              <a:ea typeface="Calibri"/>
              <a:cs typeface="Calibri"/>
              <a:sym typeface="Calibri"/>
            </a:endParaRPr>
          </a:p>
        </p:txBody>
      </p:sp>
      <p:sp>
        <p:nvSpPr>
          <p:cNvPr id="489" name="Google Shape;489;p22"/>
          <p:cNvSpPr/>
          <p:nvPr/>
        </p:nvSpPr>
        <p:spPr>
          <a:xfrm>
            <a:off x="4711303" y="2075259"/>
            <a:ext cx="1128713" cy="108942"/>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Comparison operator (e.g.,</a:t>
            </a:r>
            <a:endParaRPr b="0" i="0" sz="674" u="none" cap="none" strike="noStrike">
              <a:solidFill>
                <a:schemeClr val="dk1"/>
              </a:solidFill>
              <a:latin typeface="Calibri"/>
              <a:ea typeface="Calibri"/>
              <a:cs typeface="Calibri"/>
              <a:sym typeface="Calibri"/>
            </a:endParaRPr>
          </a:p>
        </p:txBody>
      </p:sp>
      <p:sp>
        <p:nvSpPr>
          <p:cNvPr id="490" name="Google Shape;490;p22"/>
          <p:cNvSpPr/>
          <p:nvPr/>
        </p:nvSpPr>
        <p:spPr>
          <a:xfrm>
            <a:off x="5840016" y="2057400"/>
            <a:ext cx="167878" cy="135731"/>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2"/>
          <p:cNvSpPr/>
          <p:nvPr/>
        </p:nvSpPr>
        <p:spPr>
          <a:xfrm>
            <a:off x="5840016" y="2057400"/>
            <a:ext cx="167878" cy="135731"/>
          </a:xfrm>
          <a:prstGeom prst="rect">
            <a:avLst/>
          </a:prstGeom>
          <a:noFill/>
          <a:ln>
            <a:noFill/>
          </a:ln>
        </p:spPr>
        <p:txBody>
          <a:bodyPr anchorCtr="0" anchor="t" bIns="8500" lIns="34025" spcFirstLastPara="1" rIns="34025" wrap="square" tIns="8500">
            <a:noAutofit/>
          </a:bodyPr>
          <a:lstStyle/>
          <a:p>
            <a:pPr indent="0" lvl="0" marL="0" marR="0" rtl="0" algn="l">
              <a:lnSpc>
                <a:spcPct val="148367"/>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lt</a:t>
            </a:r>
            <a:endParaRPr b="0" i="0" sz="674" u="none" cap="none" strike="noStrike">
              <a:solidFill>
                <a:schemeClr val="dk1"/>
              </a:solidFill>
              <a:latin typeface="Calibri"/>
              <a:ea typeface="Calibri"/>
              <a:cs typeface="Calibri"/>
              <a:sym typeface="Calibri"/>
            </a:endParaRPr>
          </a:p>
        </p:txBody>
      </p:sp>
      <p:sp>
        <p:nvSpPr>
          <p:cNvPr id="492" name="Google Shape;492;p22"/>
          <p:cNvSpPr/>
          <p:nvPr/>
        </p:nvSpPr>
        <p:spPr>
          <a:xfrm>
            <a:off x="6007894" y="2075259"/>
            <a:ext cx="41077" cy="108942"/>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493" name="Google Shape;493;p22"/>
          <p:cNvSpPr/>
          <p:nvPr/>
        </p:nvSpPr>
        <p:spPr>
          <a:xfrm>
            <a:off x="6048970" y="2057400"/>
            <a:ext cx="167878" cy="135731"/>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2"/>
          <p:cNvSpPr/>
          <p:nvPr/>
        </p:nvSpPr>
        <p:spPr>
          <a:xfrm>
            <a:off x="6048970" y="2057400"/>
            <a:ext cx="167878" cy="135731"/>
          </a:xfrm>
          <a:prstGeom prst="rect">
            <a:avLst/>
          </a:prstGeom>
          <a:noFill/>
          <a:ln>
            <a:noFill/>
          </a:ln>
        </p:spPr>
        <p:txBody>
          <a:bodyPr anchorCtr="0" anchor="t" bIns="8500" lIns="34025" spcFirstLastPara="1" rIns="34025" wrap="square" tIns="8500">
            <a:noAutofit/>
          </a:bodyPr>
          <a:lstStyle/>
          <a:p>
            <a:pPr indent="0" lvl="0" marL="0" marR="0" rtl="0" algn="l">
              <a:lnSpc>
                <a:spcPct val="148367"/>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eq</a:t>
            </a:r>
            <a:endParaRPr b="0" i="0" sz="674" u="none" cap="none" strike="noStrike">
              <a:solidFill>
                <a:schemeClr val="dk1"/>
              </a:solidFill>
              <a:latin typeface="Calibri"/>
              <a:ea typeface="Calibri"/>
              <a:cs typeface="Calibri"/>
              <a:sym typeface="Calibri"/>
            </a:endParaRPr>
          </a:p>
        </p:txBody>
      </p:sp>
      <p:sp>
        <p:nvSpPr>
          <p:cNvPr id="495" name="Google Shape;495;p22"/>
          <p:cNvSpPr/>
          <p:nvPr/>
        </p:nvSpPr>
        <p:spPr>
          <a:xfrm>
            <a:off x="6216848" y="2075259"/>
            <a:ext cx="41077" cy="108942"/>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496" name="Google Shape;496;p22"/>
          <p:cNvSpPr/>
          <p:nvPr/>
        </p:nvSpPr>
        <p:spPr>
          <a:xfrm>
            <a:off x="6257925" y="2057400"/>
            <a:ext cx="167878" cy="135731"/>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22"/>
          <p:cNvSpPr/>
          <p:nvPr/>
        </p:nvSpPr>
        <p:spPr>
          <a:xfrm>
            <a:off x="6257925" y="2057400"/>
            <a:ext cx="167878" cy="135731"/>
          </a:xfrm>
          <a:prstGeom prst="rect">
            <a:avLst/>
          </a:prstGeom>
          <a:noFill/>
          <a:ln>
            <a:noFill/>
          </a:ln>
        </p:spPr>
        <p:txBody>
          <a:bodyPr anchorCtr="0" anchor="t" bIns="8500" lIns="34025" spcFirstLastPara="1" rIns="34025" wrap="square" tIns="8500">
            <a:noAutofit/>
          </a:bodyPr>
          <a:lstStyle/>
          <a:p>
            <a:pPr indent="0" lvl="0" marL="0" marR="0" rtl="0" algn="l">
              <a:lnSpc>
                <a:spcPct val="148367"/>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gt</a:t>
            </a:r>
            <a:endParaRPr b="0" i="0" sz="674" u="none" cap="none" strike="noStrike">
              <a:solidFill>
                <a:schemeClr val="dk1"/>
              </a:solidFill>
              <a:latin typeface="Calibri"/>
              <a:ea typeface="Calibri"/>
              <a:cs typeface="Calibri"/>
              <a:sym typeface="Calibri"/>
            </a:endParaRPr>
          </a:p>
        </p:txBody>
      </p:sp>
      <p:sp>
        <p:nvSpPr>
          <p:cNvPr id="498" name="Google Shape;498;p22"/>
          <p:cNvSpPr/>
          <p:nvPr/>
        </p:nvSpPr>
        <p:spPr>
          <a:xfrm>
            <a:off x="6425803" y="2075259"/>
            <a:ext cx="57150" cy="108942"/>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499" name="Google Shape;499;p22"/>
          <p:cNvSpPr/>
          <p:nvPr/>
        </p:nvSpPr>
        <p:spPr>
          <a:xfrm>
            <a:off x="742950" y="2348508"/>
            <a:ext cx="3775472" cy="428625"/>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2"/>
          <p:cNvSpPr/>
          <p:nvPr/>
        </p:nvSpPr>
        <p:spPr>
          <a:xfrm>
            <a:off x="742950" y="2348508"/>
            <a:ext cx="21431" cy="42862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2"/>
          <p:cNvSpPr/>
          <p:nvPr/>
        </p:nvSpPr>
        <p:spPr>
          <a:xfrm>
            <a:off x="828675" y="2434233"/>
            <a:ext cx="360402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COMPARE_VALUE</a:t>
            </a:r>
            <a:endParaRPr b="0" i="0" sz="727" u="none" cap="none" strike="noStrike">
              <a:solidFill>
                <a:schemeClr val="dk1"/>
              </a:solidFill>
              <a:latin typeface="Calibri"/>
              <a:ea typeface="Calibri"/>
              <a:cs typeface="Calibri"/>
              <a:sym typeface="Calibri"/>
            </a:endParaRPr>
          </a:p>
        </p:txBody>
      </p:sp>
      <p:sp>
        <p:nvSpPr>
          <p:cNvPr id="502" name="Google Shape;502;p22"/>
          <p:cNvSpPr/>
          <p:nvPr/>
        </p:nvSpPr>
        <p:spPr>
          <a:xfrm>
            <a:off x="828675" y="2596753"/>
            <a:ext cx="3604022"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Threshold for comparison (numeric or string).</a:t>
            </a:r>
            <a:endParaRPr b="0" i="0" sz="674" u="none" cap="none" strike="noStrike">
              <a:solidFill>
                <a:schemeClr val="dk1"/>
              </a:solidFill>
              <a:latin typeface="Calibri"/>
              <a:ea typeface="Calibri"/>
              <a:cs typeface="Calibri"/>
              <a:sym typeface="Calibri"/>
            </a:endParaRPr>
          </a:p>
        </p:txBody>
      </p:sp>
      <p:sp>
        <p:nvSpPr>
          <p:cNvPr id="503" name="Google Shape;503;p22"/>
          <p:cNvSpPr/>
          <p:nvPr/>
        </p:nvSpPr>
        <p:spPr>
          <a:xfrm>
            <a:off x="4625578" y="2348508"/>
            <a:ext cx="3775472" cy="428625"/>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2"/>
          <p:cNvSpPr/>
          <p:nvPr/>
        </p:nvSpPr>
        <p:spPr>
          <a:xfrm>
            <a:off x="4625578" y="2348508"/>
            <a:ext cx="21431" cy="42862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2"/>
          <p:cNvSpPr/>
          <p:nvPr/>
        </p:nvSpPr>
        <p:spPr>
          <a:xfrm>
            <a:off x="4711303" y="2434233"/>
            <a:ext cx="360402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UNIT</a:t>
            </a:r>
            <a:endParaRPr b="0" i="0" sz="727" u="none" cap="none" strike="noStrike">
              <a:solidFill>
                <a:schemeClr val="dk1"/>
              </a:solidFill>
              <a:latin typeface="Calibri"/>
              <a:ea typeface="Calibri"/>
              <a:cs typeface="Calibri"/>
              <a:sym typeface="Calibri"/>
            </a:endParaRPr>
          </a:p>
        </p:txBody>
      </p:sp>
      <p:sp>
        <p:nvSpPr>
          <p:cNvPr id="506" name="Google Shape;506;p22"/>
          <p:cNvSpPr/>
          <p:nvPr/>
        </p:nvSpPr>
        <p:spPr>
          <a:xfrm>
            <a:off x="4711303" y="2596753"/>
            <a:ext cx="3604022"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Optional unit filter for event value.</a:t>
            </a:r>
            <a:endParaRPr b="0" i="0" sz="674" u="none" cap="none" strike="noStrike">
              <a:solidFill>
                <a:schemeClr val="dk1"/>
              </a:solidFill>
              <a:latin typeface="Calibri"/>
              <a:ea typeface="Calibri"/>
              <a:cs typeface="Calibri"/>
              <a:sym typeface="Calibri"/>
            </a:endParaRPr>
          </a:p>
        </p:txBody>
      </p:sp>
      <p:sp>
        <p:nvSpPr>
          <p:cNvPr id="507" name="Google Shape;507;p22"/>
          <p:cNvSpPr/>
          <p:nvPr/>
        </p:nvSpPr>
        <p:spPr>
          <a:xfrm>
            <a:off x="742950" y="2884289"/>
            <a:ext cx="3775472" cy="428625"/>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22"/>
          <p:cNvSpPr/>
          <p:nvPr/>
        </p:nvSpPr>
        <p:spPr>
          <a:xfrm>
            <a:off x="742950" y="2884289"/>
            <a:ext cx="21431" cy="42862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2"/>
          <p:cNvSpPr/>
          <p:nvPr/>
        </p:nvSpPr>
        <p:spPr>
          <a:xfrm>
            <a:off x="828675" y="2970014"/>
            <a:ext cx="360402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ACTUATOR_ID &amp; ACTUATOR_STATE</a:t>
            </a:r>
            <a:endParaRPr b="0" i="0" sz="727" u="none" cap="none" strike="noStrike">
              <a:solidFill>
                <a:schemeClr val="dk1"/>
              </a:solidFill>
              <a:latin typeface="Calibri"/>
              <a:ea typeface="Calibri"/>
              <a:cs typeface="Calibri"/>
              <a:sym typeface="Calibri"/>
            </a:endParaRPr>
          </a:p>
        </p:txBody>
      </p:sp>
      <p:sp>
        <p:nvSpPr>
          <p:cNvPr id="510" name="Google Shape;510;p22"/>
          <p:cNvSpPr/>
          <p:nvPr/>
        </p:nvSpPr>
        <p:spPr>
          <a:xfrm>
            <a:off x="828675" y="3132534"/>
            <a:ext cx="3604022"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Target actuator and boolean state.</a:t>
            </a:r>
            <a:endParaRPr b="0" i="0" sz="674" u="none" cap="none" strike="noStrike">
              <a:solidFill>
                <a:schemeClr val="dk1"/>
              </a:solidFill>
              <a:latin typeface="Calibri"/>
              <a:ea typeface="Calibri"/>
              <a:cs typeface="Calibri"/>
              <a:sym typeface="Calibri"/>
            </a:endParaRPr>
          </a:p>
        </p:txBody>
      </p:sp>
      <p:sp>
        <p:nvSpPr>
          <p:cNvPr id="511" name="Google Shape;511;p22"/>
          <p:cNvSpPr/>
          <p:nvPr/>
        </p:nvSpPr>
        <p:spPr>
          <a:xfrm>
            <a:off x="4625578" y="2884289"/>
            <a:ext cx="3775472" cy="428625"/>
          </a:xfrm>
          <a:prstGeom prst="rect">
            <a:avLst/>
          </a:prstGeom>
          <a:solidFill>
            <a:srgbClr val="00FFFF">
              <a:alpha val="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2"/>
          <p:cNvSpPr/>
          <p:nvPr/>
        </p:nvSpPr>
        <p:spPr>
          <a:xfrm>
            <a:off x="4625578" y="2884289"/>
            <a:ext cx="21431" cy="42862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2"/>
          <p:cNvSpPr/>
          <p:nvPr/>
        </p:nvSpPr>
        <p:spPr>
          <a:xfrm>
            <a:off x="4711303" y="2970014"/>
            <a:ext cx="360402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FF4500"/>
              </a:buClr>
              <a:buSzPts val="727"/>
              <a:buFont typeface="Orbitron"/>
              <a:buNone/>
            </a:pPr>
            <a:r>
              <a:rPr b="0" i="0" lang="en-US" sz="727" u="none" cap="none" strike="noStrike">
                <a:solidFill>
                  <a:srgbClr val="FF4500"/>
                </a:solidFill>
                <a:latin typeface="Orbitron"/>
                <a:ea typeface="Orbitron"/>
                <a:cs typeface="Orbitron"/>
                <a:sym typeface="Orbitron"/>
              </a:rPr>
              <a:t>ENABLED</a:t>
            </a:r>
            <a:endParaRPr b="0" i="0" sz="727" u="none" cap="none" strike="noStrike">
              <a:solidFill>
                <a:schemeClr val="dk1"/>
              </a:solidFill>
              <a:latin typeface="Calibri"/>
              <a:ea typeface="Calibri"/>
              <a:cs typeface="Calibri"/>
              <a:sym typeface="Calibri"/>
            </a:endParaRPr>
          </a:p>
        </p:txBody>
      </p:sp>
      <p:sp>
        <p:nvSpPr>
          <p:cNvPr id="514" name="Google Shape;514;p22"/>
          <p:cNvSpPr/>
          <p:nvPr/>
        </p:nvSpPr>
        <p:spPr>
          <a:xfrm>
            <a:off x="4711303" y="3132534"/>
            <a:ext cx="3604022" cy="130011"/>
          </a:xfrm>
          <a:prstGeom prst="rect">
            <a:avLst/>
          </a:prstGeom>
          <a:noFill/>
          <a:ln>
            <a:noFill/>
          </a:ln>
        </p:spPr>
        <p:txBody>
          <a:bodyPr anchorCtr="0" anchor="t" bIns="0" lIns="0" spcFirstLastPara="1" rIns="0" wrap="square" tIns="0">
            <a:noAutofit/>
          </a:bodyPr>
          <a:lstStyle/>
          <a:p>
            <a:pPr indent="0" lvl="0" marL="0" marR="0" rtl="0" algn="l">
              <a:lnSpc>
                <a:spcPct val="148367"/>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Flag to activate/deactivate the rule.</a:t>
            </a:r>
            <a:endParaRPr b="0" i="0" sz="674" u="none" cap="none" strike="noStrike">
              <a:solidFill>
                <a:schemeClr val="dk1"/>
              </a:solidFill>
              <a:latin typeface="Calibri"/>
              <a:ea typeface="Calibri"/>
              <a:cs typeface="Calibri"/>
              <a:sym typeface="Calibri"/>
            </a:endParaRPr>
          </a:p>
        </p:txBody>
      </p:sp>
      <p:sp>
        <p:nvSpPr>
          <p:cNvPr id="515" name="Google Shape;515;p22"/>
          <p:cNvSpPr/>
          <p:nvPr/>
        </p:nvSpPr>
        <p:spPr>
          <a:xfrm>
            <a:off x="742950" y="3527227"/>
            <a:ext cx="7658100" cy="714375"/>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2"/>
          <p:cNvSpPr/>
          <p:nvPr/>
        </p:nvSpPr>
        <p:spPr>
          <a:xfrm>
            <a:off x="885825" y="3670102"/>
            <a:ext cx="7372350" cy="144661"/>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FF4500"/>
              </a:buClr>
              <a:buSzPts val="834"/>
              <a:buFont typeface="Orbitron"/>
              <a:buNone/>
            </a:pPr>
            <a:r>
              <a:rPr b="0" i="0" lang="en-US" sz="834" u="none" cap="none" strike="noStrike">
                <a:solidFill>
                  <a:srgbClr val="FF4500"/>
                </a:solidFill>
                <a:latin typeface="Orbitron"/>
                <a:ea typeface="Orbitron"/>
                <a:cs typeface="Orbitron"/>
                <a:sym typeface="Orbitron"/>
              </a:rPr>
              <a:t>VALIDATION &amp; TRACEABILITY</a:t>
            </a:r>
            <a:endParaRPr b="0" i="0" sz="834" u="none" cap="none" strike="noStrike">
              <a:solidFill>
                <a:schemeClr val="dk1"/>
              </a:solidFill>
              <a:latin typeface="Calibri"/>
              <a:ea typeface="Calibri"/>
              <a:cs typeface="Calibri"/>
              <a:sym typeface="Calibri"/>
            </a:endParaRPr>
          </a:p>
        </p:txBody>
      </p:sp>
      <p:sp>
        <p:nvSpPr>
          <p:cNvPr id="517" name="Google Shape;517;p22"/>
          <p:cNvSpPr/>
          <p:nvPr/>
        </p:nvSpPr>
        <p:spPr>
          <a:xfrm>
            <a:off x="885825" y="3886200"/>
            <a:ext cx="7372350" cy="300038"/>
          </a:xfrm>
          <a:prstGeom prst="rect">
            <a:avLst/>
          </a:prstGeom>
          <a:noFill/>
          <a:ln>
            <a:noFill/>
          </a:ln>
        </p:spPr>
        <p:txBody>
          <a:bodyPr anchorCtr="0" anchor="t" bIns="0" lIns="0" spcFirstLastPara="1" rIns="0" wrap="square" tIns="0">
            <a:noAutofit/>
          </a:bodyPr>
          <a:lstStyle/>
          <a:p>
            <a:pPr indent="0" lvl="0" marL="0" marR="0" rtl="0" algn="l">
              <a:lnSpc>
                <a:spcPct val="165061"/>
              </a:lnSpc>
              <a:spcBef>
                <a:spcPts val="0"/>
              </a:spcBef>
              <a:spcAft>
                <a:spcPts val="0"/>
              </a:spcAft>
              <a:buClr>
                <a:srgbClr val="E0E0E0"/>
              </a:buClr>
              <a:buSzPts val="727"/>
              <a:buFont typeface="Roboto"/>
              <a:buNone/>
            </a:pPr>
            <a:r>
              <a:rPr b="0" i="0" lang="en-US" sz="727" u="none" cap="none" strike="noStrike">
                <a:solidFill>
                  <a:srgbClr val="E0E0E0"/>
                </a:solidFill>
                <a:latin typeface="Roboto"/>
                <a:ea typeface="Roboto"/>
                <a:cs typeface="Roboto"/>
                <a:sym typeface="Roboto"/>
              </a:rPr>
              <a:t>Input validation is enforced via Jakarta Bean Validation (400 Bad Request for invalid inputs). All rule changes generate structured audit log entries prefixed with [AUTOMATION-AUDIT], ensuring critical configuration traceability.</a:t>
            </a:r>
            <a:endParaRPr b="0" i="0" sz="727"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pic>
        <p:nvPicPr>
          <p:cNvPr descr="preencoded.png" id="523" name="Google Shape;523;p2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524" name="Google Shape;524;p23"/>
          <p:cNvSpPr/>
          <p:nvPr/>
        </p:nvSpPr>
        <p:spPr>
          <a:xfrm>
            <a:off x="6518672" y="214313"/>
            <a:ext cx="2339578" cy="108942"/>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00FFFF"/>
              </a:buClr>
              <a:buSzPts val="621"/>
              <a:buFont typeface="Orbitron"/>
              <a:buNone/>
            </a:pPr>
            <a:r>
              <a:rPr b="0" i="0" lang="en-US" sz="621" u="none" cap="none" strike="noStrike">
                <a:solidFill>
                  <a:srgbClr val="00FFFF"/>
                </a:solidFill>
                <a:latin typeface="Orbitron"/>
                <a:ea typeface="Orbitron"/>
                <a:cs typeface="Orbitron"/>
                <a:sym typeface="Orbitron"/>
              </a:rPr>
              <a:t>MARSOPS // RULE_ENGINE // ANTI_SPAM</a:t>
            </a:r>
            <a:endParaRPr b="0" i="0" sz="621" u="none" cap="none" strike="noStrike">
              <a:solidFill>
                <a:schemeClr val="dk1"/>
              </a:solidFill>
              <a:latin typeface="Calibri"/>
              <a:ea typeface="Calibri"/>
              <a:cs typeface="Calibri"/>
              <a:sym typeface="Calibri"/>
            </a:endParaRPr>
          </a:p>
        </p:txBody>
      </p:sp>
      <p:sp>
        <p:nvSpPr>
          <p:cNvPr id="525" name="Google Shape;525;p23"/>
          <p:cNvSpPr/>
          <p:nvPr/>
        </p:nvSpPr>
        <p:spPr>
          <a:xfrm>
            <a:off x="457200" y="428625"/>
            <a:ext cx="8229600" cy="428625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3"/>
          <p:cNvSpPr/>
          <p:nvPr/>
        </p:nvSpPr>
        <p:spPr>
          <a:xfrm>
            <a:off x="742950" y="714375"/>
            <a:ext cx="7658100" cy="364331"/>
          </a:xfrm>
          <a:prstGeom prst="rect">
            <a:avLst/>
          </a:prstGeom>
          <a:noFill/>
          <a:ln>
            <a:noFill/>
          </a:ln>
        </p:spPr>
        <p:txBody>
          <a:bodyPr anchorCtr="0" anchor="t" bIns="0" lIns="0" spcFirstLastPara="1" rIns="0" wrap="square" tIns="85075">
            <a:noAutofit/>
          </a:bodyPr>
          <a:lstStyle/>
          <a:p>
            <a:pPr indent="0" lvl="0" marL="0" marR="0" rtl="0" algn="l">
              <a:lnSpc>
                <a:spcPct val="137328"/>
              </a:lnSpc>
              <a:spcBef>
                <a:spcPts val="0"/>
              </a:spcBef>
              <a:spcAft>
                <a:spcPts val="0"/>
              </a:spcAft>
              <a:buClr>
                <a:srgbClr val="FF4500"/>
              </a:buClr>
              <a:buSzPts val="1602"/>
              <a:buFont typeface="Orbitron"/>
              <a:buNone/>
            </a:pPr>
            <a:r>
              <a:rPr b="1" i="0" lang="en-US" sz="1602" u="none" cap="none" strike="noStrike">
                <a:solidFill>
                  <a:srgbClr val="FF4500"/>
                </a:solidFill>
                <a:latin typeface="Orbitron"/>
                <a:ea typeface="Orbitron"/>
                <a:cs typeface="Orbitron"/>
                <a:sym typeface="Orbitron"/>
              </a:rPr>
              <a:t>RULE ENGINE &amp; ANTI-SPAM LOGIC</a:t>
            </a:r>
            <a:endParaRPr b="0" i="0" sz="1602" u="none" cap="none" strike="noStrike">
              <a:solidFill>
                <a:schemeClr val="dk1"/>
              </a:solidFill>
              <a:latin typeface="Calibri"/>
              <a:ea typeface="Calibri"/>
              <a:cs typeface="Calibri"/>
              <a:sym typeface="Calibri"/>
            </a:endParaRPr>
          </a:p>
        </p:txBody>
      </p:sp>
      <p:sp>
        <p:nvSpPr>
          <p:cNvPr id="527" name="Google Shape;527;p23"/>
          <p:cNvSpPr/>
          <p:nvPr/>
        </p:nvSpPr>
        <p:spPr>
          <a:xfrm>
            <a:off x="742950" y="1293019"/>
            <a:ext cx="4021262"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00FFFF"/>
              </a:buClr>
              <a:buSzPts val="942"/>
              <a:buFont typeface="Orbitron"/>
              <a:buNone/>
            </a:pPr>
            <a:r>
              <a:rPr b="0" i="0" lang="en-US" sz="942" u="none" cap="none" strike="noStrike">
                <a:solidFill>
                  <a:srgbClr val="00FFFF"/>
                </a:solidFill>
                <a:latin typeface="Orbitron"/>
                <a:ea typeface="Orbitron"/>
                <a:cs typeface="Orbitron"/>
                <a:sym typeface="Orbitron"/>
              </a:rPr>
              <a:t>EXECUTION PIPELINE</a:t>
            </a:r>
            <a:endParaRPr b="0" i="0" sz="942" u="none" cap="none" strike="noStrike">
              <a:solidFill>
                <a:schemeClr val="dk1"/>
              </a:solidFill>
              <a:latin typeface="Calibri"/>
              <a:ea typeface="Calibri"/>
              <a:cs typeface="Calibri"/>
              <a:sym typeface="Calibri"/>
            </a:endParaRPr>
          </a:p>
        </p:txBody>
      </p:sp>
      <p:sp>
        <p:nvSpPr>
          <p:cNvPr id="528" name="Google Shape;528;p23"/>
          <p:cNvSpPr/>
          <p:nvPr/>
        </p:nvSpPr>
        <p:spPr>
          <a:xfrm>
            <a:off x="742950" y="1596628"/>
            <a:ext cx="4021262" cy="428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3"/>
          <p:cNvSpPr/>
          <p:nvPr/>
        </p:nvSpPr>
        <p:spPr>
          <a:xfrm>
            <a:off x="850106" y="1757363"/>
            <a:ext cx="214313" cy="178594"/>
          </a:xfrm>
          <a:prstGeom prst="rect">
            <a:avLst/>
          </a:prstGeom>
          <a:noFill/>
          <a:ln>
            <a:noFill/>
          </a:ln>
        </p:spPr>
        <p:txBody>
          <a:bodyPr anchorCtr="0" anchor="t" bIns="0" lIns="0" spcFirstLastPara="1" rIns="0" wrap="square" tIns="0">
            <a:noAutofit/>
          </a:bodyPr>
          <a:lstStyle/>
          <a:p>
            <a:pPr indent="0" lvl="0" marL="0" marR="0" rtl="0" algn="l">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1</a:t>
            </a:r>
            <a:endParaRPr b="0" i="0" sz="1050" u="none" cap="none" strike="noStrike">
              <a:solidFill>
                <a:schemeClr val="dk1"/>
              </a:solidFill>
              <a:latin typeface="Calibri"/>
              <a:ea typeface="Calibri"/>
              <a:cs typeface="Calibri"/>
              <a:sym typeface="Calibri"/>
            </a:endParaRPr>
          </a:p>
        </p:txBody>
      </p:sp>
      <p:sp>
        <p:nvSpPr>
          <p:cNvPr id="530" name="Google Shape;530;p23"/>
          <p:cNvSpPr/>
          <p:nvPr/>
        </p:nvSpPr>
        <p:spPr>
          <a:xfrm>
            <a:off x="1171575" y="1722537"/>
            <a:ext cx="2053828"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E0E0E0"/>
              </a:buClr>
              <a:buSzPts val="727"/>
              <a:buFont typeface="Orbitron"/>
              <a:buNone/>
            </a:pPr>
            <a:r>
              <a:rPr b="0" i="0" lang="en-US" sz="727" u="none" cap="none" strike="noStrike">
                <a:solidFill>
                  <a:srgbClr val="E0E0E0"/>
                </a:solidFill>
                <a:latin typeface="Orbitron"/>
                <a:ea typeface="Orbitron"/>
                <a:cs typeface="Orbitron"/>
                <a:sym typeface="Orbitron"/>
              </a:rPr>
              <a:t>EVENT PARSING</a:t>
            </a:r>
            <a:endParaRPr b="0" i="0" sz="727" u="none" cap="none" strike="noStrike">
              <a:solidFill>
                <a:schemeClr val="dk1"/>
              </a:solidFill>
              <a:latin typeface="Calibri"/>
              <a:ea typeface="Calibri"/>
              <a:cs typeface="Calibri"/>
              <a:sym typeface="Calibri"/>
            </a:endParaRPr>
          </a:p>
        </p:txBody>
      </p:sp>
      <p:sp>
        <p:nvSpPr>
          <p:cNvPr id="531" name="Google Shape;531;p23"/>
          <p:cNvSpPr/>
          <p:nvPr/>
        </p:nvSpPr>
        <p:spPr>
          <a:xfrm>
            <a:off x="1171575" y="1860054"/>
            <a:ext cx="866180"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Extracting data from</a:t>
            </a:r>
            <a:endParaRPr b="0" i="0" sz="674" u="none" cap="none" strike="noStrike">
              <a:solidFill>
                <a:schemeClr val="dk1"/>
              </a:solidFill>
              <a:latin typeface="Calibri"/>
              <a:ea typeface="Calibri"/>
              <a:cs typeface="Calibri"/>
              <a:sym typeface="Calibri"/>
            </a:endParaRPr>
          </a:p>
        </p:txBody>
      </p:sp>
      <p:sp>
        <p:nvSpPr>
          <p:cNvPr id="532" name="Google Shape;532;p23"/>
          <p:cNvSpPr/>
          <p:nvPr/>
        </p:nvSpPr>
        <p:spPr>
          <a:xfrm>
            <a:off x="2037755" y="1849338"/>
            <a:ext cx="1162645"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MetricGroupStateEvent</a:t>
            </a:r>
            <a:endParaRPr b="0" i="0" sz="674" u="none" cap="none" strike="noStrike">
              <a:solidFill>
                <a:schemeClr val="dk1"/>
              </a:solidFill>
              <a:latin typeface="Calibri"/>
              <a:ea typeface="Calibri"/>
              <a:cs typeface="Calibri"/>
              <a:sym typeface="Calibri"/>
            </a:endParaRPr>
          </a:p>
        </p:txBody>
      </p:sp>
      <p:sp>
        <p:nvSpPr>
          <p:cNvPr id="533" name="Google Shape;533;p23"/>
          <p:cNvSpPr/>
          <p:nvPr/>
        </p:nvSpPr>
        <p:spPr>
          <a:xfrm>
            <a:off x="3200400" y="1860054"/>
            <a:ext cx="2500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534" name="Google Shape;534;p23"/>
          <p:cNvSpPr/>
          <p:nvPr/>
        </p:nvSpPr>
        <p:spPr>
          <a:xfrm>
            <a:off x="742950" y="2110978"/>
            <a:ext cx="4021262" cy="428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3"/>
          <p:cNvSpPr/>
          <p:nvPr/>
        </p:nvSpPr>
        <p:spPr>
          <a:xfrm>
            <a:off x="850106" y="2271713"/>
            <a:ext cx="214313" cy="178594"/>
          </a:xfrm>
          <a:prstGeom prst="rect">
            <a:avLst/>
          </a:prstGeom>
          <a:noFill/>
          <a:ln>
            <a:noFill/>
          </a:ln>
        </p:spPr>
        <p:txBody>
          <a:bodyPr anchorCtr="0" anchor="t" bIns="0" lIns="0" spcFirstLastPara="1" rIns="0" wrap="square" tIns="0">
            <a:noAutofit/>
          </a:bodyPr>
          <a:lstStyle/>
          <a:p>
            <a:pPr indent="0" lvl="0" marL="0" marR="0" rtl="0" algn="l">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2</a:t>
            </a:r>
            <a:endParaRPr b="0" i="0" sz="1050" u="none" cap="none" strike="noStrike">
              <a:solidFill>
                <a:schemeClr val="dk1"/>
              </a:solidFill>
              <a:latin typeface="Calibri"/>
              <a:ea typeface="Calibri"/>
              <a:cs typeface="Calibri"/>
              <a:sym typeface="Calibri"/>
            </a:endParaRPr>
          </a:p>
        </p:txBody>
      </p:sp>
      <p:sp>
        <p:nvSpPr>
          <p:cNvPr id="536" name="Google Shape;536;p23"/>
          <p:cNvSpPr/>
          <p:nvPr/>
        </p:nvSpPr>
        <p:spPr>
          <a:xfrm>
            <a:off x="1171575" y="2236887"/>
            <a:ext cx="1852017"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E0E0E0"/>
              </a:buClr>
              <a:buSzPts val="727"/>
              <a:buFont typeface="Orbitron"/>
              <a:buNone/>
            </a:pPr>
            <a:r>
              <a:rPr b="0" i="0" lang="en-US" sz="727" u="none" cap="none" strike="noStrike">
                <a:solidFill>
                  <a:srgbClr val="E0E0E0"/>
                </a:solidFill>
                <a:latin typeface="Orbitron"/>
                <a:ea typeface="Orbitron"/>
                <a:cs typeface="Orbitron"/>
                <a:sym typeface="Orbitron"/>
              </a:rPr>
              <a:t>RULE MATCHING</a:t>
            </a:r>
            <a:endParaRPr b="0" i="0" sz="727" u="none" cap="none" strike="noStrike">
              <a:solidFill>
                <a:schemeClr val="dk1"/>
              </a:solidFill>
              <a:latin typeface="Calibri"/>
              <a:ea typeface="Calibri"/>
              <a:cs typeface="Calibri"/>
              <a:sym typeface="Calibri"/>
            </a:endParaRPr>
          </a:p>
        </p:txBody>
      </p:sp>
      <p:sp>
        <p:nvSpPr>
          <p:cNvPr id="537" name="Google Shape;537;p23"/>
          <p:cNvSpPr/>
          <p:nvPr/>
        </p:nvSpPr>
        <p:spPr>
          <a:xfrm>
            <a:off x="1171575" y="2374404"/>
            <a:ext cx="78581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Retrieving rules by</a:t>
            </a:r>
            <a:endParaRPr b="0" i="0" sz="674" u="none" cap="none" strike="noStrike">
              <a:solidFill>
                <a:schemeClr val="dk1"/>
              </a:solidFill>
              <a:latin typeface="Calibri"/>
              <a:ea typeface="Calibri"/>
              <a:cs typeface="Calibri"/>
              <a:sym typeface="Calibri"/>
            </a:endParaRPr>
          </a:p>
        </p:txBody>
      </p:sp>
      <p:sp>
        <p:nvSpPr>
          <p:cNvPr id="538" name="Google Shape;538;p23"/>
          <p:cNvSpPr/>
          <p:nvPr/>
        </p:nvSpPr>
        <p:spPr>
          <a:xfrm>
            <a:off x="1957388" y="2363688"/>
            <a:ext cx="442913"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group_id</a:t>
            </a:r>
            <a:endParaRPr b="0" i="0" sz="674" u="none" cap="none" strike="noStrike">
              <a:solidFill>
                <a:schemeClr val="dk1"/>
              </a:solidFill>
              <a:latin typeface="Calibri"/>
              <a:ea typeface="Calibri"/>
              <a:cs typeface="Calibri"/>
              <a:sym typeface="Calibri"/>
            </a:endParaRPr>
          </a:p>
        </p:txBody>
      </p:sp>
      <p:sp>
        <p:nvSpPr>
          <p:cNvPr id="539" name="Google Shape;539;p23"/>
          <p:cNvSpPr/>
          <p:nvPr/>
        </p:nvSpPr>
        <p:spPr>
          <a:xfrm>
            <a:off x="2400300" y="2374404"/>
            <a:ext cx="10001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540" name="Google Shape;540;p23"/>
          <p:cNvSpPr/>
          <p:nvPr/>
        </p:nvSpPr>
        <p:spPr>
          <a:xfrm>
            <a:off x="2500313" y="2363688"/>
            <a:ext cx="498277"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metric_id</a:t>
            </a:r>
            <a:endParaRPr b="0" i="0" sz="674" u="none" cap="none" strike="noStrike">
              <a:solidFill>
                <a:schemeClr val="dk1"/>
              </a:solidFill>
              <a:latin typeface="Calibri"/>
              <a:ea typeface="Calibri"/>
              <a:cs typeface="Calibri"/>
              <a:sym typeface="Calibri"/>
            </a:endParaRPr>
          </a:p>
        </p:txBody>
      </p:sp>
      <p:sp>
        <p:nvSpPr>
          <p:cNvPr id="541" name="Google Shape;541;p23"/>
          <p:cNvSpPr/>
          <p:nvPr/>
        </p:nvSpPr>
        <p:spPr>
          <a:xfrm>
            <a:off x="2998589" y="2374404"/>
            <a:ext cx="2500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542" name="Google Shape;542;p23"/>
          <p:cNvSpPr/>
          <p:nvPr/>
        </p:nvSpPr>
        <p:spPr>
          <a:xfrm>
            <a:off x="742950" y="2625328"/>
            <a:ext cx="4021262" cy="428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3"/>
          <p:cNvSpPr/>
          <p:nvPr/>
        </p:nvSpPr>
        <p:spPr>
          <a:xfrm>
            <a:off x="850106" y="2786063"/>
            <a:ext cx="214313" cy="178594"/>
          </a:xfrm>
          <a:prstGeom prst="rect">
            <a:avLst/>
          </a:prstGeom>
          <a:noFill/>
          <a:ln>
            <a:noFill/>
          </a:ln>
        </p:spPr>
        <p:txBody>
          <a:bodyPr anchorCtr="0" anchor="t" bIns="0" lIns="0" spcFirstLastPara="1" rIns="0" wrap="square" tIns="0">
            <a:noAutofit/>
          </a:bodyPr>
          <a:lstStyle/>
          <a:p>
            <a:pPr indent="0" lvl="0" marL="0" marR="0" rtl="0" algn="l">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3</a:t>
            </a:r>
            <a:endParaRPr b="0" i="0" sz="1050" u="none" cap="none" strike="noStrike">
              <a:solidFill>
                <a:schemeClr val="dk1"/>
              </a:solidFill>
              <a:latin typeface="Calibri"/>
              <a:ea typeface="Calibri"/>
              <a:cs typeface="Calibri"/>
              <a:sym typeface="Calibri"/>
            </a:endParaRPr>
          </a:p>
        </p:txBody>
      </p:sp>
      <p:sp>
        <p:nvSpPr>
          <p:cNvPr id="544" name="Google Shape;544;p23"/>
          <p:cNvSpPr/>
          <p:nvPr/>
        </p:nvSpPr>
        <p:spPr>
          <a:xfrm>
            <a:off x="1171575" y="2751237"/>
            <a:ext cx="2632472"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E0E0E0"/>
              </a:buClr>
              <a:buSzPts val="727"/>
              <a:buFont typeface="Orbitron"/>
              <a:buNone/>
            </a:pPr>
            <a:r>
              <a:rPr b="0" i="0" lang="en-US" sz="727" u="none" cap="none" strike="noStrike">
                <a:solidFill>
                  <a:srgbClr val="E0E0E0"/>
                </a:solidFill>
                <a:latin typeface="Orbitron"/>
                <a:ea typeface="Orbitron"/>
                <a:cs typeface="Orbitron"/>
                <a:sym typeface="Orbitron"/>
              </a:rPr>
              <a:t>TYPED EVAL</a:t>
            </a:r>
            <a:endParaRPr b="0" i="0" sz="727" u="none" cap="none" strike="noStrike">
              <a:solidFill>
                <a:schemeClr val="dk1"/>
              </a:solidFill>
              <a:latin typeface="Calibri"/>
              <a:ea typeface="Calibri"/>
              <a:cs typeface="Calibri"/>
              <a:sym typeface="Calibri"/>
            </a:endParaRPr>
          </a:p>
        </p:txBody>
      </p:sp>
      <p:sp>
        <p:nvSpPr>
          <p:cNvPr id="545" name="Google Shape;545;p23"/>
          <p:cNvSpPr/>
          <p:nvPr/>
        </p:nvSpPr>
        <p:spPr>
          <a:xfrm>
            <a:off x="1171575" y="2888754"/>
            <a:ext cx="703659"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Evaluation using</a:t>
            </a:r>
            <a:endParaRPr b="0" i="0" sz="674" u="none" cap="none" strike="noStrike">
              <a:solidFill>
                <a:schemeClr val="dk1"/>
              </a:solidFill>
              <a:latin typeface="Calibri"/>
              <a:ea typeface="Calibri"/>
              <a:cs typeface="Calibri"/>
              <a:sym typeface="Calibri"/>
            </a:endParaRPr>
          </a:p>
        </p:txBody>
      </p:sp>
      <p:sp>
        <p:nvSpPr>
          <p:cNvPr id="546" name="Google Shape;546;p23"/>
          <p:cNvSpPr/>
          <p:nvPr/>
        </p:nvSpPr>
        <p:spPr>
          <a:xfrm>
            <a:off x="1875234" y="2878038"/>
            <a:ext cx="885825"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evaluateDouble()</a:t>
            </a:r>
            <a:endParaRPr b="0" i="0" sz="674" u="none" cap="none" strike="noStrike">
              <a:solidFill>
                <a:schemeClr val="dk1"/>
              </a:solidFill>
              <a:latin typeface="Calibri"/>
              <a:ea typeface="Calibri"/>
              <a:cs typeface="Calibri"/>
              <a:sym typeface="Calibri"/>
            </a:endParaRPr>
          </a:p>
        </p:txBody>
      </p:sp>
      <p:sp>
        <p:nvSpPr>
          <p:cNvPr id="547" name="Google Shape;547;p23"/>
          <p:cNvSpPr/>
          <p:nvPr/>
        </p:nvSpPr>
        <p:spPr>
          <a:xfrm>
            <a:off x="2761059" y="2888754"/>
            <a:ext cx="132159"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or</a:t>
            </a:r>
            <a:endParaRPr b="0" i="0" sz="674" u="none" cap="none" strike="noStrike">
              <a:solidFill>
                <a:schemeClr val="dk1"/>
              </a:solidFill>
              <a:latin typeface="Calibri"/>
              <a:ea typeface="Calibri"/>
              <a:cs typeface="Calibri"/>
              <a:sym typeface="Calibri"/>
            </a:endParaRPr>
          </a:p>
        </p:txBody>
      </p:sp>
      <p:sp>
        <p:nvSpPr>
          <p:cNvPr id="548" name="Google Shape;548;p23"/>
          <p:cNvSpPr/>
          <p:nvPr/>
        </p:nvSpPr>
        <p:spPr>
          <a:xfrm>
            <a:off x="2893219" y="2878038"/>
            <a:ext cx="885825"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evaluateString()</a:t>
            </a:r>
            <a:endParaRPr b="0" i="0" sz="674" u="none" cap="none" strike="noStrike">
              <a:solidFill>
                <a:schemeClr val="dk1"/>
              </a:solidFill>
              <a:latin typeface="Calibri"/>
              <a:ea typeface="Calibri"/>
              <a:cs typeface="Calibri"/>
              <a:sym typeface="Calibri"/>
            </a:endParaRPr>
          </a:p>
        </p:txBody>
      </p:sp>
      <p:sp>
        <p:nvSpPr>
          <p:cNvPr id="549" name="Google Shape;549;p23"/>
          <p:cNvSpPr/>
          <p:nvPr/>
        </p:nvSpPr>
        <p:spPr>
          <a:xfrm>
            <a:off x="3779044" y="2888754"/>
            <a:ext cx="2500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a:t>
            </a:r>
            <a:endParaRPr b="0" i="0" sz="674" u="none" cap="none" strike="noStrike">
              <a:solidFill>
                <a:schemeClr val="dk1"/>
              </a:solidFill>
              <a:latin typeface="Calibri"/>
              <a:ea typeface="Calibri"/>
              <a:cs typeface="Calibri"/>
              <a:sym typeface="Calibri"/>
            </a:endParaRPr>
          </a:p>
        </p:txBody>
      </p:sp>
      <p:sp>
        <p:nvSpPr>
          <p:cNvPr id="550" name="Google Shape;550;p23"/>
          <p:cNvSpPr/>
          <p:nvPr/>
        </p:nvSpPr>
        <p:spPr>
          <a:xfrm>
            <a:off x="742950" y="3139678"/>
            <a:ext cx="4021262" cy="428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23"/>
          <p:cNvSpPr/>
          <p:nvPr/>
        </p:nvSpPr>
        <p:spPr>
          <a:xfrm>
            <a:off x="850106" y="3300413"/>
            <a:ext cx="214313" cy="178594"/>
          </a:xfrm>
          <a:prstGeom prst="rect">
            <a:avLst/>
          </a:prstGeom>
          <a:noFill/>
          <a:ln>
            <a:noFill/>
          </a:ln>
        </p:spPr>
        <p:txBody>
          <a:bodyPr anchorCtr="0" anchor="t" bIns="0" lIns="0" spcFirstLastPara="1" rIns="0" wrap="square" tIns="0">
            <a:noAutofit/>
          </a:bodyPr>
          <a:lstStyle/>
          <a:p>
            <a:pPr indent="0" lvl="0" marL="0" marR="0" rtl="0" algn="l">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4</a:t>
            </a:r>
            <a:endParaRPr b="0" i="0" sz="1050" u="none" cap="none" strike="noStrike">
              <a:solidFill>
                <a:schemeClr val="dk1"/>
              </a:solidFill>
              <a:latin typeface="Calibri"/>
              <a:ea typeface="Calibri"/>
              <a:cs typeface="Calibri"/>
              <a:sym typeface="Calibri"/>
            </a:endParaRPr>
          </a:p>
        </p:txBody>
      </p:sp>
      <p:sp>
        <p:nvSpPr>
          <p:cNvPr id="552" name="Google Shape;552;p23"/>
          <p:cNvSpPr/>
          <p:nvPr/>
        </p:nvSpPr>
        <p:spPr>
          <a:xfrm>
            <a:off x="1171575" y="3265587"/>
            <a:ext cx="1957388"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E0E0E0"/>
              </a:buClr>
              <a:buSzPts val="727"/>
              <a:buFont typeface="Orbitron"/>
              <a:buNone/>
            </a:pPr>
            <a:r>
              <a:rPr b="0" i="0" lang="en-US" sz="727" u="none" cap="none" strike="noStrike">
                <a:solidFill>
                  <a:srgbClr val="E0E0E0"/>
                </a:solidFill>
                <a:latin typeface="Orbitron"/>
                <a:ea typeface="Orbitron"/>
                <a:cs typeface="Orbitron"/>
                <a:sym typeface="Orbitron"/>
              </a:rPr>
              <a:t>COMMAND GENERATION</a:t>
            </a:r>
            <a:endParaRPr b="0" i="0" sz="727" u="none" cap="none" strike="noStrike">
              <a:solidFill>
                <a:schemeClr val="dk1"/>
              </a:solidFill>
              <a:latin typeface="Calibri"/>
              <a:ea typeface="Calibri"/>
              <a:cs typeface="Calibri"/>
              <a:sym typeface="Calibri"/>
            </a:endParaRPr>
          </a:p>
        </p:txBody>
      </p:sp>
      <p:sp>
        <p:nvSpPr>
          <p:cNvPr id="553" name="Google Shape;553;p23"/>
          <p:cNvSpPr/>
          <p:nvPr/>
        </p:nvSpPr>
        <p:spPr>
          <a:xfrm>
            <a:off x="1171575" y="3403104"/>
            <a:ext cx="823317"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Creating structured</a:t>
            </a:r>
            <a:endParaRPr b="0" i="0" sz="674" u="none" cap="none" strike="noStrike">
              <a:solidFill>
                <a:schemeClr val="dk1"/>
              </a:solidFill>
              <a:latin typeface="Calibri"/>
              <a:ea typeface="Calibri"/>
              <a:cs typeface="Calibri"/>
              <a:sym typeface="Calibri"/>
            </a:endParaRPr>
          </a:p>
        </p:txBody>
      </p:sp>
      <p:sp>
        <p:nvSpPr>
          <p:cNvPr id="554" name="Google Shape;554;p23"/>
          <p:cNvSpPr/>
          <p:nvPr/>
        </p:nvSpPr>
        <p:spPr>
          <a:xfrm>
            <a:off x="1994892" y="3392388"/>
            <a:ext cx="830461"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ActuatorCommand</a:t>
            </a:r>
            <a:endParaRPr b="0" i="0" sz="674" u="none" cap="none" strike="noStrike">
              <a:solidFill>
                <a:schemeClr val="dk1"/>
              </a:solidFill>
              <a:latin typeface="Calibri"/>
              <a:ea typeface="Calibri"/>
              <a:cs typeface="Calibri"/>
              <a:sym typeface="Calibri"/>
            </a:endParaRPr>
          </a:p>
        </p:txBody>
      </p:sp>
      <p:sp>
        <p:nvSpPr>
          <p:cNvPr id="555" name="Google Shape;555;p23"/>
          <p:cNvSpPr/>
          <p:nvPr/>
        </p:nvSpPr>
        <p:spPr>
          <a:xfrm>
            <a:off x="2825353" y="3403104"/>
            <a:ext cx="303609"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object.</a:t>
            </a:r>
            <a:endParaRPr b="0" i="0" sz="674" u="none" cap="none" strike="noStrike">
              <a:solidFill>
                <a:schemeClr val="dk1"/>
              </a:solidFill>
              <a:latin typeface="Calibri"/>
              <a:ea typeface="Calibri"/>
              <a:cs typeface="Calibri"/>
              <a:sym typeface="Calibri"/>
            </a:endParaRPr>
          </a:p>
        </p:txBody>
      </p:sp>
      <p:sp>
        <p:nvSpPr>
          <p:cNvPr id="556" name="Google Shape;556;p23"/>
          <p:cNvSpPr/>
          <p:nvPr/>
        </p:nvSpPr>
        <p:spPr>
          <a:xfrm>
            <a:off x="742950" y="3654028"/>
            <a:ext cx="4021262" cy="428625"/>
          </a:xfrm>
          <a:prstGeom prst="rect">
            <a:avLst/>
          </a:prstGeom>
          <a:solidFill>
            <a:srgbClr val="00FFFF">
              <a:alpha val="5098"/>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23"/>
          <p:cNvSpPr/>
          <p:nvPr/>
        </p:nvSpPr>
        <p:spPr>
          <a:xfrm>
            <a:off x="850106" y="3814763"/>
            <a:ext cx="214313" cy="178594"/>
          </a:xfrm>
          <a:prstGeom prst="rect">
            <a:avLst/>
          </a:prstGeom>
          <a:noFill/>
          <a:ln>
            <a:noFill/>
          </a:ln>
        </p:spPr>
        <p:txBody>
          <a:bodyPr anchorCtr="0" anchor="t" bIns="0" lIns="0" spcFirstLastPara="1" rIns="0" wrap="square" tIns="0">
            <a:noAutofit/>
          </a:bodyPr>
          <a:lstStyle/>
          <a:p>
            <a:pPr indent="0" lvl="0" marL="0" marR="0" rtl="0" algn="l">
              <a:lnSpc>
                <a:spcPct val="133333"/>
              </a:lnSpc>
              <a:spcBef>
                <a:spcPts val="0"/>
              </a:spcBef>
              <a:spcAft>
                <a:spcPts val="0"/>
              </a:spcAft>
              <a:buClr>
                <a:srgbClr val="FF4500"/>
              </a:buClr>
              <a:buSzPts val="1050"/>
              <a:buFont typeface="Orbitron"/>
              <a:buNone/>
            </a:pPr>
            <a:r>
              <a:rPr b="0" i="0" lang="en-US" sz="1050" u="none" cap="none" strike="noStrike">
                <a:solidFill>
                  <a:srgbClr val="FF4500"/>
                </a:solidFill>
                <a:latin typeface="Orbitron"/>
                <a:ea typeface="Orbitron"/>
                <a:cs typeface="Orbitron"/>
                <a:sym typeface="Orbitron"/>
              </a:rPr>
              <a:t>5</a:t>
            </a:r>
            <a:endParaRPr b="0" i="0" sz="1050" u="none" cap="none" strike="noStrike">
              <a:solidFill>
                <a:schemeClr val="dk1"/>
              </a:solidFill>
              <a:latin typeface="Calibri"/>
              <a:ea typeface="Calibri"/>
              <a:cs typeface="Calibri"/>
              <a:sym typeface="Calibri"/>
            </a:endParaRPr>
          </a:p>
        </p:txBody>
      </p:sp>
      <p:sp>
        <p:nvSpPr>
          <p:cNvPr id="558" name="Google Shape;558;p23"/>
          <p:cNvSpPr/>
          <p:nvPr/>
        </p:nvSpPr>
        <p:spPr>
          <a:xfrm>
            <a:off x="1171575" y="3779937"/>
            <a:ext cx="1848445"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E0E0E0"/>
              </a:buClr>
              <a:buSzPts val="727"/>
              <a:buFont typeface="Orbitron"/>
              <a:buNone/>
            </a:pPr>
            <a:r>
              <a:rPr b="0" i="0" lang="en-US" sz="727" u="none" cap="none" strike="noStrike">
                <a:solidFill>
                  <a:srgbClr val="E0E0E0"/>
                </a:solidFill>
                <a:latin typeface="Orbitron"/>
                <a:ea typeface="Orbitron"/>
                <a:cs typeface="Orbitron"/>
                <a:sym typeface="Orbitron"/>
              </a:rPr>
              <a:t>PERSISTENCE</a:t>
            </a:r>
            <a:endParaRPr b="0" i="0" sz="727" u="none" cap="none" strike="noStrike">
              <a:solidFill>
                <a:schemeClr val="dk1"/>
              </a:solidFill>
              <a:latin typeface="Calibri"/>
              <a:ea typeface="Calibri"/>
              <a:cs typeface="Calibri"/>
              <a:sym typeface="Calibri"/>
            </a:endParaRPr>
          </a:p>
        </p:txBody>
      </p:sp>
      <p:sp>
        <p:nvSpPr>
          <p:cNvPr id="559" name="Google Shape;559;p23"/>
          <p:cNvSpPr/>
          <p:nvPr/>
        </p:nvSpPr>
        <p:spPr>
          <a:xfrm>
            <a:off x="1171575" y="3917454"/>
            <a:ext cx="93047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Recording firing in the</a:t>
            </a:r>
            <a:endParaRPr b="0" i="0" sz="674" u="none" cap="none" strike="noStrike">
              <a:solidFill>
                <a:schemeClr val="dk1"/>
              </a:solidFill>
              <a:latin typeface="Calibri"/>
              <a:ea typeface="Calibri"/>
              <a:cs typeface="Calibri"/>
              <a:sym typeface="Calibri"/>
            </a:endParaRPr>
          </a:p>
        </p:txBody>
      </p:sp>
      <p:sp>
        <p:nvSpPr>
          <p:cNvPr id="560" name="Google Shape;560;p23"/>
          <p:cNvSpPr/>
          <p:nvPr/>
        </p:nvSpPr>
        <p:spPr>
          <a:xfrm>
            <a:off x="2102048" y="3906738"/>
            <a:ext cx="664369" cy="121444"/>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rule_firings</a:t>
            </a:r>
            <a:endParaRPr b="0" i="0" sz="674" u="none" cap="none" strike="noStrike">
              <a:solidFill>
                <a:schemeClr val="dk1"/>
              </a:solidFill>
              <a:latin typeface="Calibri"/>
              <a:ea typeface="Calibri"/>
              <a:cs typeface="Calibri"/>
              <a:sym typeface="Calibri"/>
            </a:endParaRPr>
          </a:p>
        </p:txBody>
      </p:sp>
      <p:sp>
        <p:nvSpPr>
          <p:cNvPr id="561" name="Google Shape;561;p23"/>
          <p:cNvSpPr/>
          <p:nvPr/>
        </p:nvSpPr>
        <p:spPr>
          <a:xfrm>
            <a:off x="2766417" y="3917454"/>
            <a:ext cx="253603" cy="108942"/>
          </a:xfrm>
          <a:prstGeom prst="rect">
            <a:avLst/>
          </a:prstGeom>
          <a:noFill/>
          <a:ln>
            <a:noFill/>
          </a:ln>
        </p:spPr>
        <p:txBody>
          <a:bodyPr anchorCtr="0" anchor="t" bIns="0" lIns="0" spcFirstLastPara="1" rIns="0" wrap="square" tIns="0">
            <a:noAutofit/>
          </a:bodyPr>
          <a:lstStyle/>
          <a:p>
            <a:pPr indent="0" lvl="0" marL="0" marR="0" rtl="0" algn="l">
              <a:lnSpc>
                <a:spcPct val="133531"/>
              </a:lnSpc>
              <a:spcBef>
                <a:spcPts val="0"/>
              </a:spcBef>
              <a:spcAft>
                <a:spcPts val="0"/>
              </a:spcAft>
              <a:buClr>
                <a:srgbClr val="E0E0E0"/>
              </a:buClr>
              <a:buSzPts val="674"/>
              <a:buFont typeface="Roboto"/>
              <a:buNone/>
            </a:pPr>
            <a:r>
              <a:rPr b="0" i="0" lang="en-US" sz="674" u="none" cap="none" strike="noStrike">
                <a:solidFill>
                  <a:srgbClr val="E0E0E0"/>
                </a:solidFill>
                <a:latin typeface="Roboto"/>
                <a:ea typeface="Roboto"/>
                <a:cs typeface="Roboto"/>
                <a:sym typeface="Roboto"/>
              </a:rPr>
              <a:t>table.</a:t>
            </a:r>
            <a:endParaRPr b="0" i="0" sz="674" u="none" cap="none" strike="noStrike">
              <a:solidFill>
                <a:schemeClr val="dk1"/>
              </a:solidFill>
              <a:latin typeface="Calibri"/>
              <a:ea typeface="Calibri"/>
              <a:cs typeface="Calibri"/>
              <a:sym typeface="Calibri"/>
            </a:endParaRPr>
          </a:p>
        </p:txBody>
      </p:sp>
      <p:sp>
        <p:nvSpPr>
          <p:cNvPr id="562" name="Google Shape;562;p23"/>
          <p:cNvSpPr/>
          <p:nvPr/>
        </p:nvSpPr>
        <p:spPr>
          <a:xfrm>
            <a:off x="5049962" y="1293019"/>
            <a:ext cx="3351088" cy="160734"/>
          </a:xfrm>
          <a:prstGeom prst="rect">
            <a:avLst/>
          </a:prstGeom>
          <a:noFill/>
          <a:ln>
            <a:noFill/>
          </a:ln>
        </p:spPr>
        <p:txBody>
          <a:bodyPr anchorCtr="0" anchor="t" bIns="0" lIns="0" spcFirstLastPara="1" rIns="0" wrap="square" tIns="0">
            <a:noAutofit/>
          </a:bodyPr>
          <a:lstStyle/>
          <a:p>
            <a:pPr indent="0" lvl="0" marL="0" marR="0" rtl="0" algn="l">
              <a:lnSpc>
                <a:spcPct val="127388"/>
              </a:lnSpc>
              <a:spcBef>
                <a:spcPts val="0"/>
              </a:spcBef>
              <a:spcAft>
                <a:spcPts val="0"/>
              </a:spcAft>
              <a:buClr>
                <a:srgbClr val="00FFFF"/>
              </a:buClr>
              <a:buSzPts val="942"/>
              <a:buFont typeface="Orbitron"/>
              <a:buNone/>
            </a:pPr>
            <a:r>
              <a:rPr b="0" i="0" lang="en-US" sz="942" u="none" cap="none" strike="noStrike">
                <a:solidFill>
                  <a:srgbClr val="00FFFF"/>
                </a:solidFill>
                <a:latin typeface="Orbitron"/>
                <a:ea typeface="Orbitron"/>
                <a:cs typeface="Orbitron"/>
                <a:sym typeface="Orbitron"/>
              </a:rPr>
              <a:t>SMART SUPPRESSION</a:t>
            </a:r>
            <a:endParaRPr b="0" i="0" sz="942" u="none" cap="none" strike="noStrike">
              <a:solidFill>
                <a:schemeClr val="dk1"/>
              </a:solidFill>
              <a:latin typeface="Calibri"/>
              <a:ea typeface="Calibri"/>
              <a:cs typeface="Calibri"/>
              <a:sym typeface="Calibri"/>
            </a:endParaRPr>
          </a:p>
        </p:txBody>
      </p:sp>
      <p:sp>
        <p:nvSpPr>
          <p:cNvPr id="563" name="Google Shape;563;p23"/>
          <p:cNvSpPr/>
          <p:nvPr/>
        </p:nvSpPr>
        <p:spPr>
          <a:xfrm>
            <a:off x="5049962" y="1596628"/>
            <a:ext cx="3351088" cy="2143125"/>
          </a:xfrm>
          <a:prstGeom prst="rect">
            <a:avLst/>
          </a:prstGeom>
          <a:solidFill>
            <a:srgbClr val="FF4500">
              <a:alpha val="5098"/>
            </a:srgbClr>
          </a:solidFill>
          <a:ln cap="flat" cmpd="sng" w="9525">
            <a:solidFill>
              <a:srgbClr val="FF4500">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3"/>
          <p:cNvSpPr/>
          <p:nvPr/>
        </p:nvSpPr>
        <p:spPr>
          <a:xfrm>
            <a:off x="5192837" y="1739503"/>
            <a:ext cx="3065338" cy="342900"/>
          </a:xfrm>
          <a:prstGeom prst="rect">
            <a:avLst/>
          </a:prstGeom>
          <a:noFill/>
          <a:ln>
            <a:noFill/>
          </a:ln>
        </p:spPr>
        <p:txBody>
          <a:bodyPr anchorCtr="0" anchor="t" bIns="0" lIns="0" spcFirstLastPara="1" rIns="0" wrap="square" tIns="0">
            <a:noAutofit/>
          </a:bodyPr>
          <a:lstStyle/>
          <a:p>
            <a:pPr indent="0" lvl="0" marL="0" marR="0" rtl="0" algn="l">
              <a:lnSpc>
                <a:spcPct val="179487"/>
              </a:lnSpc>
              <a:spcBef>
                <a:spcPts val="0"/>
              </a:spcBef>
              <a:spcAft>
                <a:spcPts val="0"/>
              </a:spcAft>
              <a:buClr>
                <a:srgbClr val="E0E0E0"/>
              </a:buClr>
              <a:buSzPts val="780"/>
              <a:buFont typeface="Roboto"/>
              <a:buNone/>
            </a:pPr>
            <a:r>
              <a:rPr b="0" i="0" lang="en-US" sz="780" u="none" cap="none" strike="noStrike">
                <a:solidFill>
                  <a:srgbClr val="E0E0E0"/>
                </a:solidFill>
                <a:latin typeface="Roboto"/>
                <a:ea typeface="Roboto"/>
                <a:cs typeface="Roboto"/>
                <a:sym typeface="Roboto"/>
              </a:rPr>
              <a:t>If the actuator is already in the desired state, the command is suppressed to prevent broker flooding.</a:t>
            </a:r>
            <a:endParaRPr b="0" i="0" sz="780" u="none" cap="none" strike="noStrike">
              <a:solidFill>
                <a:schemeClr val="dk1"/>
              </a:solidFill>
              <a:latin typeface="Calibri"/>
              <a:ea typeface="Calibri"/>
              <a:cs typeface="Calibri"/>
              <a:sym typeface="Calibri"/>
            </a:endParaRPr>
          </a:p>
        </p:txBody>
      </p:sp>
      <p:sp>
        <p:nvSpPr>
          <p:cNvPr id="565" name="Google Shape;565;p23"/>
          <p:cNvSpPr/>
          <p:nvPr/>
        </p:nvSpPr>
        <p:spPr>
          <a:xfrm>
            <a:off x="5192837" y="2225278"/>
            <a:ext cx="3065338" cy="714375"/>
          </a:xfrm>
          <a:prstGeom prst="rect">
            <a:avLst/>
          </a:prstGeom>
          <a:solidFill>
            <a:srgbClr val="000000">
              <a:alpha val="3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23"/>
          <p:cNvSpPr/>
          <p:nvPr/>
        </p:nvSpPr>
        <p:spPr>
          <a:xfrm>
            <a:off x="5192837" y="2225278"/>
            <a:ext cx="21431" cy="714375"/>
          </a:xfrm>
          <a:prstGeom prst="rect">
            <a:avLst/>
          </a:prstGeom>
          <a:solidFill>
            <a:srgbClr val="00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3"/>
          <p:cNvSpPr/>
          <p:nvPr/>
        </p:nvSpPr>
        <p:spPr>
          <a:xfrm>
            <a:off x="5192837" y="2225278"/>
            <a:ext cx="3065338" cy="714375"/>
          </a:xfrm>
          <a:prstGeom prst="rect">
            <a:avLst/>
          </a:prstGeom>
          <a:noFill/>
          <a:ln>
            <a:noFill/>
          </a:ln>
        </p:spPr>
        <p:txBody>
          <a:bodyPr anchorCtr="0" anchor="t" bIns="0" lIns="127500" spcFirstLastPara="1" rIns="127500" wrap="square" tIns="127500">
            <a:noAutofit/>
          </a:bodyPr>
          <a:lstStyle/>
          <a:p>
            <a:pPr indent="0" lvl="0" marL="0" marR="0" rtl="0" algn="l">
              <a:lnSpc>
                <a:spcPct val="133531"/>
              </a:lnSpc>
              <a:spcBef>
                <a:spcPts val="0"/>
              </a:spcBef>
              <a:spcAft>
                <a:spcPts val="0"/>
              </a:spcAft>
              <a:buClr>
                <a:srgbClr val="00FFFF"/>
              </a:buClr>
              <a:buSzPts val="674"/>
              <a:buFont typeface="Roboto Mono"/>
              <a:buNone/>
            </a:pPr>
            <a:r>
              <a:rPr b="0" i="0" lang="en-US" sz="674" u="none" cap="none" strike="noStrike">
                <a:solidFill>
                  <a:srgbClr val="00FFFF"/>
                </a:solidFill>
                <a:latin typeface="Roboto Mono"/>
                <a:ea typeface="Roboto Mono"/>
                <a:cs typeface="Roboto Mono"/>
                <a:sym typeface="Roboto Mono"/>
              </a:rPr>
              <a:t>ActuatorStateListener maintains an in-memory ConcurrentHashMap of the current state of each actuator.</a:t>
            </a:r>
            <a:endParaRPr b="0" i="0" sz="674"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pic>
        <p:nvPicPr>
          <p:cNvPr descr="preencoded.png" id="573" name="Google Shape;573;p2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574" name="Google Shape;574;p24"/>
          <p:cNvSpPr/>
          <p:nvPr/>
        </p:nvSpPr>
        <p:spPr>
          <a:xfrm>
            <a:off x="6831211" y="142875"/>
            <a:ext cx="2027039" cy="89297"/>
          </a:xfrm>
          <a:prstGeom prst="rect">
            <a:avLst/>
          </a:prstGeom>
          <a:noFill/>
          <a:ln>
            <a:noFill/>
          </a:ln>
        </p:spPr>
        <p:txBody>
          <a:bodyPr anchorCtr="0" anchor="t" bIns="0" lIns="0" spcFirstLastPara="1" rIns="0" wrap="square" tIns="0">
            <a:noAutofit/>
          </a:bodyPr>
          <a:lstStyle/>
          <a:p>
            <a:pPr indent="0" lvl="0" marL="0" marR="0" rtl="0" algn="l">
              <a:lnSpc>
                <a:spcPct val="135658"/>
              </a:lnSpc>
              <a:spcBef>
                <a:spcPts val="0"/>
              </a:spcBef>
              <a:spcAft>
                <a:spcPts val="0"/>
              </a:spcAft>
              <a:buClr>
                <a:srgbClr val="00FFFF"/>
              </a:buClr>
              <a:buSzPts val="516"/>
              <a:buFont typeface="Orbitron"/>
              <a:buNone/>
            </a:pPr>
            <a:r>
              <a:rPr b="0" i="0" lang="en-US" sz="516" u="none" cap="none" strike="noStrike">
                <a:solidFill>
                  <a:srgbClr val="00FFFF"/>
                </a:solidFill>
                <a:latin typeface="Orbitron"/>
                <a:ea typeface="Orbitron"/>
                <a:cs typeface="Orbitron"/>
                <a:sym typeface="Orbitron"/>
              </a:rPr>
              <a:t>MARSOPS // CONVERTER // MSG_SCHEMA</a:t>
            </a:r>
            <a:endParaRPr b="0" i="0" sz="516" u="none" cap="none" strike="noStrike">
              <a:solidFill>
                <a:schemeClr val="dk1"/>
              </a:solidFill>
              <a:latin typeface="Calibri"/>
              <a:ea typeface="Calibri"/>
              <a:cs typeface="Calibri"/>
              <a:sym typeface="Calibri"/>
            </a:endParaRPr>
          </a:p>
        </p:txBody>
      </p:sp>
      <p:sp>
        <p:nvSpPr>
          <p:cNvPr id="575" name="Google Shape;575;p24"/>
          <p:cNvSpPr/>
          <p:nvPr/>
        </p:nvSpPr>
        <p:spPr>
          <a:xfrm>
            <a:off x="228625" y="76070"/>
            <a:ext cx="8686800" cy="4991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4"/>
          <p:cNvSpPr/>
          <p:nvPr/>
        </p:nvSpPr>
        <p:spPr>
          <a:xfrm>
            <a:off x="442913" y="297526"/>
            <a:ext cx="8258175" cy="328613"/>
          </a:xfrm>
          <a:prstGeom prst="rect">
            <a:avLst/>
          </a:prstGeom>
          <a:noFill/>
          <a:ln>
            <a:noFill/>
          </a:ln>
        </p:spPr>
        <p:txBody>
          <a:bodyPr anchorCtr="0" anchor="t" bIns="0" lIns="0" spcFirstLastPara="1" rIns="0" wrap="square" tIns="85075">
            <a:noAutofit/>
          </a:bodyPr>
          <a:lstStyle/>
          <a:p>
            <a:pPr indent="0" lvl="0" marL="0" marR="0" rtl="0" algn="l">
              <a:lnSpc>
                <a:spcPct val="136005"/>
              </a:lnSpc>
              <a:spcBef>
                <a:spcPts val="0"/>
              </a:spcBef>
              <a:spcAft>
                <a:spcPts val="0"/>
              </a:spcAft>
              <a:buClr>
                <a:srgbClr val="FF4500"/>
              </a:buClr>
              <a:buSzPts val="1397"/>
              <a:buFont typeface="Orbitron"/>
              <a:buNone/>
            </a:pPr>
            <a:r>
              <a:rPr b="1" i="0" lang="en-US" sz="1397" u="none" cap="none" strike="noStrike">
                <a:solidFill>
                  <a:srgbClr val="FF4500"/>
                </a:solidFill>
                <a:latin typeface="Orbitron"/>
                <a:ea typeface="Orbitron"/>
                <a:cs typeface="Orbitron"/>
                <a:sym typeface="Orbitron"/>
              </a:rPr>
              <a:t>MESSAGE SCHEMA</a:t>
            </a:r>
            <a:endParaRPr b="0" i="0" sz="1397" u="none" cap="none" strike="noStrike">
              <a:solidFill>
                <a:schemeClr val="dk1"/>
              </a:solidFill>
              <a:latin typeface="Calibri"/>
              <a:ea typeface="Calibri"/>
              <a:cs typeface="Calibri"/>
              <a:sym typeface="Calibri"/>
            </a:endParaRPr>
          </a:p>
        </p:txBody>
      </p:sp>
      <p:sp>
        <p:nvSpPr>
          <p:cNvPr id="577" name="Google Shape;577;p24"/>
          <p:cNvSpPr/>
          <p:nvPr/>
        </p:nvSpPr>
        <p:spPr>
          <a:xfrm>
            <a:off x="442913" y="769014"/>
            <a:ext cx="2681278" cy="2286000"/>
          </a:xfrm>
          <a:prstGeom prst="rect">
            <a:avLst/>
          </a:prstGeom>
          <a:solidFill>
            <a:srgbClr val="00FFFF">
              <a:alpha val="3137"/>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24"/>
          <p:cNvSpPr/>
          <p:nvPr/>
        </p:nvSpPr>
        <p:spPr>
          <a:xfrm>
            <a:off x="550069" y="876170"/>
            <a:ext cx="2466966"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00FFFF"/>
              </a:buClr>
              <a:buSzPts val="727"/>
              <a:buFont typeface="Orbitron"/>
              <a:buNone/>
            </a:pPr>
            <a:r>
              <a:rPr b="0" i="0" lang="en-US" sz="727" u="none" cap="none" strike="noStrike">
                <a:solidFill>
                  <a:srgbClr val="00FFFF"/>
                </a:solidFill>
                <a:latin typeface="Orbitron"/>
                <a:ea typeface="Orbitron"/>
                <a:cs typeface="Orbitron"/>
                <a:sym typeface="Orbitron"/>
              </a:rPr>
              <a:t>SENSOR EVENT</a:t>
            </a:r>
            <a:endParaRPr b="0" i="0" sz="727" u="none" cap="none" strike="noStrike">
              <a:solidFill>
                <a:schemeClr val="dk1"/>
              </a:solidFill>
              <a:latin typeface="Calibri"/>
              <a:ea typeface="Calibri"/>
              <a:cs typeface="Calibri"/>
              <a:sym typeface="Calibri"/>
            </a:endParaRPr>
          </a:p>
        </p:txBody>
      </p:sp>
      <p:sp>
        <p:nvSpPr>
          <p:cNvPr id="579" name="Google Shape;579;p24"/>
          <p:cNvSpPr/>
          <p:nvPr/>
        </p:nvSpPr>
        <p:spPr>
          <a:xfrm>
            <a:off x="550069" y="1038690"/>
            <a:ext cx="2466966" cy="116086"/>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FF4500"/>
              </a:buClr>
              <a:buSzPts val="621"/>
              <a:buFont typeface="Roboto Mono"/>
              <a:buNone/>
            </a:pPr>
            <a:r>
              <a:rPr b="0" i="0" lang="en-US" sz="621" u="none" cap="none" strike="noStrike">
                <a:solidFill>
                  <a:srgbClr val="FF4500"/>
                </a:solidFill>
                <a:latin typeface="Roboto Mono"/>
                <a:ea typeface="Roboto Mono"/>
                <a:cs typeface="Roboto Mono"/>
                <a:sym typeface="Roboto Mono"/>
              </a:rPr>
              <a:t>→ sensor.events</a:t>
            </a:r>
            <a:endParaRPr b="0" i="0" sz="621" u="none" cap="none" strike="noStrike">
              <a:solidFill>
                <a:schemeClr val="dk1"/>
              </a:solidFill>
              <a:latin typeface="Calibri"/>
              <a:ea typeface="Calibri"/>
              <a:cs typeface="Calibri"/>
              <a:sym typeface="Calibri"/>
            </a:endParaRPr>
          </a:p>
        </p:txBody>
      </p:sp>
      <p:sp>
        <p:nvSpPr>
          <p:cNvPr id="580" name="Google Shape;580;p24"/>
          <p:cNvSpPr/>
          <p:nvPr/>
        </p:nvSpPr>
        <p:spPr>
          <a:xfrm>
            <a:off x="550069" y="1226214"/>
            <a:ext cx="2466966" cy="1828800"/>
          </a:xfrm>
          <a:prstGeom prst="rect">
            <a:avLst/>
          </a:prstGeom>
          <a:solidFill>
            <a:srgbClr val="000000">
              <a:alpha val="50196"/>
            </a:srgbClr>
          </a:solidFill>
          <a:ln cap="flat" cmpd="sng" w="9525">
            <a:solidFill>
              <a:srgbClr val="FFFFFF">
                <a:alpha val="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4"/>
          <p:cNvSpPr/>
          <p:nvPr/>
        </p:nvSpPr>
        <p:spPr>
          <a:xfrm>
            <a:off x="550069" y="1226214"/>
            <a:ext cx="2466966" cy="1828800"/>
          </a:xfrm>
          <a:prstGeom prst="rect">
            <a:avLst/>
          </a:prstGeom>
          <a:noFill/>
          <a:ln>
            <a:noFill/>
          </a:ln>
        </p:spPr>
        <p:txBody>
          <a:bodyPr anchorCtr="0" anchor="t" bIns="0" lIns="85075" spcFirstLastPara="1" rIns="85075" wrap="square" tIns="85075">
            <a:noAutofit/>
          </a:bodyPr>
          <a:lstStyle/>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"converter_version": "1.0.0",</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"group_id": "air_quality",</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"at": "2026-03...",</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"metrics": [{</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"id": "voc",</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"type": "...",</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"value": [{</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"value": 604.48,</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"unit": "ppb"</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"status": "ok|warning"</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a:t>
            </a:r>
            <a:endParaRPr b="0" i="0" sz="568" u="none" cap="none" strike="noStrike">
              <a:solidFill>
                <a:schemeClr val="dk1"/>
              </a:solidFill>
              <a:latin typeface="Calibri"/>
              <a:ea typeface="Calibri"/>
              <a:cs typeface="Calibri"/>
              <a:sym typeface="Calibri"/>
            </a:endParaRPr>
          </a:p>
        </p:txBody>
      </p:sp>
      <p:sp>
        <p:nvSpPr>
          <p:cNvPr id="582" name="Google Shape;582;p24"/>
          <p:cNvSpPr/>
          <p:nvPr/>
        </p:nvSpPr>
        <p:spPr>
          <a:xfrm>
            <a:off x="3231347" y="769014"/>
            <a:ext cx="2681278" cy="2286000"/>
          </a:xfrm>
          <a:prstGeom prst="rect">
            <a:avLst/>
          </a:prstGeom>
          <a:solidFill>
            <a:srgbClr val="00FFFF">
              <a:alpha val="3137"/>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4"/>
          <p:cNvSpPr/>
          <p:nvPr/>
        </p:nvSpPr>
        <p:spPr>
          <a:xfrm>
            <a:off x="3338503" y="876170"/>
            <a:ext cx="2466966"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00FFFF"/>
              </a:buClr>
              <a:buSzPts val="727"/>
              <a:buFont typeface="Orbitron"/>
              <a:buNone/>
            </a:pPr>
            <a:r>
              <a:rPr b="0" i="0" lang="en-US" sz="727" u="none" cap="none" strike="noStrike">
                <a:solidFill>
                  <a:srgbClr val="00FFFF"/>
                </a:solidFill>
                <a:latin typeface="Orbitron"/>
                <a:ea typeface="Orbitron"/>
                <a:cs typeface="Orbitron"/>
                <a:sym typeface="Orbitron"/>
              </a:rPr>
              <a:t>ACTUATOR STATE</a:t>
            </a:r>
            <a:endParaRPr b="0" i="0" sz="727" u="none" cap="none" strike="noStrike">
              <a:solidFill>
                <a:schemeClr val="dk1"/>
              </a:solidFill>
              <a:latin typeface="Calibri"/>
              <a:ea typeface="Calibri"/>
              <a:cs typeface="Calibri"/>
              <a:sym typeface="Calibri"/>
            </a:endParaRPr>
          </a:p>
        </p:txBody>
      </p:sp>
      <p:sp>
        <p:nvSpPr>
          <p:cNvPr id="584" name="Google Shape;584;p24"/>
          <p:cNvSpPr/>
          <p:nvPr/>
        </p:nvSpPr>
        <p:spPr>
          <a:xfrm>
            <a:off x="3338503" y="1038690"/>
            <a:ext cx="2466966" cy="116086"/>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FF4500"/>
              </a:buClr>
              <a:buSzPts val="621"/>
              <a:buFont typeface="Roboto Mono"/>
              <a:buNone/>
            </a:pPr>
            <a:r>
              <a:rPr b="0" i="0" lang="en-US" sz="621" u="none" cap="none" strike="noStrike">
                <a:solidFill>
                  <a:srgbClr val="FF4500"/>
                </a:solidFill>
                <a:latin typeface="Roboto Mono"/>
                <a:ea typeface="Roboto Mono"/>
                <a:cs typeface="Roboto Mono"/>
                <a:sym typeface="Roboto Mono"/>
              </a:rPr>
              <a:t>→ actuator.states</a:t>
            </a:r>
            <a:endParaRPr b="0" i="0" sz="621" u="none" cap="none" strike="noStrike">
              <a:solidFill>
                <a:schemeClr val="dk1"/>
              </a:solidFill>
              <a:latin typeface="Calibri"/>
              <a:ea typeface="Calibri"/>
              <a:cs typeface="Calibri"/>
              <a:sym typeface="Calibri"/>
            </a:endParaRPr>
          </a:p>
        </p:txBody>
      </p:sp>
      <p:sp>
        <p:nvSpPr>
          <p:cNvPr id="585" name="Google Shape;585;p24"/>
          <p:cNvSpPr/>
          <p:nvPr/>
        </p:nvSpPr>
        <p:spPr>
          <a:xfrm>
            <a:off x="3338503" y="1226214"/>
            <a:ext cx="2466966" cy="1828800"/>
          </a:xfrm>
          <a:prstGeom prst="rect">
            <a:avLst/>
          </a:prstGeom>
          <a:solidFill>
            <a:srgbClr val="000000">
              <a:alpha val="50196"/>
            </a:srgbClr>
          </a:solidFill>
          <a:ln cap="flat" cmpd="sng" w="9525">
            <a:solidFill>
              <a:srgbClr val="FFFFFF">
                <a:alpha val="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4"/>
          <p:cNvSpPr/>
          <p:nvPr/>
        </p:nvSpPr>
        <p:spPr>
          <a:xfrm>
            <a:off x="3338503" y="1226214"/>
            <a:ext cx="2466966" cy="1828800"/>
          </a:xfrm>
          <a:prstGeom prst="rect">
            <a:avLst/>
          </a:prstGeom>
          <a:noFill/>
          <a:ln>
            <a:noFill/>
          </a:ln>
        </p:spPr>
        <p:txBody>
          <a:bodyPr anchorCtr="0" anchor="t" bIns="0" lIns="85075" spcFirstLastPara="1" rIns="85075" wrap="square" tIns="85075">
            <a:noAutofit/>
          </a:bodyPr>
          <a:lstStyle/>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"actuator_id": "cooling_fan",</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"is_on": true,</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"updated_at": "2026-03-..."</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a:t>
            </a:r>
            <a:endParaRPr b="0" i="0" sz="568" u="none" cap="none" strike="noStrike">
              <a:solidFill>
                <a:schemeClr val="dk1"/>
              </a:solidFill>
              <a:latin typeface="Calibri"/>
              <a:ea typeface="Calibri"/>
              <a:cs typeface="Calibri"/>
              <a:sym typeface="Calibri"/>
            </a:endParaRPr>
          </a:p>
        </p:txBody>
      </p:sp>
      <p:sp>
        <p:nvSpPr>
          <p:cNvPr id="587" name="Google Shape;587;p24"/>
          <p:cNvSpPr/>
          <p:nvPr/>
        </p:nvSpPr>
        <p:spPr>
          <a:xfrm>
            <a:off x="6019781" y="769014"/>
            <a:ext cx="2681306" cy="2286000"/>
          </a:xfrm>
          <a:prstGeom prst="rect">
            <a:avLst/>
          </a:prstGeom>
          <a:solidFill>
            <a:srgbClr val="00FFFF">
              <a:alpha val="3137"/>
            </a:srgbClr>
          </a:solidFill>
          <a:ln cap="flat" cmpd="sng" w="9525">
            <a:solidFill>
              <a:srgbClr val="00FFFF">
                <a:alpha val="10196"/>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4"/>
          <p:cNvSpPr/>
          <p:nvPr/>
        </p:nvSpPr>
        <p:spPr>
          <a:xfrm>
            <a:off x="6126938" y="876170"/>
            <a:ext cx="2466994" cy="126802"/>
          </a:xfrm>
          <a:prstGeom prst="rect">
            <a:avLst/>
          </a:prstGeom>
          <a:noFill/>
          <a:ln>
            <a:noFill/>
          </a:ln>
        </p:spPr>
        <p:txBody>
          <a:bodyPr anchorCtr="0" anchor="t" bIns="0" lIns="0" spcFirstLastPara="1" rIns="0" wrap="square" tIns="0">
            <a:noAutofit/>
          </a:bodyPr>
          <a:lstStyle/>
          <a:p>
            <a:pPr indent="0" lvl="0" marL="0" marR="0" rtl="0" algn="l">
              <a:lnSpc>
                <a:spcPct val="123796"/>
              </a:lnSpc>
              <a:spcBef>
                <a:spcPts val="0"/>
              </a:spcBef>
              <a:spcAft>
                <a:spcPts val="0"/>
              </a:spcAft>
              <a:buClr>
                <a:srgbClr val="00FFFF"/>
              </a:buClr>
              <a:buSzPts val="727"/>
              <a:buFont typeface="Orbitron"/>
              <a:buNone/>
            </a:pPr>
            <a:r>
              <a:rPr b="0" i="0" lang="en-US" sz="727" u="none" cap="none" strike="noStrike">
                <a:solidFill>
                  <a:srgbClr val="00FFFF"/>
                </a:solidFill>
                <a:latin typeface="Orbitron"/>
                <a:ea typeface="Orbitron"/>
                <a:cs typeface="Orbitron"/>
                <a:sym typeface="Orbitron"/>
              </a:rPr>
              <a:t>ACTUATOR COMMAND</a:t>
            </a:r>
            <a:endParaRPr b="0" i="0" sz="727" u="none" cap="none" strike="noStrike">
              <a:solidFill>
                <a:schemeClr val="dk1"/>
              </a:solidFill>
              <a:latin typeface="Calibri"/>
              <a:ea typeface="Calibri"/>
              <a:cs typeface="Calibri"/>
              <a:sym typeface="Calibri"/>
            </a:endParaRPr>
          </a:p>
        </p:txBody>
      </p:sp>
      <p:sp>
        <p:nvSpPr>
          <p:cNvPr id="589" name="Google Shape;589;p24"/>
          <p:cNvSpPr/>
          <p:nvPr/>
        </p:nvSpPr>
        <p:spPr>
          <a:xfrm>
            <a:off x="6126938" y="1038690"/>
            <a:ext cx="2466994" cy="116086"/>
          </a:xfrm>
          <a:prstGeom prst="rect">
            <a:avLst/>
          </a:prstGeom>
          <a:noFill/>
          <a:ln>
            <a:noFill/>
          </a:ln>
        </p:spPr>
        <p:txBody>
          <a:bodyPr anchorCtr="0" anchor="t" bIns="0" lIns="0" spcFirstLastPara="1" rIns="0" wrap="square" tIns="0">
            <a:noAutofit/>
          </a:bodyPr>
          <a:lstStyle/>
          <a:p>
            <a:pPr indent="0" lvl="0" marL="0" marR="0" rtl="0" algn="l">
              <a:lnSpc>
                <a:spcPct val="128824"/>
              </a:lnSpc>
              <a:spcBef>
                <a:spcPts val="0"/>
              </a:spcBef>
              <a:spcAft>
                <a:spcPts val="0"/>
              </a:spcAft>
              <a:buClr>
                <a:srgbClr val="FF4500"/>
              </a:buClr>
              <a:buSzPts val="621"/>
              <a:buFont typeface="Roboto Mono"/>
              <a:buNone/>
            </a:pPr>
            <a:r>
              <a:rPr b="0" i="0" lang="en-US" sz="621" u="none" cap="none" strike="noStrike">
                <a:solidFill>
                  <a:srgbClr val="FF4500"/>
                </a:solidFill>
                <a:latin typeface="Roboto Mono"/>
                <a:ea typeface="Roboto Mono"/>
                <a:cs typeface="Roboto Mono"/>
                <a:sym typeface="Roboto Mono"/>
              </a:rPr>
              <a:t>← actuator.commands</a:t>
            </a:r>
            <a:endParaRPr b="0" i="0" sz="621" u="none" cap="none" strike="noStrike">
              <a:solidFill>
                <a:schemeClr val="dk1"/>
              </a:solidFill>
              <a:latin typeface="Calibri"/>
              <a:ea typeface="Calibri"/>
              <a:cs typeface="Calibri"/>
              <a:sym typeface="Calibri"/>
            </a:endParaRPr>
          </a:p>
        </p:txBody>
      </p:sp>
      <p:sp>
        <p:nvSpPr>
          <p:cNvPr id="590" name="Google Shape;590;p24"/>
          <p:cNvSpPr/>
          <p:nvPr/>
        </p:nvSpPr>
        <p:spPr>
          <a:xfrm>
            <a:off x="6126938" y="1226214"/>
            <a:ext cx="2466994" cy="1828800"/>
          </a:xfrm>
          <a:prstGeom prst="rect">
            <a:avLst/>
          </a:prstGeom>
          <a:solidFill>
            <a:srgbClr val="000000">
              <a:alpha val="50196"/>
            </a:srgbClr>
          </a:solidFill>
          <a:ln cap="flat" cmpd="sng" w="9525">
            <a:solidFill>
              <a:srgbClr val="FFFFFF">
                <a:alpha val="5098"/>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4"/>
          <p:cNvSpPr/>
          <p:nvPr/>
        </p:nvSpPr>
        <p:spPr>
          <a:xfrm>
            <a:off x="6126938" y="1226214"/>
            <a:ext cx="2466994" cy="1828800"/>
          </a:xfrm>
          <a:prstGeom prst="rect">
            <a:avLst/>
          </a:prstGeom>
          <a:noFill/>
          <a:ln>
            <a:noFill/>
          </a:ln>
        </p:spPr>
        <p:txBody>
          <a:bodyPr anchorCtr="0" anchor="t" bIns="0" lIns="85075" spcFirstLastPara="1" rIns="85075" wrap="square" tIns="85075">
            <a:noAutofit/>
          </a:bodyPr>
          <a:lstStyle/>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"actuator_id": "cooling_fan",</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"is_on": true,</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  "created_at": "2026-03-..."</a:t>
            </a:r>
            <a:endParaRPr b="0" i="0" sz="568" u="none" cap="none" strike="noStrike">
              <a:solidFill>
                <a:schemeClr val="dk1"/>
              </a:solidFill>
              <a:latin typeface="Calibri"/>
              <a:ea typeface="Calibri"/>
              <a:cs typeface="Calibri"/>
              <a:sym typeface="Calibri"/>
            </a:endParaRPr>
          </a:p>
          <a:p>
            <a:pPr indent="0" lvl="0" marL="0" marR="0" rtl="0" algn="l">
              <a:lnSpc>
                <a:spcPct val="123239"/>
              </a:lnSpc>
              <a:spcBef>
                <a:spcPts val="0"/>
              </a:spcBef>
              <a:spcAft>
                <a:spcPts val="0"/>
              </a:spcAft>
              <a:buClr>
                <a:srgbClr val="E0E0E0"/>
              </a:buClr>
              <a:buSzPts val="568"/>
              <a:buFont typeface="Roboto Mono"/>
              <a:buNone/>
            </a:pPr>
            <a:r>
              <a:rPr b="0" i="0" lang="en-US" sz="568" u="none" cap="none" strike="noStrike">
                <a:solidFill>
                  <a:srgbClr val="E0E0E0"/>
                </a:solidFill>
                <a:latin typeface="Roboto Mono"/>
                <a:ea typeface="Roboto Mono"/>
                <a:cs typeface="Roboto Mono"/>
                <a:sym typeface="Roboto Mono"/>
              </a:rPr>
              <a:t>}</a:t>
            </a:r>
            <a:endParaRPr b="0" i="0" sz="568" u="none" cap="none" strike="noStrike">
              <a:solidFill>
                <a:schemeClr val="dk1"/>
              </a:solidFill>
              <a:latin typeface="Calibri"/>
              <a:ea typeface="Calibri"/>
              <a:cs typeface="Calibri"/>
              <a:sym typeface="Calibri"/>
            </a:endParaRPr>
          </a:p>
        </p:txBody>
      </p:sp>
      <p:sp>
        <p:nvSpPr>
          <p:cNvPr id="592" name="Google Shape;592;p24"/>
          <p:cNvSpPr/>
          <p:nvPr/>
        </p:nvSpPr>
        <p:spPr>
          <a:xfrm>
            <a:off x="3513613" y="3228200"/>
            <a:ext cx="2116800" cy="126900"/>
          </a:xfrm>
          <a:prstGeom prst="rect">
            <a:avLst/>
          </a:prstGeom>
          <a:noFill/>
          <a:ln>
            <a:noFill/>
          </a:ln>
        </p:spPr>
        <p:txBody>
          <a:bodyPr anchorCtr="0" anchor="t" bIns="0" lIns="0" spcFirstLastPara="1" rIns="0" wrap="square" tIns="0">
            <a:noAutofit/>
          </a:bodyPr>
          <a:lstStyle/>
          <a:p>
            <a:pPr indent="0" lvl="0" marL="0" marR="0" rtl="0" algn="l">
              <a:lnSpc>
                <a:spcPct val="131894"/>
              </a:lnSpc>
              <a:spcBef>
                <a:spcPts val="0"/>
              </a:spcBef>
              <a:spcAft>
                <a:spcPts val="0"/>
              </a:spcAft>
              <a:buClr>
                <a:srgbClr val="FF4500"/>
              </a:buClr>
              <a:buSzPts val="834"/>
              <a:buFont typeface="Orbitron"/>
              <a:buNone/>
            </a:pPr>
            <a:r>
              <a:rPr lang="en-US" sz="834">
                <a:solidFill>
                  <a:srgbClr val="FF4500"/>
                </a:solidFill>
                <a:latin typeface="Orbitron"/>
                <a:ea typeface="Orbitron"/>
                <a:cs typeface="Orbitron"/>
                <a:sym typeface="Orbitron"/>
              </a:rPr>
              <a:t> </a:t>
            </a:r>
            <a:r>
              <a:rPr b="0" i="0" lang="en-US" sz="834" u="none" cap="none" strike="noStrike">
                <a:solidFill>
                  <a:srgbClr val="FF4500"/>
                </a:solidFill>
                <a:latin typeface="Orbitron"/>
                <a:ea typeface="Orbitron"/>
                <a:cs typeface="Orbitron"/>
                <a:sym typeface="Orbitron"/>
              </a:rPr>
              <a:t>MESSAGING FLOW (END-TO-END)</a:t>
            </a:r>
            <a:endParaRPr b="0" i="0" sz="834" u="none" cap="none" strike="noStrike">
              <a:solidFill>
                <a:schemeClr val="dk1"/>
              </a:solidFill>
              <a:latin typeface="Calibri"/>
              <a:ea typeface="Calibri"/>
              <a:cs typeface="Calibri"/>
              <a:sym typeface="Calibri"/>
            </a:endParaRPr>
          </a:p>
        </p:txBody>
      </p:sp>
      <p:sp>
        <p:nvSpPr>
          <p:cNvPr id="593" name="Google Shape;593;p24"/>
          <p:cNvSpPr/>
          <p:nvPr/>
        </p:nvSpPr>
        <p:spPr>
          <a:xfrm>
            <a:off x="3395652" y="3528275"/>
            <a:ext cx="1549500" cy="1532100"/>
          </a:xfrm>
          <a:prstGeom prst="rect">
            <a:avLst/>
          </a:prstGeom>
          <a:noFill/>
          <a:ln>
            <a:noFill/>
          </a:ln>
        </p:spPr>
        <p:txBody>
          <a:bodyPr anchorCtr="0" anchor="t" bIns="0" lIns="0" spcFirstLastPara="1" rIns="0" wrap="square" tIns="0">
            <a:noAutofit/>
          </a:bodyPr>
          <a:lstStyle/>
          <a:p>
            <a:pPr indent="0" lvl="0" marL="0" marR="0" rtl="0" algn="l">
              <a:lnSpc>
                <a:spcPct val="140845"/>
              </a:lnSpc>
              <a:spcBef>
                <a:spcPts val="0"/>
              </a:spcBef>
              <a:spcAft>
                <a:spcPts val="0"/>
              </a:spcAft>
              <a:buClr>
                <a:srgbClr val="00FFFF"/>
              </a:buClr>
              <a:buSzPts val="568"/>
              <a:buFont typeface="Roboto Mono"/>
              <a:buNone/>
            </a:pPr>
            <a:r>
              <a:rPr b="0" i="0" lang="en-US" sz="568" u="none" cap="none" strike="noStrike">
                <a:solidFill>
                  <a:srgbClr val="00FFFF"/>
                </a:solidFill>
                <a:latin typeface="Roboto Mono"/>
                <a:ea typeface="Roboto Mono"/>
                <a:cs typeface="Roboto Mono"/>
                <a:sym typeface="Roboto Mono"/>
              </a:rPr>
              <a:t>Simulator REST API</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 poll / fetch</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Converter Service</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 normalize</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sensor.events (multicast)</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 consume</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automation-rules</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 evaluate rules</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actuator.commands (anycast)</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 consume</a:t>
            </a: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Converter Service</a:t>
            </a:r>
            <a:endParaRPr b="0" i="0" sz="568" u="none" cap="none" strike="noStrike">
              <a:solidFill>
                <a:srgbClr val="00FFFF"/>
              </a:solidFill>
              <a:latin typeface="Roboto Mono"/>
              <a:ea typeface="Roboto Mono"/>
              <a:cs typeface="Roboto Mono"/>
              <a:sym typeface="Roboto Mono"/>
            </a:endParaRPr>
          </a:p>
          <a:p>
            <a:pPr indent="0" lvl="0" marL="0" marR="0" rtl="0" algn="l">
              <a:lnSpc>
                <a:spcPct val="140845"/>
              </a:lnSpc>
              <a:spcBef>
                <a:spcPts val="0"/>
              </a:spcBef>
              <a:spcAft>
                <a:spcPts val="0"/>
              </a:spcAft>
              <a:buClr>
                <a:srgbClr val="00FFFF"/>
              </a:buClr>
              <a:buSzPts val="568"/>
              <a:buFont typeface="Roboto Mono"/>
              <a:buNone/>
            </a:pP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a:t>
            </a:r>
            <a:endParaRPr b="0" i="0" sz="568" u="none" cap="none" strike="noStrike">
              <a:solidFill>
                <a:schemeClr val="dk1"/>
              </a:solidFill>
              <a:latin typeface="Calibri"/>
              <a:ea typeface="Calibri"/>
              <a:cs typeface="Calibri"/>
              <a:sym typeface="Calibri"/>
            </a:endParaRPr>
          </a:p>
        </p:txBody>
      </p:sp>
      <p:sp>
        <p:nvSpPr>
          <p:cNvPr id="594" name="Google Shape;594;p24"/>
          <p:cNvSpPr/>
          <p:nvPr/>
        </p:nvSpPr>
        <p:spPr>
          <a:xfrm>
            <a:off x="3231359" y="3528287"/>
            <a:ext cx="21300" cy="1532100"/>
          </a:xfrm>
          <a:prstGeom prst="rect">
            <a:avLst/>
          </a:prstGeom>
          <a:solidFill>
            <a:srgbClr val="FF45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4"/>
          <p:cNvSpPr/>
          <p:nvPr/>
        </p:nvSpPr>
        <p:spPr>
          <a:xfrm>
            <a:off x="4881677" y="3528275"/>
            <a:ext cx="1549500" cy="1532100"/>
          </a:xfrm>
          <a:prstGeom prst="rect">
            <a:avLst/>
          </a:prstGeom>
          <a:noFill/>
          <a:ln>
            <a:noFill/>
          </a:ln>
        </p:spPr>
        <p:txBody>
          <a:bodyPr anchorCtr="0" anchor="t" bIns="0" lIns="0" spcFirstLastPara="1" rIns="0" wrap="square" tIns="0">
            <a:noAutofit/>
          </a:bodyPr>
          <a:lstStyle/>
          <a:p>
            <a:pPr indent="0" lvl="0" marL="0" rtl="0" algn="l">
              <a:lnSpc>
                <a:spcPct val="169014"/>
              </a:lnSpc>
              <a:spcBef>
                <a:spcPts val="0"/>
              </a:spcBef>
              <a:spcAft>
                <a:spcPts val="0"/>
              </a:spcAft>
              <a:buClr>
                <a:schemeClr val="dk1"/>
              </a:buClr>
              <a:buSzPts val="1100"/>
              <a:buFont typeface="Arial"/>
              <a:buNone/>
            </a:pPr>
            <a:r>
              <a:rPr lang="en-US" sz="550">
                <a:solidFill>
                  <a:srgbClr val="00FFFF"/>
                </a:solidFill>
                <a:latin typeface="Roboto Mono"/>
                <a:ea typeface="Roboto Mono"/>
                <a:cs typeface="Roboto Mono"/>
                <a:sym typeface="Roboto Mono"/>
              </a:rPr>
              <a:t>↓ REST call</a:t>
            </a:r>
            <a:br>
              <a:rPr lang="en-US" sz="550">
                <a:solidFill>
                  <a:srgbClr val="00FFFF"/>
                </a:solidFill>
                <a:latin typeface="Roboto Mono"/>
                <a:ea typeface="Roboto Mono"/>
                <a:cs typeface="Roboto Mono"/>
                <a:sym typeface="Roboto Mono"/>
              </a:rPr>
            </a:br>
            <a:r>
              <a:rPr lang="en-US" sz="550">
                <a:solidFill>
                  <a:srgbClr val="00FFFF"/>
                </a:solidFill>
                <a:latin typeface="Roboto Mono"/>
                <a:ea typeface="Roboto Mono"/>
                <a:cs typeface="Roboto Mono"/>
                <a:sym typeface="Roboto Mono"/>
              </a:rPr>
              <a:t> Simulator REST API</a:t>
            </a:r>
            <a:br>
              <a:rPr lang="en-US" sz="550">
                <a:solidFill>
                  <a:srgbClr val="00FFFF"/>
                </a:solidFill>
                <a:latin typeface="Roboto Mono"/>
                <a:ea typeface="Roboto Mono"/>
                <a:cs typeface="Roboto Mono"/>
                <a:sym typeface="Roboto Mono"/>
              </a:rPr>
            </a:br>
            <a:r>
              <a:rPr lang="en-US" sz="550">
                <a:solidFill>
                  <a:srgbClr val="00FFFF"/>
                </a:solidFill>
                <a:latin typeface="Roboto Mono"/>
                <a:ea typeface="Roboto Mono"/>
                <a:cs typeface="Roboto Mono"/>
                <a:sym typeface="Roboto Mono"/>
              </a:rPr>
              <a:t> ↓ publish new state</a:t>
            </a:r>
            <a:br>
              <a:rPr lang="en-US" sz="550">
                <a:solidFill>
                  <a:srgbClr val="00FFFF"/>
                </a:solidFill>
                <a:latin typeface="Roboto Mono"/>
                <a:ea typeface="Roboto Mono"/>
                <a:cs typeface="Roboto Mono"/>
                <a:sym typeface="Roboto Mono"/>
              </a:rPr>
            </a:br>
            <a:r>
              <a:rPr lang="en-US" sz="550">
                <a:solidFill>
                  <a:srgbClr val="00FFFF"/>
                </a:solidFill>
                <a:latin typeface="Roboto Mono"/>
                <a:ea typeface="Roboto Mono"/>
                <a:cs typeface="Roboto Mono"/>
                <a:sym typeface="Roboto Mono"/>
              </a:rPr>
              <a:t> actuator.states (anycast)</a:t>
            </a:r>
            <a:endParaRPr sz="550">
              <a:solidFill>
                <a:srgbClr val="00FFFF"/>
              </a:solidFill>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100">
              <a:solidFill>
                <a:schemeClr val="dk1"/>
              </a:solidFill>
            </a:endParaRPr>
          </a:p>
          <a:p>
            <a:pPr indent="0" lvl="0" marL="0" marR="0" rtl="0" algn="l">
              <a:lnSpc>
                <a:spcPct val="140845"/>
              </a:lnSpc>
              <a:spcBef>
                <a:spcPts val="0"/>
              </a:spcBef>
              <a:spcAft>
                <a:spcPts val="0"/>
              </a:spcAft>
              <a:buClr>
                <a:srgbClr val="00FFFF"/>
              </a:buClr>
              <a:buSzPts val="568"/>
              <a:buFont typeface="Roboto Mono"/>
              <a:buNone/>
            </a:pPr>
            <a:r>
              <a:t/>
            </a:r>
            <a:endParaRPr sz="568">
              <a:solidFill>
                <a:srgbClr val="00FFFF"/>
              </a:solidFill>
              <a:latin typeface="Roboto Mono"/>
              <a:ea typeface="Roboto Mono"/>
              <a:cs typeface="Roboto Mono"/>
              <a:sym typeface="Roboto Mono"/>
            </a:endParaRPr>
          </a:p>
          <a:p>
            <a:pPr indent="0" lvl="0" marL="0" marR="0" rtl="0" algn="l">
              <a:lnSpc>
                <a:spcPct val="140845"/>
              </a:lnSpc>
              <a:spcBef>
                <a:spcPts val="0"/>
              </a:spcBef>
              <a:spcAft>
                <a:spcPts val="0"/>
              </a:spcAft>
              <a:buClr>
                <a:srgbClr val="00FFFF"/>
              </a:buClr>
              <a:buSzPts val="568"/>
              <a:buFont typeface="Roboto Mono"/>
              <a:buNone/>
            </a:pPr>
            <a:br>
              <a:rPr b="0" i="0" lang="en-US" sz="568" u="none" cap="none" strike="noStrike">
                <a:solidFill>
                  <a:srgbClr val="00FFFF"/>
                </a:solidFill>
                <a:latin typeface="Roboto Mono"/>
                <a:ea typeface="Roboto Mono"/>
                <a:cs typeface="Roboto Mono"/>
                <a:sym typeface="Roboto Mono"/>
              </a:rPr>
            </a:br>
            <a:r>
              <a:rPr b="0" i="0" lang="en-US" sz="568" u="none" cap="none" strike="noStrike">
                <a:solidFill>
                  <a:srgbClr val="00FFFF"/>
                </a:solidFill>
                <a:latin typeface="Roboto Mono"/>
                <a:ea typeface="Roboto Mono"/>
                <a:cs typeface="Roboto Mono"/>
                <a:sym typeface="Roboto Mono"/>
              </a:rPr>
              <a:t> </a:t>
            </a:r>
            <a:endParaRPr b="0" i="0" sz="568"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0" name="Shape 600"/>
        <p:cNvGrpSpPr/>
        <p:nvPr/>
      </p:nvGrpSpPr>
      <p:grpSpPr>
        <a:xfrm>
          <a:off x="0" y="0"/>
          <a:ext cx="0" cy="0"/>
          <a:chOff x="0" y="0"/>
          <a:chExt cx="0" cy="0"/>
        </a:xfrm>
      </p:grpSpPr>
      <p:pic>
        <p:nvPicPr>
          <p:cNvPr descr="preencoded.png" id="601" name="Google Shape;601;p2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602" name="Google Shape;602;p25"/>
          <p:cNvSpPr/>
          <p:nvPr/>
        </p:nvSpPr>
        <p:spPr>
          <a:xfrm>
            <a:off x="6831211" y="142875"/>
            <a:ext cx="2027100" cy="89400"/>
          </a:xfrm>
          <a:prstGeom prst="rect">
            <a:avLst/>
          </a:prstGeom>
          <a:noFill/>
          <a:ln>
            <a:noFill/>
          </a:ln>
        </p:spPr>
        <p:txBody>
          <a:bodyPr anchorCtr="0" anchor="t" bIns="0" lIns="0" spcFirstLastPara="1" rIns="0" wrap="square" tIns="0">
            <a:noAutofit/>
          </a:bodyPr>
          <a:lstStyle/>
          <a:p>
            <a:pPr indent="0" lvl="0" marL="0" marR="0" rtl="0" algn="l">
              <a:lnSpc>
                <a:spcPct val="135658"/>
              </a:lnSpc>
              <a:spcBef>
                <a:spcPts val="0"/>
              </a:spcBef>
              <a:spcAft>
                <a:spcPts val="0"/>
              </a:spcAft>
              <a:buClr>
                <a:srgbClr val="00FFFF"/>
              </a:buClr>
              <a:buSzPts val="516"/>
              <a:buFont typeface="Orbitron"/>
              <a:buNone/>
            </a:pPr>
            <a:r>
              <a:rPr b="0" i="0" lang="en-US" sz="516" u="none" cap="none" strike="noStrike">
                <a:solidFill>
                  <a:srgbClr val="00FFFF"/>
                </a:solidFill>
                <a:latin typeface="Orbitron"/>
                <a:ea typeface="Orbitron"/>
                <a:cs typeface="Orbitron"/>
                <a:sym typeface="Orbitron"/>
              </a:rPr>
              <a:t>MARSOPS // CONVERTER // MSG_SCHEMA</a:t>
            </a:r>
            <a:endParaRPr b="0" i="0" sz="516" u="none" cap="none" strike="noStrike">
              <a:solidFill>
                <a:schemeClr val="dk1"/>
              </a:solidFill>
              <a:latin typeface="Calibri"/>
              <a:ea typeface="Calibri"/>
              <a:cs typeface="Calibri"/>
              <a:sym typeface="Calibri"/>
            </a:endParaRPr>
          </a:p>
        </p:txBody>
      </p:sp>
      <p:sp>
        <p:nvSpPr>
          <p:cNvPr id="603" name="Google Shape;603;p25"/>
          <p:cNvSpPr/>
          <p:nvPr/>
        </p:nvSpPr>
        <p:spPr>
          <a:xfrm>
            <a:off x="228625" y="76070"/>
            <a:ext cx="8686800" cy="4991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5"/>
          <p:cNvSpPr/>
          <p:nvPr/>
        </p:nvSpPr>
        <p:spPr>
          <a:xfrm>
            <a:off x="442913" y="297526"/>
            <a:ext cx="8258100" cy="328500"/>
          </a:xfrm>
          <a:prstGeom prst="rect">
            <a:avLst/>
          </a:prstGeom>
          <a:noFill/>
          <a:ln>
            <a:noFill/>
          </a:ln>
        </p:spPr>
        <p:txBody>
          <a:bodyPr anchorCtr="0" anchor="t" bIns="0" lIns="0" spcFirstLastPara="1" rIns="0" wrap="square" tIns="85075">
            <a:noAutofit/>
          </a:bodyPr>
          <a:lstStyle/>
          <a:p>
            <a:pPr indent="0" lvl="0" marL="0" marR="0" rtl="0" algn="l">
              <a:lnSpc>
                <a:spcPct val="136005"/>
              </a:lnSpc>
              <a:spcBef>
                <a:spcPts val="0"/>
              </a:spcBef>
              <a:spcAft>
                <a:spcPts val="0"/>
              </a:spcAft>
              <a:buClr>
                <a:srgbClr val="FF4500"/>
              </a:buClr>
              <a:buSzPts val="1397"/>
              <a:buFont typeface="Orbitron"/>
              <a:buNone/>
            </a:pPr>
            <a:r>
              <a:rPr b="1" lang="en-US" sz="1397">
                <a:solidFill>
                  <a:srgbClr val="FF4500"/>
                </a:solidFill>
                <a:latin typeface="Orbitron"/>
                <a:ea typeface="Orbitron"/>
                <a:cs typeface="Orbitron"/>
                <a:sym typeface="Orbitron"/>
              </a:rPr>
              <a:t>FRONTEND</a:t>
            </a:r>
            <a:endParaRPr b="0" i="0" sz="1397" u="none" cap="none" strike="noStrike">
              <a:solidFill>
                <a:schemeClr val="dk1"/>
              </a:solidFill>
              <a:latin typeface="Calibri"/>
              <a:ea typeface="Calibri"/>
              <a:cs typeface="Calibri"/>
              <a:sym typeface="Calibri"/>
            </a:endParaRPr>
          </a:p>
        </p:txBody>
      </p:sp>
      <p:pic>
        <p:nvPicPr>
          <p:cNvPr id="605" name="Google Shape;605;p25" title="Screenshot 2026-03-10 at 23.54.08.png"/>
          <p:cNvPicPr preferRelativeResize="0"/>
          <p:nvPr/>
        </p:nvPicPr>
        <p:blipFill>
          <a:blip r:embed="rId4">
            <a:alphaModFix/>
          </a:blip>
          <a:stretch>
            <a:fillRect/>
          </a:stretch>
        </p:blipFill>
        <p:spPr>
          <a:xfrm>
            <a:off x="1459874" y="691275"/>
            <a:ext cx="6224174" cy="4035998"/>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pic>
        <p:nvPicPr>
          <p:cNvPr descr="preencoded.png" id="611" name="Google Shape;611;p2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612" name="Google Shape;612;p26"/>
          <p:cNvSpPr/>
          <p:nvPr/>
        </p:nvSpPr>
        <p:spPr>
          <a:xfrm>
            <a:off x="6831211" y="142875"/>
            <a:ext cx="2027100" cy="89400"/>
          </a:xfrm>
          <a:prstGeom prst="rect">
            <a:avLst/>
          </a:prstGeom>
          <a:noFill/>
          <a:ln>
            <a:noFill/>
          </a:ln>
        </p:spPr>
        <p:txBody>
          <a:bodyPr anchorCtr="0" anchor="t" bIns="0" lIns="0" spcFirstLastPara="1" rIns="0" wrap="square" tIns="0">
            <a:noAutofit/>
          </a:bodyPr>
          <a:lstStyle/>
          <a:p>
            <a:pPr indent="0" lvl="0" marL="0" marR="0" rtl="0" algn="l">
              <a:lnSpc>
                <a:spcPct val="135658"/>
              </a:lnSpc>
              <a:spcBef>
                <a:spcPts val="0"/>
              </a:spcBef>
              <a:spcAft>
                <a:spcPts val="0"/>
              </a:spcAft>
              <a:buClr>
                <a:srgbClr val="00FFFF"/>
              </a:buClr>
              <a:buSzPts val="516"/>
              <a:buFont typeface="Orbitron"/>
              <a:buNone/>
            </a:pPr>
            <a:r>
              <a:rPr b="0" i="0" lang="en-US" sz="516" u="none" cap="none" strike="noStrike">
                <a:solidFill>
                  <a:srgbClr val="00FFFF"/>
                </a:solidFill>
                <a:latin typeface="Orbitron"/>
                <a:ea typeface="Orbitron"/>
                <a:cs typeface="Orbitron"/>
                <a:sym typeface="Orbitron"/>
              </a:rPr>
              <a:t>MARSOPS // CONVERTER // MSG_SCHEMA</a:t>
            </a:r>
            <a:endParaRPr b="0" i="0" sz="516" u="none" cap="none" strike="noStrike">
              <a:solidFill>
                <a:schemeClr val="dk1"/>
              </a:solidFill>
              <a:latin typeface="Calibri"/>
              <a:ea typeface="Calibri"/>
              <a:cs typeface="Calibri"/>
              <a:sym typeface="Calibri"/>
            </a:endParaRPr>
          </a:p>
        </p:txBody>
      </p:sp>
      <p:sp>
        <p:nvSpPr>
          <p:cNvPr id="613" name="Google Shape;613;p26"/>
          <p:cNvSpPr/>
          <p:nvPr/>
        </p:nvSpPr>
        <p:spPr>
          <a:xfrm>
            <a:off x="228625" y="76070"/>
            <a:ext cx="8686800" cy="4991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6"/>
          <p:cNvSpPr/>
          <p:nvPr/>
        </p:nvSpPr>
        <p:spPr>
          <a:xfrm>
            <a:off x="442913" y="297526"/>
            <a:ext cx="8258100" cy="328500"/>
          </a:xfrm>
          <a:prstGeom prst="rect">
            <a:avLst/>
          </a:prstGeom>
          <a:noFill/>
          <a:ln>
            <a:noFill/>
          </a:ln>
        </p:spPr>
        <p:txBody>
          <a:bodyPr anchorCtr="0" anchor="t" bIns="0" lIns="0" spcFirstLastPara="1" rIns="0" wrap="square" tIns="85075">
            <a:noAutofit/>
          </a:bodyPr>
          <a:lstStyle/>
          <a:p>
            <a:pPr indent="0" lvl="0" marL="0" marR="0" rtl="0" algn="l">
              <a:lnSpc>
                <a:spcPct val="136005"/>
              </a:lnSpc>
              <a:spcBef>
                <a:spcPts val="0"/>
              </a:spcBef>
              <a:spcAft>
                <a:spcPts val="0"/>
              </a:spcAft>
              <a:buClr>
                <a:srgbClr val="FF4500"/>
              </a:buClr>
              <a:buSzPts val="1397"/>
              <a:buFont typeface="Orbitron"/>
              <a:buNone/>
            </a:pPr>
            <a:r>
              <a:rPr b="1" lang="en-US" sz="1397">
                <a:solidFill>
                  <a:srgbClr val="FF4500"/>
                </a:solidFill>
                <a:latin typeface="Orbitron"/>
                <a:ea typeface="Orbitron"/>
                <a:cs typeface="Orbitron"/>
                <a:sym typeface="Orbitron"/>
              </a:rPr>
              <a:t>FRONTEND</a:t>
            </a:r>
            <a:endParaRPr b="0" i="0" sz="1397" u="none" cap="none" strike="noStrike">
              <a:solidFill>
                <a:schemeClr val="dk1"/>
              </a:solidFill>
              <a:latin typeface="Calibri"/>
              <a:ea typeface="Calibri"/>
              <a:cs typeface="Calibri"/>
              <a:sym typeface="Calibri"/>
            </a:endParaRPr>
          </a:p>
        </p:txBody>
      </p:sp>
      <p:pic>
        <p:nvPicPr>
          <p:cNvPr id="615" name="Google Shape;615;p26" title="Screenshot 2026-03-10 at 23.51.45.png"/>
          <p:cNvPicPr preferRelativeResize="0"/>
          <p:nvPr/>
        </p:nvPicPr>
        <p:blipFill>
          <a:blip r:embed="rId4">
            <a:alphaModFix/>
          </a:blip>
          <a:stretch>
            <a:fillRect/>
          </a:stretch>
        </p:blipFill>
        <p:spPr>
          <a:xfrm>
            <a:off x="1459887" y="691275"/>
            <a:ext cx="6224174" cy="40359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0" name="Shape 620"/>
        <p:cNvGrpSpPr/>
        <p:nvPr/>
      </p:nvGrpSpPr>
      <p:grpSpPr>
        <a:xfrm>
          <a:off x="0" y="0"/>
          <a:ext cx="0" cy="0"/>
          <a:chOff x="0" y="0"/>
          <a:chExt cx="0" cy="0"/>
        </a:xfrm>
      </p:grpSpPr>
      <p:pic>
        <p:nvPicPr>
          <p:cNvPr descr="preencoded.png" id="621" name="Google Shape;621;p27"/>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622" name="Google Shape;622;p27"/>
          <p:cNvSpPr/>
          <p:nvPr/>
        </p:nvSpPr>
        <p:spPr>
          <a:xfrm>
            <a:off x="6831211" y="142875"/>
            <a:ext cx="2027100" cy="89400"/>
          </a:xfrm>
          <a:prstGeom prst="rect">
            <a:avLst/>
          </a:prstGeom>
          <a:noFill/>
          <a:ln>
            <a:noFill/>
          </a:ln>
        </p:spPr>
        <p:txBody>
          <a:bodyPr anchorCtr="0" anchor="t" bIns="0" lIns="0" spcFirstLastPara="1" rIns="0" wrap="square" tIns="0">
            <a:noAutofit/>
          </a:bodyPr>
          <a:lstStyle/>
          <a:p>
            <a:pPr indent="0" lvl="0" marL="0" marR="0" rtl="0" algn="l">
              <a:lnSpc>
                <a:spcPct val="135658"/>
              </a:lnSpc>
              <a:spcBef>
                <a:spcPts val="0"/>
              </a:spcBef>
              <a:spcAft>
                <a:spcPts val="0"/>
              </a:spcAft>
              <a:buClr>
                <a:srgbClr val="00FFFF"/>
              </a:buClr>
              <a:buSzPts val="516"/>
              <a:buFont typeface="Orbitron"/>
              <a:buNone/>
            </a:pPr>
            <a:r>
              <a:rPr b="0" i="0" lang="en-US" sz="516" u="none" cap="none" strike="noStrike">
                <a:solidFill>
                  <a:srgbClr val="00FFFF"/>
                </a:solidFill>
                <a:latin typeface="Orbitron"/>
                <a:ea typeface="Orbitron"/>
                <a:cs typeface="Orbitron"/>
                <a:sym typeface="Orbitron"/>
              </a:rPr>
              <a:t>MARSOPS // CONVERTER // MSG_SCHEMA</a:t>
            </a:r>
            <a:endParaRPr b="0" i="0" sz="516" u="none" cap="none" strike="noStrike">
              <a:solidFill>
                <a:schemeClr val="dk1"/>
              </a:solidFill>
              <a:latin typeface="Calibri"/>
              <a:ea typeface="Calibri"/>
              <a:cs typeface="Calibri"/>
              <a:sym typeface="Calibri"/>
            </a:endParaRPr>
          </a:p>
        </p:txBody>
      </p:sp>
      <p:sp>
        <p:nvSpPr>
          <p:cNvPr id="623" name="Google Shape;623;p27"/>
          <p:cNvSpPr/>
          <p:nvPr/>
        </p:nvSpPr>
        <p:spPr>
          <a:xfrm>
            <a:off x="228625" y="76070"/>
            <a:ext cx="8686800" cy="4991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7"/>
          <p:cNvSpPr/>
          <p:nvPr/>
        </p:nvSpPr>
        <p:spPr>
          <a:xfrm>
            <a:off x="442913" y="297526"/>
            <a:ext cx="8258100" cy="328500"/>
          </a:xfrm>
          <a:prstGeom prst="rect">
            <a:avLst/>
          </a:prstGeom>
          <a:noFill/>
          <a:ln>
            <a:noFill/>
          </a:ln>
        </p:spPr>
        <p:txBody>
          <a:bodyPr anchorCtr="0" anchor="t" bIns="0" lIns="0" spcFirstLastPara="1" rIns="0" wrap="square" tIns="85075">
            <a:noAutofit/>
          </a:bodyPr>
          <a:lstStyle/>
          <a:p>
            <a:pPr indent="0" lvl="0" marL="0" marR="0" rtl="0" algn="l">
              <a:lnSpc>
                <a:spcPct val="136005"/>
              </a:lnSpc>
              <a:spcBef>
                <a:spcPts val="0"/>
              </a:spcBef>
              <a:spcAft>
                <a:spcPts val="0"/>
              </a:spcAft>
              <a:buClr>
                <a:srgbClr val="FF4500"/>
              </a:buClr>
              <a:buSzPts val="1397"/>
              <a:buFont typeface="Orbitron"/>
              <a:buNone/>
            </a:pPr>
            <a:r>
              <a:rPr b="1" lang="en-US" sz="1397">
                <a:solidFill>
                  <a:srgbClr val="FF4500"/>
                </a:solidFill>
                <a:latin typeface="Orbitron"/>
                <a:ea typeface="Orbitron"/>
                <a:cs typeface="Orbitron"/>
                <a:sym typeface="Orbitron"/>
              </a:rPr>
              <a:t>FRONTEND</a:t>
            </a:r>
            <a:endParaRPr b="0" i="0" sz="1397" u="none" cap="none" strike="noStrike">
              <a:solidFill>
                <a:schemeClr val="dk1"/>
              </a:solidFill>
              <a:latin typeface="Calibri"/>
              <a:ea typeface="Calibri"/>
              <a:cs typeface="Calibri"/>
              <a:sym typeface="Calibri"/>
            </a:endParaRPr>
          </a:p>
        </p:txBody>
      </p:sp>
      <p:pic>
        <p:nvPicPr>
          <p:cNvPr id="625" name="Google Shape;625;p27" title="Screenshot 2026-03-10 at 23.54.57.png"/>
          <p:cNvPicPr preferRelativeResize="0"/>
          <p:nvPr/>
        </p:nvPicPr>
        <p:blipFill>
          <a:blip r:embed="rId4">
            <a:alphaModFix/>
          </a:blip>
          <a:stretch>
            <a:fillRect/>
          </a:stretch>
        </p:blipFill>
        <p:spPr>
          <a:xfrm>
            <a:off x="1459925" y="691275"/>
            <a:ext cx="6224174" cy="403599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0" name="Shape 630"/>
        <p:cNvGrpSpPr/>
        <p:nvPr/>
      </p:nvGrpSpPr>
      <p:grpSpPr>
        <a:xfrm>
          <a:off x="0" y="0"/>
          <a:ext cx="0" cy="0"/>
          <a:chOff x="0" y="0"/>
          <a:chExt cx="0" cy="0"/>
        </a:xfrm>
      </p:grpSpPr>
      <p:pic>
        <p:nvPicPr>
          <p:cNvPr descr="preencoded.png" id="631" name="Google Shape;631;p28"/>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632" name="Google Shape;632;p28"/>
          <p:cNvSpPr/>
          <p:nvPr/>
        </p:nvSpPr>
        <p:spPr>
          <a:xfrm>
            <a:off x="6831211" y="142875"/>
            <a:ext cx="2027100" cy="89400"/>
          </a:xfrm>
          <a:prstGeom prst="rect">
            <a:avLst/>
          </a:prstGeom>
          <a:noFill/>
          <a:ln>
            <a:noFill/>
          </a:ln>
        </p:spPr>
        <p:txBody>
          <a:bodyPr anchorCtr="0" anchor="t" bIns="0" lIns="0" spcFirstLastPara="1" rIns="0" wrap="square" tIns="0">
            <a:noAutofit/>
          </a:bodyPr>
          <a:lstStyle/>
          <a:p>
            <a:pPr indent="0" lvl="0" marL="0" marR="0" rtl="0" algn="l">
              <a:lnSpc>
                <a:spcPct val="135658"/>
              </a:lnSpc>
              <a:spcBef>
                <a:spcPts val="0"/>
              </a:spcBef>
              <a:spcAft>
                <a:spcPts val="0"/>
              </a:spcAft>
              <a:buClr>
                <a:srgbClr val="00FFFF"/>
              </a:buClr>
              <a:buSzPts val="516"/>
              <a:buFont typeface="Orbitron"/>
              <a:buNone/>
            </a:pPr>
            <a:r>
              <a:rPr b="0" i="0" lang="en-US" sz="516" u="none" cap="none" strike="noStrike">
                <a:solidFill>
                  <a:srgbClr val="00FFFF"/>
                </a:solidFill>
                <a:latin typeface="Orbitron"/>
                <a:ea typeface="Orbitron"/>
                <a:cs typeface="Orbitron"/>
                <a:sym typeface="Orbitron"/>
              </a:rPr>
              <a:t>MARSOPS // CONVERTER // MSG_SCHEMA</a:t>
            </a:r>
            <a:endParaRPr b="0" i="0" sz="516" u="none" cap="none" strike="noStrike">
              <a:solidFill>
                <a:schemeClr val="dk1"/>
              </a:solidFill>
              <a:latin typeface="Calibri"/>
              <a:ea typeface="Calibri"/>
              <a:cs typeface="Calibri"/>
              <a:sym typeface="Calibri"/>
            </a:endParaRPr>
          </a:p>
        </p:txBody>
      </p:sp>
      <p:sp>
        <p:nvSpPr>
          <p:cNvPr id="633" name="Google Shape;633;p28"/>
          <p:cNvSpPr/>
          <p:nvPr/>
        </p:nvSpPr>
        <p:spPr>
          <a:xfrm>
            <a:off x="228625" y="76070"/>
            <a:ext cx="8686800" cy="4991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8"/>
          <p:cNvSpPr/>
          <p:nvPr/>
        </p:nvSpPr>
        <p:spPr>
          <a:xfrm>
            <a:off x="442913" y="297526"/>
            <a:ext cx="8258100" cy="328500"/>
          </a:xfrm>
          <a:prstGeom prst="rect">
            <a:avLst/>
          </a:prstGeom>
          <a:noFill/>
          <a:ln>
            <a:noFill/>
          </a:ln>
        </p:spPr>
        <p:txBody>
          <a:bodyPr anchorCtr="0" anchor="t" bIns="0" lIns="0" spcFirstLastPara="1" rIns="0" wrap="square" tIns="85075">
            <a:noAutofit/>
          </a:bodyPr>
          <a:lstStyle/>
          <a:p>
            <a:pPr indent="0" lvl="0" marL="0" marR="0" rtl="0" algn="l">
              <a:lnSpc>
                <a:spcPct val="136005"/>
              </a:lnSpc>
              <a:spcBef>
                <a:spcPts val="0"/>
              </a:spcBef>
              <a:spcAft>
                <a:spcPts val="0"/>
              </a:spcAft>
              <a:buClr>
                <a:srgbClr val="FF4500"/>
              </a:buClr>
              <a:buSzPts val="1397"/>
              <a:buFont typeface="Orbitron"/>
              <a:buNone/>
            </a:pPr>
            <a:r>
              <a:rPr b="1" lang="en-US" sz="1397">
                <a:solidFill>
                  <a:srgbClr val="FF4500"/>
                </a:solidFill>
                <a:latin typeface="Orbitron"/>
                <a:ea typeface="Orbitron"/>
                <a:cs typeface="Orbitron"/>
                <a:sym typeface="Orbitron"/>
              </a:rPr>
              <a:t>FRONTEND</a:t>
            </a:r>
            <a:endParaRPr b="0" i="0" sz="1397" u="none" cap="none" strike="noStrike">
              <a:solidFill>
                <a:schemeClr val="dk1"/>
              </a:solidFill>
              <a:latin typeface="Calibri"/>
              <a:ea typeface="Calibri"/>
              <a:cs typeface="Calibri"/>
              <a:sym typeface="Calibri"/>
            </a:endParaRPr>
          </a:p>
        </p:txBody>
      </p:sp>
      <p:pic>
        <p:nvPicPr>
          <p:cNvPr id="635" name="Google Shape;635;p28" title="Screenshot 2026-03-10 at 23.52.08.png"/>
          <p:cNvPicPr preferRelativeResize="0"/>
          <p:nvPr/>
        </p:nvPicPr>
        <p:blipFill>
          <a:blip r:embed="rId4">
            <a:alphaModFix/>
          </a:blip>
          <a:stretch>
            <a:fillRect/>
          </a:stretch>
        </p:blipFill>
        <p:spPr>
          <a:xfrm>
            <a:off x="1459875" y="691275"/>
            <a:ext cx="6224174" cy="403599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pic>
        <p:nvPicPr>
          <p:cNvPr descr="preencoded.png" id="641" name="Google Shape;641;p29"/>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642" name="Google Shape;642;p29"/>
          <p:cNvSpPr/>
          <p:nvPr/>
        </p:nvSpPr>
        <p:spPr>
          <a:xfrm>
            <a:off x="6831211" y="142875"/>
            <a:ext cx="2027100" cy="89400"/>
          </a:xfrm>
          <a:prstGeom prst="rect">
            <a:avLst/>
          </a:prstGeom>
          <a:noFill/>
          <a:ln>
            <a:noFill/>
          </a:ln>
        </p:spPr>
        <p:txBody>
          <a:bodyPr anchorCtr="0" anchor="t" bIns="0" lIns="0" spcFirstLastPara="1" rIns="0" wrap="square" tIns="0">
            <a:noAutofit/>
          </a:bodyPr>
          <a:lstStyle/>
          <a:p>
            <a:pPr indent="0" lvl="0" marL="0" marR="0" rtl="0" algn="l">
              <a:lnSpc>
                <a:spcPct val="135658"/>
              </a:lnSpc>
              <a:spcBef>
                <a:spcPts val="0"/>
              </a:spcBef>
              <a:spcAft>
                <a:spcPts val="0"/>
              </a:spcAft>
              <a:buClr>
                <a:srgbClr val="00FFFF"/>
              </a:buClr>
              <a:buSzPts val="516"/>
              <a:buFont typeface="Orbitron"/>
              <a:buNone/>
            </a:pPr>
            <a:r>
              <a:rPr b="0" i="0" lang="en-US" sz="516" u="none" cap="none" strike="noStrike">
                <a:solidFill>
                  <a:srgbClr val="00FFFF"/>
                </a:solidFill>
                <a:latin typeface="Orbitron"/>
                <a:ea typeface="Orbitron"/>
                <a:cs typeface="Orbitron"/>
                <a:sym typeface="Orbitron"/>
              </a:rPr>
              <a:t>MARSOPS // CONVERTER // MSG_SCHEMA</a:t>
            </a:r>
            <a:endParaRPr b="0" i="0" sz="516" u="none" cap="none" strike="noStrike">
              <a:solidFill>
                <a:schemeClr val="dk1"/>
              </a:solidFill>
              <a:latin typeface="Calibri"/>
              <a:ea typeface="Calibri"/>
              <a:cs typeface="Calibri"/>
              <a:sym typeface="Calibri"/>
            </a:endParaRPr>
          </a:p>
        </p:txBody>
      </p:sp>
      <p:sp>
        <p:nvSpPr>
          <p:cNvPr id="643" name="Google Shape;643;p29"/>
          <p:cNvSpPr/>
          <p:nvPr/>
        </p:nvSpPr>
        <p:spPr>
          <a:xfrm>
            <a:off x="228625" y="76070"/>
            <a:ext cx="8686800" cy="4991400"/>
          </a:xfrm>
          <a:prstGeom prst="rect">
            <a:avLst/>
          </a:prstGeom>
          <a:solidFill>
            <a:srgbClr val="000000">
              <a:alpha val="40000"/>
            </a:srgbClr>
          </a:solidFill>
          <a:ln cap="flat" cmpd="sng" w="9525">
            <a:solidFill>
              <a:srgbClr val="00FFFF">
                <a:alpha val="2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9"/>
          <p:cNvSpPr/>
          <p:nvPr/>
        </p:nvSpPr>
        <p:spPr>
          <a:xfrm>
            <a:off x="442913" y="297526"/>
            <a:ext cx="8258100" cy="328500"/>
          </a:xfrm>
          <a:prstGeom prst="rect">
            <a:avLst/>
          </a:prstGeom>
          <a:noFill/>
          <a:ln>
            <a:noFill/>
          </a:ln>
        </p:spPr>
        <p:txBody>
          <a:bodyPr anchorCtr="0" anchor="t" bIns="0" lIns="0" spcFirstLastPara="1" rIns="0" wrap="square" tIns="85075">
            <a:noAutofit/>
          </a:bodyPr>
          <a:lstStyle/>
          <a:p>
            <a:pPr indent="0" lvl="0" marL="0" marR="0" rtl="0" algn="l">
              <a:lnSpc>
                <a:spcPct val="136005"/>
              </a:lnSpc>
              <a:spcBef>
                <a:spcPts val="0"/>
              </a:spcBef>
              <a:spcAft>
                <a:spcPts val="0"/>
              </a:spcAft>
              <a:buClr>
                <a:srgbClr val="FF4500"/>
              </a:buClr>
              <a:buSzPts val="1397"/>
              <a:buFont typeface="Orbitron"/>
              <a:buNone/>
            </a:pPr>
            <a:r>
              <a:rPr b="1" lang="en-US" sz="1397">
                <a:solidFill>
                  <a:srgbClr val="FF4500"/>
                </a:solidFill>
                <a:latin typeface="Orbitron"/>
                <a:ea typeface="Orbitron"/>
                <a:cs typeface="Orbitron"/>
                <a:sym typeface="Orbitron"/>
              </a:rPr>
              <a:t>FRONTEND</a:t>
            </a:r>
            <a:endParaRPr b="0" i="0" sz="1397" u="none" cap="none" strike="noStrike">
              <a:solidFill>
                <a:schemeClr val="dk1"/>
              </a:solidFill>
              <a:latin typeface="Calibri"/>
              <a:ea typeface="Calibri"/>
              <a:cs typeface="Calibri"/>
              <a:sym typeface="Calibri"/>
            </a:endParaRPr>
          </a:p>
        </p:txBody>
      </p:sp>
      <p:pic>
        <p:nvPicPr>
          <p:cNvPr id="645" name="Google Shape;645;p29" title="Screenshot 2026-03-10 at 23.52.52.png"/>
          <p:cNvPicPr preferRelativeResize="0"/>
          <p:nvPr/>
        </p:nvPicPr>
        <p:blipFill>
          <a:blip r:embed="rId4">
            <a:alphaModFix/>
          </a:blip>
          <a:stretch>
            <a:fillRect/>
          </a:stretch>
        </p:blipFill>
        <p:spPr>
          <a:xfrm>
            <a:off x="1459937" y="691275"/>
            <a:ext cx="6224174" cy="403599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