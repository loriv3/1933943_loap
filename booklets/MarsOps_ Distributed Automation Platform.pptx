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120"/>
          <p:cNvSpPr/>
          <p:nvPr>
            <p:ph type="sldImg"/>
          </p:nvPr>
        </p:nvSpPr>
        <p:spPr>
          <a:prstGeom prst="rect">
            <a:avLst/>
          </a:prstGeom>
        </p:spPr>
        <p:txBody>
          <a:bodyPr/>
          <a:lstStyle/>
          <a:p>
            <a:pPr/>
          </a:p>
        </p:txBody>
      </p:sp>
      <p:sp>
        <p:nvSpPr>
          <p:cNvPr id="121" name="Shape 121"/>
          <p:cNvSpPr/>
          <p:nvPr>
            <p:ph type="body" sz="quarter" idx="1"/>
          </p:nvPr>
        </p:nvSpPr>
        <p:spPr>
          <a:prstGeom prst="rect">
            <a:avLst/>
          </a:prstGeom>
        </p:spPr>
        <p:txBody>
          <a:bodyPr/>
          <a:lstStyle>
            <a:lvl1pPr>
              <a:defRPr sz="1200">
                <a:latin typeface="Calibri"/>
                <a:ea typeface="Calibri"/>
                <a:cs typeface="Calibri"/>
                <a:sym typeface="Calibri"/>
              </a:defRPr>
            </a:lvl1pPr>
          </a:lstStyle>
          <a:p>
            <a:pPr/>
            <a:r>
              <a:t>The internal architecture is organized into distinct layers. We have a Controller layer for handling REST endpoints related to rule management. The Repository layer manages SQLite persistence via JDBC for rules and firing history. Our Messaging layer contains JMS listeners that consume telemetry events and actuator state updates. Finally, the Rule Engine service houses the core logic for rule evaluation and command generation. This layered design ensures clear separation of responsibilities, making the system easier to maintain and test independently. This approach guarantees high reliability for our control loop. Now, let's focus on the specifics of the REST API for rule management.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hape 146"/>
          <p:cNvSpPr/>
          <p:nvPr>
            <p:ph type="sldImg"/>
          </p:nvPr>
        </p:nvSpPr>
        <p:spPr>
          <a:prstGeom prst="rect">
            <a:avLst/>
          </a:prstGeom>
        </p:spPr>
        <p:txBody>
          <a:bodyPr/>
          <a:lstStyle/>
          <a:p>
            <a:pPr/>
          </a:p>
        </p:txBody>
      </p:sp>
      <p:sp>
        <p:nvSpPr>
          <p:cNvPr id="147" name="Shape 147"/>
          <p:cNvSpPr/>
          <p:nvPr>
            <p:ph type="body" sz="quarter" idx="1"/>
          </p:nvPr>
        </p:nvSpPr>
        <p:spPr>
          <a:prstGeom prst="rect">
            <a:avLst/>
          </a:prstGeom>
        </p:spPr>
        <p:txBody>
          <a:bodyPr/>
          <a:lstStyle>
            <a:lvl1pPr>
              <a:defRPr sz="1200">
                <a:latin typeface="Calibri"/>
                <a:ea typeface="Calibri"/>
                <a:cs typeface="Calibri"/>
                <a:sym typeface="Calibri"/>
              </a:defRPr>
            </a:lvl1pPr>
          </a:lstStyle>
          <a:p>
            <a:pPr/>
            <a:r>
              <a:t>This service forms the core of our habitat's automated control loop. It continuously processes sensor telemetry from the message broker. The system evaluates this data against operator-defined rules. When a rule's conditions are met, it automatically sends a command to an actuator. For example, if he temperature in a greenhouse group exceeds a configured threshold, a command is produced to switch the cooling fan ON. The process is automatic and requires no manual intervention.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233"/>
          <p:cNvSpPr/>
          <p:nvPr>
            <p:ph type="sldImg"/>
          </p:nvPr>
        </p:nvSpPr>
        <p:spPr>
          <a:prstGeom prst="rect">
            <a:avLst/>
          </a:prstGeom>
        </p:spPr>
        <p:txBody>
          <a:bodyPr/>
          <a:lstStyle/>
          <a:p>
            <a:pPr/>
          </a:p>
        </p:txBody>
      </p:sp>
      <p:sp>
        <p:nvSpPr>
          <p:cNvPr id="234" name="Shape 234"/>
          <p:cNvSpPr/>
          <p:nvPr>
            <p:ph type="body" sz="quarter" idx="1"/>
          </p:nvPr>
        </p:nvSpPr>
        <p:spPr>
          <a:prstGeom prst="rect">
            <a:avLst/>
          </a:prstGeom>
        </p:spPr>
        <p:txBody>
          <a:bodyPr/>
          <a:lstStyle>
            <a:lvl1pPr>
              <a:defRPr sz="1200">
                <a:latin typeface="Calibri"/>
                <a:ea typeface="Calibri"/>
                <a:cs typeface="Calibri"/>
                <a:sym typeface="Calibri"/>
              </a:defRPr>
            </a:lvl1pPr>
          </a:lstStyle>
          <a:p>
            <a:pPr/>
            <a:r>
              <a:t>Expanding on our internal architecture, the REST API is crucial for managing our automation rules. We expose rule management under the '/api/rules' endpoint, supporting standard CRUD operations. Each rule is defined by parameters like 'group_id', 'metric_id', 'operator', 'compare_value', and 'unit'. We also specify the target 'actuator_id' and 'actuator_state', such as ON or OFF. Input validation is rigorously enforced using Jakarta Bean Validation, ensuring data integrity. Critically, every change to a rule generates a structured audit log entry, prefixed with '[AUTOMATION-AUDIT]'. This provides essential traceability for all configuration changes in our automated control system. Next, we'll delve into how these rules are actually evaluated and how commands are generated.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hape 274"/>
          <p:cNvSpPr/>
          <p:nvPr>
            <p:ph type="sldImg"/>
          </p:nvPr>
        </p:nvSpPr>
        <p:spPr>
          <a:prstGeom prst="rect">
            <a:avLst/>
          </a:prstGeom>
        </p:spPr>
        <p:txBody>
          <a:bodyPr/>
          <a:lstStyle/>
          <a:p>
            <a:pPr/>
          </a:p>
        </p:txBody>
      </p:sp>
      <p:sp>
        <p:nvSpPr>
          <p:cNvPr id="275" name="Shape 275"/>
          <p:cNvSpPr/>
          <p:nvPr>
            <p:ph type="body" sz="quarter" idx="1"/>
          </p:nvPr>
        </p:nvSpPr>
        <p:spPr>
          <a:prstGeom prst="rect">
            <a:avLst/>
          </a:prstGeom>
        </p:spPr>
        <p:txBody>
          <a:bodyPr/>
          <a:lstStyle/>
          <a:p>
            <a:pPr marL="457200" indent="-298450">
              <a:buClr>
                <a:srgbClr val="000000"/>
              </a:buClr>
              <a:buSzPts val="1100"/>
              <a:buFont typeface="Arial"/>
              <a:buChar char="●"/>
              <a:defRPr b="1" sz="1100"/>
            </a:pPr>
            <a:r>
              <a:t>Centralized State Management:</a:t>
            </a:r>
            <a:r>
              <a:rPr b="0"/>
              <a:t> Acts as the "Single Source of Truth" for the entire Mars habitat, maintaining the latest known state (Last Known Value) of all sensors and actuators.</a:t>
            </a:r>
            <a:br>
              <a:rPr b="0"/>
            </a:br>
          </a:p>
          <a:p>
            <a:pPr marL="457200" indent="-298450">
              <a:buClr>
                <a:srgbClr val="000000"/>
              </a:buClr>
              <a:buSzPts val="1100"/>
              <a:buFont typeface="Arial"/>
              <a:buChar char="●"/>
              <a:defRPr b="1" sz="1100"/>
            </a:pPr>
            <a:r>
              <a:t>High-Performance Storage:</a:t>
            </a:r>
            <a:r>
              <a:rPr b="0"/>
              <a:t> Leverages a Redis in-memory database to instantly store and retrieve incoming telemetry and actuator events with sub-millisecond latency.</a:t>
            </a:r>
          </a:p>
          <a:p>
            <a:pPr indent="457200">
              <a:defRPr sz="1200">
                <a:latin typeface="Calibri"/>
                <a:ea typeface="Calibri"/>
                <a:cs typeface="Calibri"/>
                <a:sym typeface="Calibri"/>
              </a:defRPr>
            </a:pPr>
            <a:endParaRPr sz="1100"/>
          </a:p>
          <a:p>
            <a:pPr marL="457200" indent="-298450">
              <a:buClr>
                <a:srgbClr val="000000"/>
              </a:buClr>
              <a:buSzPts val="1100"/>
              <a:buFont typeface="Arial"/>
              <a:buChar char="●"/>
              <a:defRPr b="1" sz="1100"/>
            </a:pPr>
            <a:r>
              <a:t>Asynchronous Event Ingestion:</a:t>
            </a:r>
            <a:r>
              <a:rPr b="0"/>
              <a:t> Employs a dedicated background thread to consume AMQP messages from ActiveMQ (</a:t>
            </a:r>
            <a:r>
              <a:rPr b="0">
                <a:latin typeface="Roboto Mono Regular Regular"/>
                <a:ea typeface="Roboto Mono Regular Regular"/>
                <a:cs typeface="Roboto Mono Regular Regular"/>
                <a:sym typeface="Roboto Mono Regular Regular"/>
              </a:rPr>
              <a:t>sensor.events</a:t>
            </a:r>
            <a:r>
              <a:rPr b="0"/>
              <a:t> and </a:t>
            </a:r>
            <a:r>
              <a:rPr b="0">
                <a:latin typeface="Roboto Mono Regular Regular"/>
                <a:ea typeface="Roboto Mono Regular Regular"/>
                <a:cs typeface="Roboto Mono Regular Regular"/>
                <a:sym typeface="Roboto Mono Regular Regular"/>
              </a:rPr>
              <a:t>actuator.states</a:t>
            </a:r>
            <a:r>
              <a:rPr b="0"/>
              <a:t> topics) without blocking the FastAPI web server's event loop.</a:t>
            </a:r>
          </a:p>
          <a:p>
            <a:pPr indent="457200">
              <a:defRPr sz="1200">
                <a:latin typeface="Calibri"/>
                <a:ea typeface="Calibri"/>
                <a:cs typeface="Calibri"/>
                <a:sym typeface="Calibri"/>
              </a:defRPr>
            </a:pPr>
            <a:endParaRPr sz="1100"/>
          </a:p>
          <a:p>
            <a:pPr marL="457200" indent="-298450">
              <a:buClr>
                <a:srgbClr val="000000"/>
              </a:buClr>
              <a:buSzPts val="1100"/>
              <a:buFont typeface="Arial"/>
              <a:buChar char="●"/>
              <a:defRPr b="1" sz="1100"/>
            </a:pPr>
            <a:r>
              <a:t>Stateless &amp; Resilient Design:</a:t>
            </a:r>
            <a:r>
              <a:rPr b="0"/>
              <a:t> The service itself holds no internal state, delegating persistence entirely to Redis. In case of a restart, it seamlessly resumes updating the cache as new broker messages arrive.</a:t>
            </a:r>
            <a:br>
              <a:rPr b="0"/>
            </a:br>
          </a:p>
          <a:p>
            <a:pPr marL="457200" indent="-298450">
              <a:buClr>
                <a:srgbClr val="000000"/>
              </a:buClr>
              <a:buSzPts val="1100"/>
              <a:buFont typeface="Arial"/>
              <a:buChar char="●"/>
              <a:defRPr b="1" sz="1100"/>
            </a:pPr>
            <a:r>
              <a:t>RESTful API Layer:</a:t>
            </a:r>
            <a:r>
              <a:rPr b="0"/>
              <a:t> Exposes structured endpoints (</a:t>
            </a:r>
            <a:r>
              <a:rPr b="0">
                <a:latin typeface="Roboto Mono Regular Regular"/>
                <a:ea typeface="Roboto Mono Regular Regular"/>
                <a:cs typeface="Roboto Mono Regular Regular"/>
                <a:sym typeface="Roboto Mono Regular Regular"/>
              </a:rPr>
              <a:t>/api/metrics</a:t>
            </a:r>
            <a:r>
              <a:rPr b="0"/>
              <a:t>, </a:t>
            </a:r>
            <a:r>
              <a:rPr b="0">
                <a:latin typeface="Roboto Mono Regular Regular"/>
                <a:ea typeface="Roboto Mono Regular Regular"/>
                <a:cs typeface="Roboto Mono Regular Regular"/>
                <a:sym typeface="Roboto Mono Regular Regular"/>
              </a:rPr>
              <a:t>/api/actuators</a:t>
            </a:r>
            <a:r>
              <a:rPr b="0"/>
              <a:t>) that allow the frontend and other microservices to perform bulk data retrieval, which is essential for populating the dashboard on initial load.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Shape 352"/>
          <p:cNvSpPr/>
          <p:nvPr>
            <p:ph type="sldImg"/>
          </p:nvPr>
        </p:nvSpPr>
        <p:spPr>
          <a:prstGeom prst="rect">
            <a:avLst/>
          </a:prstGeom>
        </p:spPr>
        <p:txBody>
          <a:bodyPr/>
          <a:lstStyle/>
          <a:p>
            <a:pPr/>
          </a:p>
        </p:txBody>
      </p:sp>
      <p:sp>
        <p:nvSpPr>
          <p:cNvPr id="353" name="Shape 353"/>
          <p:cNvSpPr/>
          <p:nvPr>
            <p:ph type="body" sz="quarter" idx="1"/>
          </p:nvPr>
        </p:nvSpPr>
        <p:spPr>
          <a:prstGeom prst="rect">
            <a:avLst/>
          </a:prstGeom>
        </p:spPr>
        <p:txBody>
          <a:bodyPr/>
          <a:lstStyle/>
          <a:p>
            <a:pPr marL="457200" indent="-298450">
              <a:buClr>
                <a:srgbClr val="000000"/>
              </a:buClr>
              <a:buSzPts val="1100"/>
              <a:buFont typeface="Arial"/>
              <a:buChar char="●"/>
              <a:defRPr b="1" sz="1100"/>
            </a:pPr>
            <a:r>
              <a:t>Function: </a:t>
            </a:r>
            <a:r>
              <a:rPr b="0"/>
              <a:t>Acts as the "bridge" between the </a:t>
            </a:r>
            <a:r>
              <a:t>Automation Engine</a:t>
            </a:r>
            <a:r>
              <a:rPr b="0"/>
              <a:t> (logic provider) and the </a:t>
            </a:r>
            <a:r>
              <a:t>physical actuators</a:t>
            </a:r>
            <a:r>
              <a:rPr b="0"/>
              <a:t> of the Martian habitat.</a:t>
            </a:r>
            <a:br>
              <a:rPr b="0"/>
            </a:br>
          </a:p>
          <a:p>
            <a:pPr marL="457200" indent="-298450">
              <a:buClr>
                <a:srgbClr val="000000"/>
              </a:buClr>
              <a:buSzPts val="1100"/>
              <a:buFont typeface="Arial"/>
              <a:buChar char="●"/>
              <a:defRPr b="1" sz="1100"/>
            </a:pPr>
            <a:r>
              <a:t>Subscription:</a:t>
            </a:r>
            <a:r>
              <a:rPr b="0"/>
              <a:t> Listens to the dedicated command topic (multicast/ </a:t>
            </a:r>
            <a:r>
              <a:rPr b="0">
                <a:latin typeface="Roboto Mono Regular Regular"/>
                <a:ea typeface="Roboto Mono Regular Regular"/>
                <a:cs typeface="Roboto Mono Regular Regular"/>
                <a:sym typeface="Roboto Mono Regular Regular"/>
              </a:rPr>
              <a:t>actuator.commands</a:t>
            </a:r>
            <a:r>
              <a:rPr b="0"/>
              <a:t>) on AMQ/Kafka</a:t>
            </a:r>
            <a:br>
              <a:rPr b="0"/>
            </a:br>
          </a:p>
          <a:p>
            <a:pPr marL="457200" indent="-298450">
              <a:buClr>
                <a:srgbClr val="000000"/>
              </a:buClr>
              <a:buSzPts val="1100"/>
              <a:buFont typeface="Arial"/>
              <a:buChar char="●"/>
              <a:defRPr b="1" sz="1100"/>
            </a:pPr>
            <a:r>
              <a:t>Validation:</a:t>
            </a:r>
            <a:r>
              <a:rPr b="0"/>
              <a:t> Ensures the command matches the JSON schema defined in the contract (ref: </a:t>
            </a:r>
            <a:r>
              <a:rPr b="0">
                <a:latin typeface="Roboto Mono Regular Regular"/>
                <a:ea typeface="Roboto Mono Regular Regular"/>
                <a:cs typeface="Roboto Mono Regular Regular"/>
                <a:sym typeface="Roboto Mono Regular Regular"/>
              </a:rPr>
              <a:t>SCHEMA_CONTRACT.md</a:t>
            </a:r>
            <a:r>
              <a:rPr b="0"/>
              <a:t>).</a:t>
            </a:r>
            <a:br>
              <a:rPr b="0"/>
            </a:br>
          </a:p>
          <a:p>
            <a:pPr marL="457200" indent="-298450">
              <a:buClr>
                <a:srgbClr val="000000"/>
              </a:buClr>
              <a:buSzPts val="1100"/>
              <a:buFont typeface="Arial"/>
              <a:buChar char="●"/>
              <a:defRPr b="1" sz="1100"/>
            </a:pPr>
            <a:r>
              <a:t>Execution:</a:t>
            </a:r>
            <a:r>
              <a:rPr b="0"/>
              <a:t> Provides a </a:t>
            </a:r>
            <a:r>
              <a:t>REST POST</a:t>
            </a:r>
            <a:r>
              <a:rPr b="0"/>
              <a:t> request to the specific actuator endpoint (e.g., </a:t>
            </a:r>
            <a:r>
              <a:rPr b="0">
                <a:latin typeface="Roboto Mono Regular Regular"/>
                <a:ea typeface="Roboto Mono Regular Regular"/>
                <a:cs typeface="Roboto Mono Regular Regular"/>
                <a:sym typeface="Roboto Mono Regular Regular"/>
              </a:rPr>
              <a:t>/api/actuators/cooling_fan</a:t>
            </a:r>
            <a:r>
              <a:rPr b="0"/>
              <a:t>) to update its state. The new state is sent to the Queue `actuator.commands` , managed by the Converter Service who will then update the state of the actuator with a REST call to the Simulator</a:t>
            </a:r>
            <a:br>
              <a:rPr b="0"/>
            </a:br>
          </a:p>
          <a:p>
            <a:pPr marL="457200" indent="-304800">
              <a:buClr>
                <a:srgbClr val="00FFFF"/>
              </a:buClr>
              <a:buSzPts val="1100"/>
              <a:buFont typeface="Arial"/>
              <a:buChar char="●"/>
              <a:defRPr b="1" sz="1100"/>
            </a:pPr>
            <a:r>
              <a:t>Real-Time State Broadcasting:</a:t>
            </a:r>
            <a:r>
              <a:rPr b="0"/>
              <a:t> Exposes dedicated WebSocket channels (e.g., </a:t>
            </a:r>
            <a:r>
              <a:rPr b="0">
                <a:latin typeface="Roboto Mono Regular Regular"/>
                <a:ea typeface="Roboto Mono Regular Regular"/>
                <a:cs typeface="Roboto Mono Regular Regular"/>
                <a:sym typeface="Roboto Mono Regular Regular"/>
              </a:rPr>
              <a:t>/api/actuators/ws</a:t>
            </a:r>
            <a:r>
              <a:rPr b="0"/>
              <a:t>) to instantly push live state changes to the frontend. This ensures operators immediately see the physical response (ON/OFF) to their manual commands or automated rules without refreshing the dashboard.</a:t>
            </a:r>
            <a:br>
              <a:rPr b="0"/>
            </a:br>
            <a:br>
              <a:rPr b="0"/>
            </a:b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Shape 381"/>
          <p:cNvSpPr/>
          <p:nvPr>
            <p:ph type="sldImg"/>
          </p:nvPr>
        </p:nvSpPr>
        <p:spPr>
          <a:prstGeom prst="rect">
            <a:avLst/>
          </a:prstGeom>
        </p:spPr>
        <p:txBody>
          <a:bodyPr/>
          <a:lstStyle/>
          <a:p>
            <a:pPr/>
          </a:p>
        </p:txBody>
      </p:sp>
      <p:sp>
        <p:nvSpPr>
          <p:cNvPr id="382" name="Shape 382"/>
          <p:cNvSpPr/>
          <p:nvPr>
            <p:ph type="body" sz="quarter" idx="1"/>
          </p:nvPr>
        </p:nvSpPr>
        <p:spPr>
          <a:prstGeom prst="rect">
            <a:avLst/>
          </a:prstGeom>
        </p:spPr>
        <p:txBody>
          <a:bodyPr/>
          <a:lstStyle/>
          <a:p>
            <a:pPr>
              <a:defRPr sz="1200">
                <a:latin typeface="Calibri"/>
                <a:ea typeface="Calibri"/>
                <a:cs typeface="Calibri"/>
                <a:sym typeface="Calibri"/>
              </a:defRPr>
            </a:pPr>
            <a:r>
              <a:t>We implemented two WebSocket layers: global streams for full real-time dashboard synchronization and targeted streams for single sensor/actuator monitoring with lower latency and less traffic.</a:t>
            </a:r>
          </a:p>
          <a:p>
            <a:pPr>
              <a:defRPr sz="1200">
                <a:latin typeface="Calibri"/>
                <a:ea typeface="Calibri"/>
                <a:cs typeface="Calibri"/>
                <a:sym typeface="Calibri"/>
              </a:defRPr>
            </a:pPr>
            <a:r>
              <a:t>On connection, each client is initialized with the latest snapshot from Redis, then receives only live updates from broker-driven events to keep the UI always consistent.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1" name="Shape 421"/>
          <p:cNvSpPr/>
          <p:nvPr>
            <p:ph type="sldImg"/>
          </p:nvPr>
        </p:nvSpPr>
        <p:spPr>
          <a:prstGeom prst="rect">
            <a:avLst/>
          </a:prstGeom>
        </p:spPr>
        <p:txBody>
          <a:bodyPr/>
          <a:lstStyle/>
          <a:p>
            <a:pPr/>
          </a:p>
        </p:txBody>
      </p:sp>
      <p:sp>
        <p:nvSpPr>
          <p:cNvPr id="422" name="Shape 422"/>
          <p:cNvSpPr/>
          <p:nvPr>
            <p:ph type="body" sz="quarter" idx="1"/>
          </p:nvPr>
        </p:nvSpPr>
        <p:spPr>
          <a:prstGeom prst="rect">
            <a:avLst/>
          </a:prstGeom>
        </p:spPr>
        <p:txBody>
          <a:bodyPr/>
          <a:lstStyle>
            <a:lvl1pPr>
              <a:defRPr sz="1200">
                <a:latin typeface="Calibri"/>
                <a:ea typeface="Calibri"/>
                <a:cs typeface="Calibri"/>
                <a:sym typeface="Calibri"/>
              </a:defRPr>
            </a:lvl1pPr>
          </a:lstStyle>
          <a:p>
            <a:pPr/>
            <a:r>
              <a:t>To achieve this functionality, we've built the service using a robust technology stack. We're leveraging Java 21 and Spring Boot 3.3.2, utilizing Spring Web for our REST endpoints and Spring JMS with ActiveMQ Artemis for reliable broker communication. Persistence is handled by Spring JDBC with SQLite, chosen for its lightweight nature and suitability for our small data model and simple query patterns. Lombok helps reduce boilerplate code, keeping our codebase clean. The service is containerized using a multi-stage Maven build, running on port 8080 inside the container and exposed as port 8084 on the host. This setup ensures efficiency and a minimal footprint. Next, we'll explore the internal structure of this service.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Shape 466"/>
          <p:cNvSpPr/>
          <p:nvPr>
            <p:ph type="sldImg"/>
          </p:nvPr>
        </p:nvSpPr>
        <p:spPr>
          <a:prstGeom prst="rect">
            <a:avLst/>
          </a:prstGeom>
        </p:spPr>
        <p:txBody>
          <a:bodyPr/>
          <a:lstStyle/>
          <a:p>
            <a:pPr/>
          </a:p>
        </p:txBody>
      </p:sp>
      <p:sp>
        <p:nvSpPr>
          <p:cNvPr id="467" name="Shape 467"/>
          <p:cNvSpPr/>
          <p:nvPr>
            <p:ph type="body" sz="quarter" idx="1"/>
          </p:nvPr>
        </p:nvSpPr>
        <p:spPr>
          <a:prstGeom prst="rect">
            <a:avLst/>
          </a:prstGeom>
        </p:spPr>
        <p:txBody>
          <a:bodyPr/>
          <a:lstStyle>
            <a:lvl1pPr>
              <a:defRPr sz="1200">
                <a:latin typeface="Calibri"/>
                <a:ea typeface="Calibri"/>
                <a:cs typeface="Calibri"/>
                <a:sym typeface="Calibri"/>
              </a:defRPr>
            </a:lvl1pPr>
          </a:lstStyle>
          <a:p>
            <a:pPr/>
            <a:r>
              <a:t>Expanding on our internal architecture, the REST API is crucial for managing our automation rules. We expose rule management under the '/api/rules' endpoint, supporting standard CRUD operations. Each rule is defined by parameters like 'group_id', 'metric_id', 'operator', 'compare_value', and 'unit'. We also specify the target 'actuator_id' and 'actuator_state', such as ON or OFF. Input validation is rigorously enforced using Jakarta Bean Validation, ensuring data integrity. Critically, every change to a rule generates a structured audit log entry, prefixed with '[AUTOMATION-AUDIT]'. This provides essential traceability for all configuration changes in our automated control system. Next, we'll delve into how these rules are actually evaluated and how commands are generated.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4" name="Shape 514"/>
          <p:cNvSpPr/>
          <p:nvPr>
            <p:ph type="sldImg"/>
          </p:nvPr>
        </p:nvSpPr>
        <p:spPr>
          <a:prstGeom prst="rect">
            <a:avLst/>
          </a:prstGeom>
        </p:spPr>
        <p:txBody>
          <a:bodyPr/>
          <a:lstStyle/>
          <a:p>
            <a:pPr/>
          </a:p>
        </p:txBody>
      </p:sp>
      <p:sp>
        <p:nvSpPr>
          <p:cNvPr id="515" name="Shape 515"/>
          <p:cNvSpPr/>
          <p:nvPr>
            <p:ph type="body" sz="quarter" idx="1"/>
          </p:nvPr>
        </p:nvSpPr>
        <p:spPr>
          <a:prstGeom prst="rect">
            <a:avLst/>
          </a:prstGeom>
        </p:spPr>
        <p:txBody>
          <a:bodyPr/>
          <a:lstStyle>
            <a:lvl1pPr>
              <a:defRPr sz="1200">
                <a:latin typeface="Calibri"/>
                <a:ea typeface="Calibri"/>
                <a:cs typeface="Calibri"/>
                <a:sym typeface="Calibri"/>
              </a:defRPr>
            </a:lvl1pPr>
          </a:lstStyle>
          <a:p>
            <a:pPr/>
            <a:r>
              <a:t>Now, let's look at how those rules actually get evaluated and trigger actions. This slide outlines the core execution pipeline of our rule engine, including a crucial anti-spam mechanism. The process starts with event parsing, extracting data from incoming MetricGroupStateEvents. We then match these events against enabled rules based on group and metric IDs, performing typed evaluation for accuracy. If a condition is met, we generate a structured ActuatorCommand and persist the firing event. To prevent flooding the broker with redundant commands, our ActuatorStateListener maintains an in-memory map of current actuator states. If an actuator is already in the desired state, we suppress the command, ensuring efficient and targeted delivery. This smart suppression is vital for system stability. Next, we'll look at how we ensure this data and these rules are durably stored.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0" name="Shape 540"/>
          <p:cNvSpPr/>
          <p:nvPr>
            <p:ph type="sldImg"/>
          </p:nvPr>
        </p:nvSpPr>
        <p:spPr>
          <a:prstGeom prst="rect">
            <a:avLst/>
          </a:prstGeom>
        </p:spPr>
        <p:txBody>
          <a:bodyPr/>
          <a:lstStyle/>
          <a:p>
            <a:pPr/>
          </a:p>
        </p:txBody>
      </p:sp>
      <p:sp>
        <p:nvSpPr>
          <p:cNvPr id="541" name="Shape 541"/>
          <p:cNvSpPr/>
          <p:nvPr>
            <p:ph type="body" sz="quarter" idx="1"/>
          </p:nvPr>
        </p:nvSpPr>
        <p:spPr>
          <a:prstGeom prst="rect">
            <a:avLst/>
          </a:prstGeom>
        </p:spPr>
        <p:txBody>
          <a:bodyPr/>
          <a:lstStyle>
            <a:lvl1pPr>
              <a:defRPr sz="1200">
                <a:latin typeface="Calibri"/>
                <a:ea typeface="Calibri"/>
                <a:cs typeface="Calibri"/>
                <a:sym typeface="Calibri"/>
              </a:defRPr>
            </a:lvl1pPr>
          </a:lstStyle>
          <a:p>
            <a:pPr/>
            <a:r>
              <a:t>Two event types, two queues: UnifiedEvent → sensor.events (multicast) | ActuatorEvent → actuator.states (anycast). Both REST and SSE sources converge into the same UnifiedEvent schema, eliminating source-specific complexity for all downstream consumers.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1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22.png"/><Relationship Id="rId4" Type="http://schemas.openxmlformats.org/officeDocument/2006/relationships/image" Target="../media/image2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2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28.png"/><Relationship Id="rId4" Type="http://schemas.openxmlformats.org/officeDocument/2006/relationships/image" Target="../media/image3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26.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39.png"/><Relationship Id="rId5" Type="http://schemas.openxmlformats.org/officeDocument/2006/relationships/image" Target="../media/image40.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28.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image" Target="../media/image28.png"/><Relationship Id="rId5" Type="http://schemas.openxmlformats.org/officeDocument/2006/relationships/image" Target="../media/image41.png"/><Relationship Id="rId6" Type="http://schemas.openxmlformats.org/officeDocument/2006/relationships/image" Target="../media/image33.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e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 Id="rId3" Type="http://schemas.openxmlformats.org/officeDocument/2006/relationships/image" Target="../media/image42.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 Id="rId3" Type="http://schemas.openxmlformats.org/officeDocument/2006/relationships/image" Target="../media/image43.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 Id="rId3" Type="http://schemas.openxmlformats.org/officeDocument/2006/relationships/image" Target="../media/image44.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 Id="rId3" Type="http://schemas.openxmlformats.org/officeDocument/2006/relationships/image" Target="../media/image45.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 Id="rId3"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 name="Google Shape;16;p3" descr="Google Shape;16;p3"/>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21" name="Google Shape;17;p3"/>
          <p:cNvSpPr txBox="1"/>
          <p:nvPr/>
        </p:nvSpPr>
        <p:spPr>
          <a:xfrm>
            <a:off x="3308725" y="1066100"/>
            <a:ext cx="25266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83"/>
              </a:lnSpc>
              <a:defRPr sz="1200">
                <a:solidFill>
                  <a:srgbClr val="00FFFF"/>
                </a:solidFill>
                <a:latin typeface="Orbitron Regular Regular"/>
                <a:ea typeface="Orbitron Regular Regular"/>
                <a:cs typeface="Orbitron Regular Regular"/>
                <a:sym typeface="Orbitron Regular Regular"/>
              </a:defRPr>
            </a:lvl1pPr>
          </a:lstStyle>
          <a:p>
            <a:pPr/>
            <a:r>
              <a:t>MISSION: MARSOPS_2036</a:t>
            </a:r>
          </a:p>
        </p:txBody>
      </p:sp>
      <p:sp>
        <p:nvSpPr>
          <p:cNvPr id="22" name="Google Shape;18;p3"/>
          <p:cNvSpPr txBox="1"/>
          <p:nvPr/>
        </p:nvSpPr>
        <p:spPr>
          <a:xfrm>
            <a:off x="2414575" y="1423251"/>
            <a:ext cx="4314902" cy="8797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23456"/>
              </a:lnSpc>
              <a:defRPr sz="2500">
                <a:solidFill>
                  <a:srgbClr val="FF4500"/>
                </a:solidFill>
                <a:latin typeface="Orbitron Regular Regular"/>
                <a:ea typeface="Orbitron Regular Regular"/>
                <a:cs typeface="Orbitron Regular Regular"/>
                <a:sym typeface="Orbitron Regular Regular"/>
              </a:defRPr>
            </a:pPr>
            <a:r>
              <a:t>WELCOME TO MARS.</a:t>
            </a:r>
            <a:br/>
            <a:r>
              <a:t>PLEASE DON’T DIE!</a:t>
            </a:r>
          </a:p>
        </p:txBody>
      </p:sp>
      <p:sp>
        <p:nvSpPr>
          <p:cNvPr id="23" name="Google Shape;19;p3"/>
          <p:cNvSpPr/>
          <p:nvPr/>
        </p:nvSpPr>
        <p:spPr>
          <a:xfrm>
            <a:off x="561676" y="2559248"/>
            <a:ext cx="8020647" cy="600076"/>
          </a:xfrm>
          <a:prstGeom prst="rect">
            <a:avLst/>
          </a:prstGeom>
          <a:solidFill>
            <a:srgbClr val="000000">
              <a:alpha val="0"/>
            </a:srgbClr>
          </a:solidFill>
          <a:ln w="12700">
            <a:miter lim="400000"/>
          </a:ln>
        </p:spPr>
        <p:txBody>
          <a:bodyPr lIns="0" tIns="0" rIns="0" bIns="0" anchor="ctr"/>
          <a:lstStyle/>
          <a:p>
            <a:pPr/>
          </a:p>
        </p:txBody>
      </p:sp>
      <p:sp>
        <p:nvSpPr>
          <p:cNvPr id="24" name="Google Shape;20;p3"/>
          <p:cNvSpPr/>
          <p:nvPr/>
        </p:nvSpPr>
        <p:spPr>
          <a:xfrm>
            <a:off x="561676" y="2559248"/>
            <a:ext cx="8020647" cy="14289"/>
          </a:xfrm>
          <a:prstGeom prst="rect">
            <a:avLst/>
          </a:prstGeom>
          <a:solidFill>
            <a:srgbClr val="00FFFF"/>
          </a:solidFill>
          <a:ln w="12700">
            <a:miter lim="400000"/>
          </a:ln>
        </p:spPr>
        <p:txBody>
          <a:bodyPr lIns="0" tIns="0" rIns="0" bIns="0" anchor="ctr"/>
          <a:lstStyle/>
          <a:p>
            <a:pPr/>
          </a:p>
        </p:txBody>
      </p:sp>
      <p:sp>
        <p:nvSpPr>
          <p:cNvPr id="25" name="Google Shape;21;p3"/>
          <p:cNvSpPr/>
          <p:nvPr/>
        </p:nvSpPr>
        <p:spPr>
          <a:xfrm>
            <a:off x="561676" y="3145035"/>
            <a:ext cx="8020647" cy="14289"/>
          </a:xfrm>
          <a:prstGeom prst="rect">
            <a:avLst/>
          </a:prstGeom>
          <a:solidFill>
            <a:srgbClr val="00FFFF"/>
          </a:solidFill>
          <a:ln w="12700">
            <a:miter lim="400000"/>
          </a:ln>
        </p:spPr>
        <p:txBody>
          <a:bodyPr lIns="0" tIns="0" rIns="0" bIns="0" anchor="ctr"/>
          <a:lstStyle/>
          <a:p>
            <a:pPr/>
          </a:p>
        </p:txBody>
      </p:sp>
      <p:sp>
        <p:nvSpPr>
          <p:cNvPr id="26" name="Google Shape;22;p3"/>
          <p:cNvSpPr txBox="1"/>
          <p:nvPr/>
        </p:nvSpPr>
        <p:spPr>
          <a:xfrm>
            <a:off x="1266224" y="2559249"/>
            <a:ext cx="6611550" cy="606801"/>
          </a:xfrm>
          <a:prstGeom prst="rect">
            <a:avLst/>
          </a:prstGeom>
          <a:ln w="12700">
            <a:miter lim="400000"/>
          </a:ln>
          <a:extLst>
            <a:ext uri="{C572A759-6A51-4108-AA02-DFA0A04FC94B}">
              <ma14:wrappingTextBoxFlag xmlns:ma14="http://schemas.microsoft.com/office/mac/drawingml/2011/main" val="1"/>
            </a:ext>
          </a:extLst>
        </p:spPr>
        <p:txBody>
          <a:bodyPr lIns="170050" tIns="170050" rIns="170050" bIns="170050">
            <a:spAutoFit/>
          </a:bodyPr>
          <a:lstStyle>
            <a:lvl1pPr>
              <a:lnSpc>
                <a:spcPct val="129106"/>
              </a:lnSpc>
              <a:defRPr sz="1700">
                <a:solidFill>
                  <a:srgbClr val="E0E0E0"/>
                </a:solidFill>
                <a:latin typeface="Orbitron Regular Regular"/>
                <a:ea typeface="Orbitron Regular Regular"/>
                <a:cs typeface="Orbitron Regular Regular"/>
                <a:sym typeface="Orbitron Regular Regular"/>
              </a:defRPr>
            </a:lvl1pPr>
          </a:lstStyle>
          <a:p>
            <a:pPr/>
            <a:r>
              <a:t>MARSOPS: DISTRIBUTED AUTOMATION PLATFORM</a:t>
            </a:r>
          </a:p>
        </p:txBody>
      </p:sp>
      <p:sp>
        <p:nvSpPr>
          <p:cNvPr id="27" name="Google Shape;23;p3"/>
          <p:cNvSpPr/>
          <p:nvPr/>
        </p:nvSpPr>
        <p:spPr>
          <a:xfrm>
            <a:off x="914400" y="3573660"/>
            <a:ext cx="7315200" cy="500064"/>
          </a:xfrm>
          <a:prstGeom prst="rect">
            <a:avLst/>
          </a:prstGeom>
          <a:solidFill>
            <a:srgbClr val="000000">
              <a:alpha val="0"/>
            </a:srgbClr>
          </a:solidFill>
          <a:ln w="12700">
            <a:miter lim="400000"/>
          </a:ln>
        </p:spPr>
        <p:txBody>
          <a:bodyPr lIns="0" tIns="0" rIns="0" bIns="0" anchor="ctr"/>
          <a:lstStyle/>
          <a:p>
            <a:pPr/>
          </a:p>
        </p:txBody>
      </p:sp>
      <p:sp>
        <p:nvSpPr>
          <p:cNvPr id="28" name="Google Shape;24;p3"/>
          <p:cNvSpPr/>
          <p:nvPr/>
        </p:nvSpPr>
        <p:spPr>
          <a:xfrm>
            <a:off x="914400" y="3570882"/>
            <a:ext cx="7315200" cy="12701"/>
          </a:xfrm>
          <a:prstGeom prst="rect">
            <a:avLst/>
          </a:prstGeom>
          <a:solidFill>
            <a:srgbClr val="FFC7B3"/>
          </a:solidFill>
          <a:ln w="12700">
            <a:miter lim="400000"/>
          </a:ln>
        </p:spPr>
        <p:txBody>
          <a:bodyPr lIns="0" tIns="0" rIns="0" bIns="0" anchor="ctr"/>
          <a:lstStyle/>
          <a:p>
            <a:pPr/>
          </a:p>
        </p:txBody>
      </p:sp>
      <p:sp>
        <p:nvSpPr>
          <p:cNvPr id="29" name="Google Shape;25;p3"/>
          <p:cNvSpPr txBox="1"/>
          <p:nvPr/>
        </p:nvSpPr>
        <p:spPr>
          <a:xfrm>
            <a:off x="1460589" y="3791544"/>
            <a:ext cx="143053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28824"/>
              </a:lnSpc>
              <a:defRPr sz="600">
                <a:solidFill>
                  <a:srgbClr val="FF4500"/>
                </a:solidFill>
                <a:latin typeface="Orbitron Regular Regular"/>
                <a:ea typeface="Orbitron Regular Regular"/>
                <a:cs typeface="Orbitron Regular Regular"/>
                <a:sym typeface="Orbitron Regular Regular"/>
              </a:defRPr>
            </a:lvl1pPr>
          </a:lstStyle>
          <a:p>
            <a:pPr/>
            <a:r>
              <a:t>INSTITUTION</a:t>
            </a:r>
          </a:p>
        </p:txBody>
      </p:sp>
      <p:sp>
        <p:nvSpPr>
          <p:cNvPr id="30" name="Google Shape;26;p3"/>
          <p:cNvSpPr txBox="1"/>
          <p:nvPr/>
        </p:nvSpPr>
        <p:spPr>
          <a:xfrm>
            <a:off x="1460589" y="3936205"/>
            <a:ext cx="143053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1894"/>
              </a:lnSpc>
              <a:defRPr sz="800">
                <a:solidFill>
                  <a:srgbClr val="E0E0E0"/>
                </a:solidFill>
                <a:latin typeface="Roboto Regular Regular"/>
                <a:ea typeface="Roboto Regular Regular"/>
                <a:cs typeface="Roboto Regular Regular"/>
                <a:sym typeface="Roboto Regular Regular"/>
              </a:defRPr>
            </a:lvl1pPr>
          </a:lstStyle>
          <a:p>
            <a:pPr/>
            <a:r>
              <a:t>Sapienza University of Rome</a:t>
            </a:r>
          </a:p>
        </p:txBody>
      </p:sp>
      <p:sp>
        <p:nvSpPr>
          <p:cNvPr id="31" name="Google Shape;27;p3"/>
          <p:cNvSpPr txBox="1"/>
          <p:nvPr/>
        </p:nvSpPr>
        <p:spPr>
          <a:xfrm>
            <a:off x="3983506" y="3791544"/>
            <a:ext cx="22538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28824"/>
              </a:lnSpc>
              <a:defRPr sz="600">
                <a:solidFill>
                  <a:srgbClr val="FF4500"/>
                </a:solidFill>
                <a:latin typeface="Orbitron Regular Regular"/>
                <a:ea typeface="Orbitron Regular Regular"/>
                <a:cs typeface="Orbitron Regular Regular"/>
                <a:sym typeface="Orbitron Regular Regular"/>
              </a:defRPr>
            </a:lvl1pPr>
          </a:lstStyle>
          <a:p>
            <a:pPr/>
            <a:r>
              <a:t>PROGRAM</a:t>
            </a:r>
          </a:p>
        </p:txBody>
      </p:sp>
      <p:sp>
        <p:nvSpPr>
          <p:cNvPr id="32" name="Google Shape;28;p3"/>
          <p:cNvSpPr txBox="1"/>
          <p:nvPr/>
        </p:nvSpPr>
        <p:spPr>
          <a:xfrm>
            <a:off x="3983506" y="3936205"/>
            <a:ext cx="22538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1894"/>
              </a:lnSpc>
              <a:defRPr sz="800">
                <a:solidFill>
                  <a:srgbClr val="E0E0E0"/>
                </a:solidFill>
                <a:latin typeface="Roboto Regular Regular"/>
                <a:ea typeface="Roboto Regular Regular"/>
                <a:cs typeface="Roboto Regular Regular"/>
                <a:sym typeface="Roboto Regular Regular"/>
              </a:defRPr>
            </a:lvl1pPr>
          </a:lstStyle>
          <a:p>
            <a:pPr/>
            <a:r>
              <a:t>MSc in Engineering in Computer Science &amp; AI</a:t>
            </a:r>
          </a:p>
        </p:txBody>
      </p:sp>
      <p:sp>
        <p:nvSpPr>
          <p:cNvPr id="33" name="Google Shape;29;p3"/>
          <p:cNvSpPr txBox="1"/>
          <p:nvPr/>
        </p:nvSpPr>
        <p:spPr>
          <a:xfrm>
            <a:off x="7329738" y="3791544"/>
            <a:ext cx="353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28824"/>
              </a:lnSpc>
              <a:defRPr sz="600">
                <a:solidFill>
                  <a:srgbClr val="FF4500"/>
                </a:solidFill>
                <a:latin typeface="Orbitron Regular Regular"/>
                <a:ea typeface="Orbitron Regular Regular"/>
                <a:cs typeface="Orbitron Regular Regular"/>
                <a:sym typeface="Orbitron Regular Regular"/>
              </a:defRPr>
            </a:lvl1pPr>
          </a:lstStyle>
          <a:p>
            <a:pPr/>
            <a:r>
              <a:t>GROUP</a:t>
            </a:r>
          </a:p>
        </p:txBody>
      </p:sp>
      <p:sp>
        <p:nvSpPr>
          <p:cNvPr id="34" name="Google Shape;30;p3"/>
          <p:cNvSpPr txBox="1"/>
          <p:nvPr/>
        </p:nvSpPr>
        <p:spPr>
          <a:xfrm>
            <a:off x="7373494" y="3936205"/>
            <a:ext cx="2661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1894"/>
              </a:lnSpc>
              <a:defRPr sz="800">
                <a:solidFill>
                  <a:srgbClr val="E0E0E0"/>
                </a:solidFill>
                <a:latin typeface="Roboto Regular Regular"/>
                <a:ea typeface="Roboto Regular Regular"/>
                <a:cs typeface="Roboto Regular Regular"/>
                <a:sym typeface="Roboto Regular Regular"/>
              </a:defRPr>
            </a:lvl1pPr>
          </a:lstStyle>
          <a:p>
            <a:pPr/>
            <a:r>
              <a:t>LoAP</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6" name="Google Shape;36;p4" descr="Google Shape;36;p4"/>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37" name="Google Shape;37;p4"/>
          <p:cNvSpPr txBox="1"/>
          <p:nvPr/>
        </p:nvSpPr>
        <p:spPr>
          <a:xfrm>
            <a:off x="7193756" y="285749"/>
            <a:ext cx="16644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PROJECT // V1.0</a:t>
            </a:r>
          </a:p>
        </p:txBody>
      </p:sp>
      <p:sp>
        <p:nvSpPr>
          <p:cNvPr id="38" name="Google Shape;38;p4"/>
          <p:cNvSpPr/>
          <p:nvPr/>
        </p:nvSpPr>
        <p:spPr>
          <a:xfrm>
            <a:off x="457200" y="607219"/>
            <a:ext cx="8229600" cy="392906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39" name="Google Shape;39;p4"/>
          <p:cNvSpPr txBox="1"/>
          <p:nvPr/>
        </p:nvSpPr>
        <p:spPr>
          <a:xfrm>
            <a:off x="814387" y="964405"/>
            <a:ext cx="751522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PROJECT SCOPE</a:t>
            </a:r>
          </a:p>
        </p:txBody>
      </p:sp>
      <p:pic>
        <p:nvPicPr>
          <p:cNvPr id="40" name="Google Shape;40;p4" descr="Google Shape;40;p4"/>
          <p:cNvPicPr>
            <a:picLocks noChangeAspect="1"/>
          </p:cNvPicPr>
          <p:nvPr/>
        </p:nvPicPr>
        <p:blipFill>
          <a:blip r:embed="rId3">
            <a:extLst/>
          </a:blip>
          <a:stretch>
            <a:fillRect/>
          </a:stretch>
        </p:blipFill>
        <p:spPr>
          <a:xfrm>
            <a:off x="814387" y="1612702"/>
            <a:ext cx="128589" cy="128589"/>
          </a:xfrm>
          <a:prstGeom prst="rect">
            <a:avLst/>
          </a:prstGeom>
          <a:ln w="12700">
            <a:miter lim="400000"/>
          </a:ln>
        </p:spPr>
      </p:pic>
      <p:sp>
        <p:nvSpPr>
          <p:cNvPr id="41" name="Google Shape;41;p4"/>
          <p:cNvSpPr txBox="1"/>
          <p:nvPr/>
        </p:nvSpPr>
        <p:spPr>
          <a:xfrm>
            <a:off x="1014412" y="1605558"/>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MarsOps is a distributed automation platform designed to guarantee the survival of occupants in a Martian habitat by integrating</a:t>
            </a:r>
          </a:p>
        </p:txBody>
      </p:sp>
      <p:sp>
        <p:nvSpPr>
          <p:cNvPr id="42" name="Google Shape;42;p4"/>
          <p:cNvSpPr txBox="1"/>
          <p:nvPr/>
        </p:nvSpPr>
        <p:spPr>
          <a:xfrm>
            <a:off x="814387" y="1811274"/>
            <a:ext cx="751522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heterogeneous IoT devices into a unified monitoring system. The platform acts as a bridge between a fragile habitat's infrastructure</a:t>
            </a:r>
          </a:p>
        </p:txBody>
      </p:sp>
      <p:sp>
        <p:nvSpPr>
          <p:cNvPr id="43" name="Google Shape;43;p4"/>
          <p:cNvSpPr txBox="1"/>
          <p:nvPr/>
        </p:nvSpPr>
        <p:spPr>
          <a:xfrm>
            <a:off x="814387" y="2016992"/>
            <a:ext cx="14555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and the human operators.</a:t>
            </a:r>
          </a:p>
        </p:txBody>
      </p:sp>
      <p:pic>
        <p:nvPicPr>
          <p:cNvPr id="44" name="Google Shape;44;p4" descr="Google Shape;44;p4"/>
          <p:cNvPicPr>
            <a:picLocks noChangeAspect="1"/>
          </p:cNvPicPr>
          <p:nvPr/>
        </p:nvPicPr>
        <p:blipFill>
          <a:blip r:embed="rId4">
            <a:extLst/>
          </a:blip>
          <a:stretch>
            <a:fillRect/>
          </a:stretch>
        </p:blipFill>
        <p:spPr>
          <a:xfrm>
            <a:off x="814387" y="2408447"/>
            <a:ext cx="160735" cy="128589"/>
          </a:xfrm>
          <a:prstGeom prst="rect">
            <a:avLst/>
          </a:prstGeom>
          <a:ln w="12700">
            <a:miter lim="400000"/>
          </a:ln>
        </p:spPr>
      </p:pic>
      <p:sp>
        <p:nvSpPr>
          <p:cNvPr id="45" name="Google Shape;45;p4"/>
          <p:cNvSpPr txBox="1"/>
          <p:nvPr/>
        </p:nvSpPr>
        <p:spPr>
          <a:xfrm>
            <a:off x="1046558" y="2401304"/>
            <a:ext cx="728305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Operators can monitor critical environmental parameters in real-time through a centralized dashboard. They can, also, define</a:t>
            </a:r>
          </a:p>
        </p:txBody>
      </p:sp>
      <p:sp>
        <p:nvSpPr>
          <p:cNvPr id="46" name="Google Shape;46;p4"/>
          <p:cNvSpPr txBox="1"/>
          <p:nvPr/>
        </p:nvSpPr>
        <p:spPr>
          <a:xfrm>
            <a:off x="814387" y="2607022"/>
            <a:ext cx="66811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rules to ensure that habitat actuators respond instantly to dangerous environmental shifts without manual intervention.</a:t>
            </a:r>
          </a:p>
        </p:txBody>
      </p:sp>
      <p:pic>
        <p:nvPicPr>
          <p:cNvPr id="47" name="Google Shape;47;p4" descr="Google Shape;47;p4"/>
          <p:cNvPicPr>
            <a:picLocks noChangeAspect="1"/>
          </p:cNvPicPr>
          <p:nvPr/>
        </p:nvPicPr>
        <p:blipFill>
          <a:blip r:embed="rId5">
            <a:extLst/>
          </a:blip>
          <a:stretch>
            <a:fillRect/>
          </a:stretch>
        </p:blipFill>
        <p:spPr>
          <a:xfrm>
            <a:off x="814387" y="2998477"/>
            <a:ext cx="160735" cy="128589"/>
          </a:xfrm>
          <a:prstGeom prst="rect">
            <a:avLst/>
          </a:prstGeom>
          <a:ln w="12700">
            <a:miter lim="400000"/>
          </a:ln>
        </p:spPr>
      </p:pic>
      <p:sp>
        <p:nvSpPr>
          <p:cNvPr id="48" name="Google Shape;48;p4"/>
          <p:cNvSpPr txBox="1"/>
          <p:nvPr/>
        </p:nvSpPr>
        <p:spPr>
          <a:xfrm>
            <a:off x="1046558" y="2991334"/>
            <a:ext cx="728305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By evaluating sensor data against operator-defined criteria, it triggers autonomous responses, such as activating cooling</a:t>
            </a:r>
          </a:p>
        </p:txBody>
      </p:sp>
      <p:sp>
        <p:nvSpPr>
          <p:cNvPr id="49" name="Google Shape;49;p4"/>
          <p:cNvSpPr txBox="1"/>
          <p:nvPr/>
        </p:nvSpPr>
        <p:spPr>
          <a:xfrm>
            <a:off x="814388" y="3197050"/>
            <a:ext cx="723304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systems or emergency ventilation, without requiring manual intervention, mitigating risks in high-latency Martian environments.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1" name="Google Shape;55;p5" descr="Google Shape;55;p5"/>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52" name="Google Shape;56;p5"/>
          <p:cNvSpPr txBox="1"/>
          <p:nvPr/>
        </p:nvSpPr>
        <p:spPr>
          <a:xfrm>
            <a:off x="6363294" y="285749"/>
            <a:ext cx="249495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MISSION_STATUS // COMPLETE</a:t>
            </a:r>
          </a:p>
        </p:txBody>
      </p:sp>
      <p:sp>
        <p:nvSpPr>
          <p:cNvPr id="53" name="Google Shape;57;p5"/>
          <p:cNvSpPr/>
          <p:nvPr/>
        </p:nvSpPr>
        <p:spPr>
          <a:xfrm>
            <a:off x="457200" y="607219"/>
            <a:ext cx="8229600" cy="392906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54" name="Google Shape;58;p5"/>
          <p:cNvSpPr txBox="1"/>
          <p:nvPr/>
        </p:nvSpPr>
        <p:spPr>
          <a:xfrm>
            <a:off x="814387" y="1035844"/>
            <a:ext cx="7515226"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1362"/>
              </a:lnSpc>
              <a:defRPr sz="2400">
                <a:solidFill>
                  <a:srgbClr val="FF4500"/>
                </a:solidFill>
                <a:latin typeface="Orbitron Regular Bold"/>
                <a:ea typeface="Orbitron Regular Bold"/>
                <a:cs typeface="Orbitron Regular Bold"/>
                <a:sym typeface="Orbitron Regular Bold"/>
              </a:defRPr>
            </a:lvl1pPr>
          </a:lstStyle>
          <a:p>
            <a:pPr/>
            <a:r>
              <a:t>MISSION STATUS: OPERATIONAL</a:t>
            </a:r>
          </a:p>
        </p:txBody>
      </p:sp>
      <p:sp>
        <p:nvSpPr>
          <p:cNvPr id="55" name="Google Shape;59;p5"/>
          <p:cNvSpPr/>
          <p:nvPr/>
        </p:nvSpPr>
        <p:spPr>
          <a:xfrm>
            <a:off x="814387" y="1980605"/>
            <a:ext cx="2362182" cy="15716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56" name="Google Shape;60;p5" descr="Google Shape;60;p5"/>
          <p:cNvPicPr>
            <a:picLocks noChangeAspect="1"/>
          </p:cNvPicPr>
          <p:nvPr/>
        </p:nvPicPr>
        <p:blipFill>
          <a:blip r:embed="rId3">
            <a:extLst/>
          </a:blip>
          <a:stretch>
            <a:fillRect/>
          </a:stretch>
        </p:blipFill>
        <p:spPr>
          <a:xfrm>
            <a:off x="1852603" y="2194916"/>
            <a:ext cx="285751" cy="285751"/>
          </a:xfrm>
          <a:prstGeom prst="rect">
            <a:avLst/>
          </a:prstGeom>
          <a:ln w="12700">
            <a:miter lim="400000"/>
          </a:ln>
        </p:spPr>
      </p:pic>
      <p:sp>
        <p:nvSpPr>
          <p:cNvPr id="57" name="Google Shape;61;p5"/>
          <p:cNvSpPr txBox="1"/>
          <p:nvPr/>
        </p:nvSpPr>
        <p:spPr>
          <a:xfrm>
            <a:off x="1454339" y="2623541"/>
            <a:ext cx="108227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3333"/>
              </a:lnSpc>
              <a:defRPr sz="1000">
                <a:solidFill>
                  <a:srgbClr val="FF4500"/>
                </a:solidFill>
                <a:latin typeface="Orbitron Regular Regular"/>
                <a:ea typeface="Orbitron Regular Regular"/>
                <a:cs typeface="Orbitron Regular Regular"/>
                <a:sym typeface="Orbitron Regular Regular"/>
              </a:defRPr>
            </a:lvl1pPr>
          </a:lstStyle>
          <a:p>
            <a:pPr/>
            <a:r>
              <a:t>RELIABILITY</a:t>
            </a:r>
          </a:p>
        </p:txBody>
      </p:sp>
      <p:sp>
        <p:nvSpPr>
          <p:cNvPr id="58" name="Google Shape;62;p5"/>
          <p:cNvSpPr txBox="1"/>
          <p:nvPr/>
        </p:nvSpPr>
        <p:spPr>
          <a:xfrm>
            <a:off x="957262" y="2909291"/>
            <a:ext cx="2076432" cy="2924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55875"/>
              </a:lnSpc>
              <a:defRPr sz="800">
                <a:solidFill>
                  <a:srgbClr val="E0E0E0"/>
                </a:solidFill>
                <a:latin typeface="Roboto Regular Regular"/>
                <a:ea typeface="Roboto Regular Regular"/>
                <a:cs typeface="Roboto Regular Regular"/>
                <a:sym typeface="Roboto Regular Regular"/>
              </a:defRPr>
            </a:lvl1pPr>
          </a:lstStyle>
          <a:p>
            <a:pPr/>
            <a:r>
              <a:t>Distributed architecture ensuring habitat survival through redundancy.</a:t>
            </a:r>
          </a:p>
        </p:txBody>
      </p:sp>
      <p:sp>
        <p:nvSpPr>
          <p:cNvPr id="59" name="Google Shape;63;p5"/>
          <p:cNvSpPr/>
          <p:nvPr/>
        </p:nvSpPr>
        <p:spPr>
          <a:xfrm>
            <a:off x="3390881" y="1980605"/>
            <a:ext cx="2362209" cy="15716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60" name="Google Shape;64;p5" descr="Google Shape;64;p5"/>
          <p:cNvPicPr>
            <a:picLocks noChangeAspect="1"/>
          </p:cNvPicPr>
          <p:nvPr/>
        </p:nvPicPr>
        <p:blipFill>
          <a:blip r:embed="rId4">
            <a:extLst/>
          </a:blip>
          <a:stretch>
            <a:fillRect/>
          </a:stretch>
        </p:blipFill>
        <p:spPr>
          <a:xfrm>
            <a:off x="4393377" y="2194916"/>
            <a:ext cx="357189" cy="285751"/>
          </a:xfrm>
          <a:prstGeom prst="rect">
            <a:avLst/>
          </a:prstGeom>
          <a:ln w="12700">
            <a:miter lim="400000"/>
          </a:ln>
        </p:spPr>
      </p:pic>
      <p:sp>
        <p:nvSpPr>
          <p:cNvPr id="61" name="Google Shape;65;p5"/>
          <p:cNvSpPr txBox="1"/>
          <p:nvPr/>
        </p:nvSpPr>
        <p:spPr>
          <a:xfrm>
            <a:off x="3989756" y="2623541"/>
            <a:ext cx="116443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3333"/>
              </a:lnSpc>
              <a:defRPr sz="1000">
                <a:solidFill>
                  <a:srgbClr val="FF4500"/>
                </a:solidFill>
                <a:latin typeface="Orbitron Regular Regular"/>
                <a:ea typeface="Orbitron Regular Regular"/>
                <a:cs typeface="Orbitron Regular Regular"/>
                <a:sym typeface="Orbitron Regular Regular"/>
              </a:defRPr>
            </a:lvl1pPr>
          </a:lstStyle>
          <a:p>
            <a:pPr/>
            <a:r>
              <a:t>AUTOMATION</a:t>
            </a:r>
          </a:p>
        </p:txBody>
      </p:sp>
      <p:sp>
        <p:nvSpPr>
          <p:cNvPr id="62" name="Google Shape;66;p5"/>
          <p:cNvSpPr txBox="1"/>
          <p:nvPr/>
        </p:nvSpPr>
        <p:spPr>
          <a:xfrm>
            <a:off x="3533756" y="2909291"/>
            <a:ext cx="2076458" cy="2924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55875"/>
              </a:lnSpc>
              <a:defRPr sz="800">
                <a:solidFill>
                  <a:srgbClr val="E0E0E0"/>
                </a:solidFill>
                <a:latin typeface="Roboto Regular Regular"/>
                <a:ea typeface="Roboto Regular Regular"/>
                <a:cs typeface="Roboto Regular Regular"/>
                <a:sym typeface="Roboto Regular Regular"/>
              </a:defRPr>
            </a:lvl1pPr>
          </a:lstStyle>
          <a:p>
            <a:pPr/>
            <a:r>
              <a:t>Smart control loops mitigating risks in high-latency environments.</a:t>
            </a:r>
          </a:p>
        </p:txBody>
      </p:sp>
      <p:sp>
        <p:nvSpPr>
          <p:cNvPr id="63" name="Google Shape;67;p5"/>
          <p:cNvSpPr/>
          <p:nvPr/>
        </p:nvSpPr>
        <p:spPr>
          <a:xfrm>
            <a:off x="5967402" y="1980605"/>
            <a:ext cx="2362182" cy="15716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64" name="Google Shape;68;p5" descr="Google Shape;68;p5"/>
          <p:cNvPicPr>
            <a:picLocks noChangeAspect="1"/>
          </p:cNvPicPr>
          <p:nvPr/>
        </p:nvPicPr>
        <p:blipFill>
          <a:blip r:embed="rId5">
            <a:extLst/>
          </a:blip>
          <a:stretch>
            <a:fillRect/>
          </a:stretch>
        </p:blipFill>
        <p:spPr>
          <a:xfrm>
            <a:off x="7023478" y="2194916"/>
            <a:ext cx="250032" cy="285751"/>
          </a:xfrm>
          <a:prstGeom prst="rect">
            <a:avLst/>
          </a:prstGeom>
          <a:ln w="12700">
            <a:miter lim="400000"/>
          </a:ln>
        </p:spPr>
      </p:pic>
      <p:sp>
        <p:nvSpPr>
          <p:cNvPr id="65" name="Google Shape;69;p5"/>
          <p:cNvSpPr txBox="1"/>
          <p:nvPr/>
        </p:nvSpPr>
        <p:spPr>
          <a:xfrm>
            <a:off x="6558242" y="2623541"/>
            <a:ext cx="1180506"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3333"/>
              </a:lnSpc>
              <a:defRPr sz="1000">
                <a:solidFill>
                  <a:srgbClr val="FF4500"/>
                </a:solidFill>
                <a:latin typeface="Orbitron Regular Regular"/>
                <a:ea typeface="Orbitron Regular Regular"/>
                <a:cs typeface="Orbitron Regular Regular"/>
                <a:sym typeface="Orbitron Regular Regular"/>
              </a:defRPr>
            </a:lvl1pPr>
          </a:lstStyle>
          <a:p>
            <a:pPr/>
            <a:r>
              <a:t>SCALABILITY</a:t>
            </a:r>
          </a:p>
        </p:txBody>
      </p:sp>
      <p:sp>
        <p:nvSpPr>
          <p:cNvPr id="66" name="Google Shape;70;p5"/>
          <p:cNvSpPr txBox="1"/>
          <p:nvPr/>
        </p:nvSpPr>
        <p:spPr>
          <a:xfrm>
            <a:off x="6110277" y="2909291"/>
            <a:ext cx="2076432" cy="2924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55875"/>
              </a:lnSpc>
              <a:defRPr sz="800">
                <a:solidFill>
                  <a:srgbClr val="E0E0E0"/>
                </a:solidFill>
                <a:latin typeface="Roboto Regular Regular"/>
                <a:ea typeface="Roboto Regular Regular"/>
                <a:cs typeface="Roboto Regular Regular"/>
                <a:sym typeface="Roboto Regular Regular"/>
              </a:defRPr>
            </a:lvl1pPr>
          </a:lstStyle>
          <a:p>
            <a:pPr/>
            <a:r>
              <a:t>Microservices-ready design for future habitat expansions.</a:t>
            </a:r>
          </a:p>
        </p:txBody>
      </p:sp>
      <p:sp>
        <p:nvSpPr>
          <p:cNvPr id="67" name="Google Shape;71;p5"/>
          <p:cNvSpPr txBox="1"/>
          <p:nvPr/>
        </p:nvSpPr>
        <p:spPr>
          <a:xfrm>
            <a:off x="3172717" y="4402721"/>
            <a:ext cx="2798565"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27388"/>
              </a:lnSpc>
              <a:defRPr sz="900">
                <a:solidFill>
                  <a:srgbClr val="00FFFF"/>
                </a:solidFill>
                <a:latin typeface="Orbitron Regular Regular"/>
                <a:ea typeface="Orbitron Regular Regular"/>
                <a:cs typeface="Orbitron Regular Regular"/>
                <a:sym typeface="Orbitron Regular Regular"/>
              </a:defRPr>
            </a:lvl1pPr>
          </a:lstStyle>
          <a:p>
            <a:pPr/>
            <a:r>
              <a:t>END OF TRANSMISSION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9" name="Google Shape;77;p6" descr="Google Shape;77;p6"/>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70" name="Google Shape;78;p6"/>
          <p:cNvSpPr txBox="1"/>
          <p:nvPr/>
        </p:nvSpPr>
        <p:spPr>
          <a:xfrm>
            <a:off x="6856214" y="285749"/>
            <a:ext cx="200203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ARCHITECTURE // V1.0</a:t>
            </a:r>
          </a:p>
        </p:txBody>
      </p:sp>
      <p:sp>
        <p:nvSpPr>
          <p:cNvPr id="71" name="Google Shape;79;p6"/>
          <p:cNvSpPr/>
          <p:nvPr/>
        </p:nvSpPr>
        <p:spPr>
          <a:xfrm>
            <a:off x="457200" y="607219"/>
            <a:ext cx="8229600" cy="392906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72" name="Google Shape;80;p6"/>
          <p:cNvSpPr txBox="1"/>
          <p:nvPr/>
        </p:nvSpPr>
        <p:spPr>
          <a:xfrm>
            <a:off x="742950" y="89296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SYSTEM ARCHITECTURE</a:t>
            </a:r>
          </a:p>
        </p:txBody>
      </p:sp>
      <p:sp>
        <p:nvSpPr>
          <p:cNvPr id="73" name="Google Shape;81;p6"/>
          <p:cNvSpPr/>
          <p:nvPr/>
        </p:nvSpPr>
        <p:spPr>
          <a:xfrm>
            <a:off x="742949" y="1278730"/>
            <a:ext cx="3757502" cy="91440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74" name="Google Shape;82;p6" descr="Google Shape;82;p6"/>
          <p:cNvPicPr>
            <a:picLocks noChangeAspect="1"/>
          </p:cNvPicPr>
          <p:nvPr/>
        </p:nvPicPr>
        <p:blipFill>
          <a:blip r:embed="rId3">
            <a:extLst/>
          </a:blip>
          <a:stretch>
            <a:fillRect/>
          </a:stretch>
        </p:blipFill>
        <p:spPr>
          <a:xfrm>
            <a:off x="885825" y="1693068"/>
            <a:ext cx="285750" cy="228601"/>
          </a:xfrm>
          <a:prstGeom prst="rect">
            <a:avLst/>
          </a:prstGeom>
          <a:ln w="12700">
            <a:miter lim="400000"/>
          </a:ln>
        </p:spPr>
      </p:pic>
      <p:sp>
        <p:nvSpPr>
          <p:cNvPr id="75" name="Google Shape;83;p6"/>
          <p:cNvSpPr txBox="1"/>
          <p:nvPr/>
        </p:nvSpPr>
        <p:spPr>
          <a:xfrm>
            <a:off x="1350169" y="1727001"/>
            <a:ext cx="25128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E0E0E0"/>
                </a:solidFill>
                <a:latin typeface="Orbitron Regular Regular"/>
                <a:ea typeface="Orbitron Regular Regular"/>
                <a:cs typeface="Orbitron Regular Regular"/>
                <a:sym typeface="Orbitron Regular Regular"/>
              </a:defRPr>
            </a:lvl1pPr>
          </a:lstStyle>
          <a:p>
            <a:pPr/>
            <a:r>
              <a:t>MICROSERVICE ARCHITECTURE</a:t>
            </a:r>
          </a:p>
        </p:txBody>
      </p:sp>
      <p:sp>
        <p:nvSpPr>
          <p:cNvPr id="76" name="Google Shape;84;p6"/>
          <p:cNvSpPr/>
          <p:nvPr/>
        </p:nvSpPr>
        <p:spPr>
          <a:xfrm>
            <a:off x="4643437" y="1278730"/>
            <a:ext cx="3757501" cy="91440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77" name="Google Shape;85;p6" descr="Google Shape;85;p6"/>
          <p:cNvPicPr>
            <a:picLocks noChangeAspect="1"/>
          </p:cNvPicPr>
          <p:nvPr/>
        </p:nvPicPr>
        <p:blipFill>
          <a:blip r:embed="rId4">
            <a:extLst/>
          </a:blip>
          <a:stretch>
            <a:fillRect/>
          </a:stretch>
        </p:blipFill>
        <p:spPr>
          <a:xfrm>
            <a:off x="4786312" y="1693068"/>
            <a:ext cx="285751" cy="228601"/>
          </a:xfrm>
          <a:prstGeom prst="rect">
            <a:avLst/>
          </a:prstGeom>
          <a:ln w="12700">
            <a:miter lim="400000"/>
          </a:ln>
        </p:spPr>
      </p:pic>
      <p:sp>
        <p:nvSpPr>
          <p:cNvPr id="78" name="Google Shape;86;p6"/>
          <p:cNvSpPr txBox="1"/>
          <p:nvPr/>
        </p:nvSpPr>
        <p:spPr>
          <a:xfrm>
            <a:off x="5250655" y="1727001"/>
            <a:ext cx="21879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E0E0E0"/>
                </a:solidFill>
                <a:latin typeface="Orbitron Regular Regular"/>
                <a:ea typeface="Orbitron Regular Regular"/>
                <a:cs typeface="Orbitron Regular Regular"/>
                <a:sym typeface="Orbitron Regular Regular"/>
              </a:defRPr>
            </a:lvl1pPr>
          </a:lstStyle>
          <a:p>
            <a:pPr/>
            <a:r>
              <a:t>AMQ AS MESSAGE BROKER</a:t>
            </a:r>
          </a:p>
        </p:txBody>
      </p:sp>
      <p:sp>
        <p:nvSpPr>
          <p:cNvPr id="79" name="Google Shape;87;p6"/>
          <p:cNvSpPr/>
          <p:nvPr/>
        </p:nvSpPr>
        <p:spPr>
          <a:xfrm>
            <a:off x="742949" y="2336006"/>
            <a:ext cx="3757502" cy="91440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80" name="Google Shape;88;p6" descr="Google Shape;88;p6"/>
          <p:cNvPicPr>
            <a:picLocks noChangeAspect="1"/>
          </p:cNvPicPr>
          <p:nvPr/>
        </p:nvPicPr>
        <p:blipFill>
          <a:blip r:embed="rId5">
            <a:extLst/>
          </a:blip>
          <a:stretch>
            <a:fillRect/>
          </a:stretch>
        </p:blipFill>
        <p:spPr>
          <a:xfrm>
            <a:off x="885825" y="2750343"/>
            <a:ext cx="285750" cy="228601"/>
          </a:xfrm>
          <a:prstGeom prst="rect">
            <a:avLst/>
          </a:prstGeom>
          <a:ln w="12700">
            <a:miter lim="400000"/>
          </a:ln>
        </p:spPr>
      </p:pic>
      <p:sp>
        <p:nvSpPr>
          <p:cNvPr id="81" name="Google Shape;89;p6"/>
          <p:cNvSpPr txBox="1"/>
          <p:nvPr/>
        </p:nvSpPr>
        <p:spPr>
          <a:xfrm>
            <a:off x="1350169" y="2784276"/>
            <a:ext cx="26361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E0E0E0"/>
                </a:solidFill>
                <a:latin typeface="Orbitron Regular Regular"/>
                <a:ea typeface="Orbitron Regular Regular"/>
                <a:cs typeface="Orbitron Regular Regular"/>
                <a:sym typeface="Orbitron Regular Regular"/>
              </a:defRPr>
            </a:lvl1pPr>
          </a:lstStyle>
          <a:p>
            <a:pPr/>
            <a:r>
              <a:t>REDIS IN-MEMORY STATE CACHE</a:t>
            </a:r>
          </a:p>
        </p:txBody>
      </p:sp>
      <p:sp>
        <p:nvSpPr>
          <p:cNvPr id="82" name="Google Shape;90;p6"/>
          <p:cNvSpPr/>
          <p:nvPr/>
        </p:nvSpPr>
        <p:spPr>
          <a:xfrm>
            <a:off x="4643437" y="2336006"/>
            <a:ext cx="3757501" cy="91440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83" name="Google Shape;91;p6" descr="Google Shape;91;p6"/>
          <p:cNvPicPr>
            <a:picLocks noChangeAspect="1"/>
          </p:cNvPicPr>
          <p:nvPr/>
        </p:nvPicPr>
        <p:blipFill>
          <a:blip r:embed="rId6">
            <a:extLst/>
          </a:blip>
          <a:stretch>
            <a:fillRect/>
          </a:stretch>
        </p:blipFill>
        <p:spPr>
          <a:xfrm>
            <a:off x="4786312" y="2750343"/>
            <a:ext cx="282849" cy="228601"/>
          </a:xfrm>
          <a:prstGeom prst="rect">
            <a:avLst/>
          </a:prstGeom>
          <a:ln w="12700">
            <a:miter lim="400000"/>
          </a:ln>
        </p:spPr>
      </p:pic>
      <p:sp>
        <p:nvSpPr>
          <p:cNvPr id="84" name="Google Shape;92;p6"/>
          <p:cNvSpPr txBox="1"/>
          <p:nvPr/>
        </p:nvSpPr>
        <p:spPr>
          <a:xfrm>
            <a:off x="5247754" y="2703908"/>
            <a:ext cx="30105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E0E0E0"/>
                </a:solidFill>
                <a:latin typeface="Orbitron Regular Regular"/>
                <a:ea typeface="Orbitron Regular Regular"/>
                <a:cs typeface="Orbitron Regular Regular"/>
                <a:sym typeface="Orbitron Regular Regular"/>
              </a:defRPr>
            </a:lvl1pPr>
          </a:lstStyle>
          <a:p>
            <a:pPr/>
            <a:r>
              <a:t>REAL-TIME WEBSOCKET DASHBOARD</a:t>
            </a:r>
          </a:p>
        </p:txBody>
      </p:sp>
      <p:sp>
        <p:nvSpPr>
          <p:cNvPr id="85" name="Google Shape;93;p6"/>
          <p:cNvSpPr/>
          <p:nvPr/>
        </p:nvSpPr>
        <p:spPr>
          <a:xfrm>
            <a:off x="742949" y="3393280"/>
            <a:ext cx="3757502" cy="914401"/>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86" name="Google Shape;94;p6"/>
          <p:cNvSpPr txBox="1"/>
          <p:nvPr/>
        </p:nvSpPr>
        <p:spPr>
          <a:xfrm>
            <a:off x="1350168" y="3841551"/>
            <a:ext cx="26682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E0E0E0"/>
                </a:solidFill>
                <a:latin typeface="Orbitron Regular Regular"/>
                <a:ea typeface="Orbitron Regular Regular"/>
                <a:cs typeface="Orbitron Regular Regular"/>
                <a:sym typeface="Orbitron Regular Regular"/>
              </a:defRPr>
            </a:lvl1pPr>
          </a:lstStyle>
          <a:p>
            <a:pPr/>
            <a:r>
              <a:t>DOCKER COMPOSE DEPLOYMENT</a:t>
            </a:r>
          </a:p>
        </p:txBody>
      </p:sp>
      <p:sp>
        <p:nvSpPr>
          <p:cNvPr id="87" name="Google Shape;95;p6"/>
          <p:cNvSpPr/>
          <p:nvPr/>
        </p:nvSpPr>
        <p:spPr>
          <a:xfrm>
            <a:off x="4643437" y="3393280"/>
            <a:ext cx="3757501" cy="91440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88" name="Google Shape;96;p6" descr="Google Shape;96;p6"/>
          <p:cNvPicPr>
            <a:picLocks noChangeAspect="1"/>
          </p:cNvPicPr>
          <p:nvPr/>
        </p:nvPicPr>
        <p:blipFill>
          <a:blip r:embed="rId7">
            <a:extLst/>
          </a:blip>
          <a:stretch>
            <a:fillRect/>
          </a:stretch>
        </p:blipFill>
        <p:spPr>
          <a:xfrm>
            <a:off x="4786312" y="3807619"/>
            <a:ext cx="285751" cy="228601"/>
          </a:xfrm>
          <a:prstGeom prst="rect">
            <a:avLst/>
          </a:prstGeom>
          <a:ln w="12700">
            <a:miter lim="400000"/>
          </a:ln>
        </p:spPr>
      </p:pic>
      <p:sp>
        <p:nvSpPr>
          <p:cNvPr id="89" name="Google Shape;97;p6"/>
          <p:cNvSpPr txBox="1"/>
          <p:nvPr/>
        </p:nvSpPr>
        <p:spPr>
          <a:xfrm>
            <a:off x="5250655" y="3841551"/>
            <a:ext cx="24306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E0E0E0"/>
                </a:solidFill>
                <a:latin typeface="Orbitron Regular Regular"/>
                <a:ea typeface="Orbitron Regular Regular"/>
                <a:cs typeface="Orbitron Regular Regular"/>
                <a:sym typeface="Orbitron Regular Regular"/>
              </a:defRPr>
            </a:lvl1pPr>
          </a:lstStyle>
          <a:p>
            <a:pPr/>
            <a:r>
              <a:t>REACTIVE RULE EVALUATION</a:t>
            </a:r>
          </a:p>
        </p:txBody>
      </p:sp>
      <p:pic>
        <p:nvPicPr>
          <p:cNvPr id="90" name="Google Shape;98;p6" descr="Google Shape;98;p6"/>
          <p:cNvPicPr>
            <a:picLocks noChangeAspect="1"/>
          </p:cNvPicPr>
          <p:nvPr/>
        </p:nvPicPr>
        <p:blipFill>
          <a:blip r:embed="rId8">
            <a:extLst/>
          </a:blip>
          <a:stretch>
            <a:fillRect/>
          </a:stretch>
        </p:blipFill>
        <p:spPr>
          <a:xfrm>
            <a:off x="887284" y="3807616"/>
            <a:ext cx="282826" cy="22626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2" name="Google Shape;77;p6" descr="Google Shape;77;p6"/>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93" name="Google Shape;78;p6"/>
          <p:cNvSpPr txBox="1"/>
          <p:nvPr/>
        </p:nvSpPr>
        <p:spPr>
          <a:xfrm>
            <a:off x="6856214" y="285750"/>
            <a:ext cx="2002036"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ARCHITECTURE // V1.0</a:t>
            </a:r>
          </a:p>
        </p:txBody>
      </p:sp>
      <p:sp>
        <p:nvSpPr>
          <p:cNvPr id="94" name="Google Shape;79;p6"/>
          <p:cNvSpPr/>
          <p:nvPr/>
        </p:nvSpPr>
        <p:spPr>
          <a:xfrm>
            <a:off x="457200" y="607219"/>
            <a:ext cx="8229600" cy="392906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95" name="Google Shape;80;p6"/>
          <p:cNvSpPr txBox="1"/>
          <p:nvPr/>
        </p:nvSpPr>
        <p:spPr>
          <a:xfrm>
            <a:off x="742950" y="89296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SYSTEM ARCHITECTURE</a:t>
            </a:r>
          </a:p>
        </p:txBody>
      </p:sp>
      <p:pic>
        <p:nvPicPr>
          <p:cNvPr id="96" name="architecture1.png" descr="architecture1.png"/>
          <p:cNvPicPr>
            <a:picLocks noChangeAspect="1"/>
          </p:cNvPicPr>
          <p:nvPr/>
        </p:nvPicPr>
        <p:blipFill>
          <a:blip r:embed="rId3">
            <a:extLst/>
          </a:blip>
          <a:srcRect l="0" t="0" r="0" b="0"/>
          <a:stretch>
            <a:fillRect/>
          </a:stretch>
        </p:blipFill>
        <p:spPr>
          <a:xfrm>
            <a:off x="2096882" y="1231241"/>
            <a:ext cx="4950236" cy="325187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8" name="Google Shape;104;p7" descr="Google Shape;104;p7"/>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99" name="Google Shape;105;p7"/>
          <p:cNvSpPr txBox="1"/>
          <p:nvPr/>
        </p:nvSpPr>
        <p:spPr>
          <a:xfrm>
            <a:off x="6393655" y="214313"/>
            <a:ext cx="24645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CONVERTER // ARCHITECTURE</a:t>
            </a:r>
          </a:p>
        </p:txBody>
      </p:sp>
      <p:sp>
        <p:nvSpPr>
          <p:cNvPr id="100" name="Google Shape;106;p7"/>
          <p:cNvSpPr/>
          <p:nvPr/>
        </p:nvSpPr>
        <p:spPr>
          <a:xfrm>
            <a:off x="457200" y="428625"/>
            <a:ext cx="8229600" cy="428625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101" name="Google Shape;107;p7"/>
          <p:cNvSpPr txBox="1"/>
          <p:nvPr/>
        </p:nvSpPr>
        <p:spPr>
          <a:xfrm>
            <a:off x="742950" y="79944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INTERNAL ARCHITECTURE</a:t>
            </a:r>
          </a:p>
        </p:txBody>
      </p:sp>
      <p:sp>
        <p:nvSpPr>
          <p:cNvPr id="102" name="Google Shape;108;p7"/>
          <p:cNvSpPr/>
          <p:nvPr/>
        </p:nvSpPr>
        <p:spPr>
          <a:xfrm>
            <a:off x="742949" y="1293019"/>
            <a:ext cx="3739755" cy="12287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103" name="Google Shape;109;p7" descr="Google Shape;109;p7"/>
          <p:cNvPicPr>
            <a:picLocks noChangeAspect="1"/>
          </p:cNvPicPr>
          <p:nvPr/>
        </p:nvPicPr>
        <p:blipFill>
          <a:blip r:embed="rId4">
            <a:extLst/>
          </a:blip>
          <a:stretch>
            <a:fillRect/>
          </a:stretch>
        </p:blipFill>
        <p:spPr>
          <a:xfrm>
            <a:off x="885825" y="1435894"/>
            <a:ext cx="214314" cy="171451"/>
          </a:xfrm>
          <a:prstGeom prst="rect">
            <a:avLst/>
          </a:prstGeom>
          <a:ln w="12700">
            <a:miter lim="400000"/>
          </a:ln>
        </p:spPr>
      </p:pic>
      <p:sp>
        <p:nvSpPr>
          <p:cNvPr id="104" name="Google Shape;110;p7"/>
          <p:cNvSpPr txBox="1"/>
          <p:nvPr/>
        </p:nvSpPr>
        <p:spPr>
          <a:xfrm>
            <a:off x="1207294" y="1441252"/>
            <a:ext cx="10590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FF4500"/>
                </a:solidFill>
                <a:latin typeface="Orbitron Regular Regular"/>
                <a:ea typeface="Orbitron Regular Regular"/>
                <a:cs typeface="Orbitron Regular Regular"/>
                <a:sym typeface="Orbitron Regular Regular"/>
              </a:defRPr>
            </a:lvl1pPr>
          </a:lstStyle>
          <a:p>
            <a:pPr/>
            <a:r>
              <a:t>REST POLLER</a:t>
            </a:r>
          </a:p>
        </p:txBody>
      </p:sp>
      <p:sp>
        <p:nvSpPr>
          <p:cNvPr id="105" name="Google Shape;111;p7"/>
          <p:cNvSpPr txBox="1"/>
          <p:nvPr/>
        </p:nvSpPr>
        <p:spPr>
          <a:xfrm>
            <a:off x="885824" y="1678781"/>
            <a:ext cx="3454005" cy="2709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Polls 8 REST sensors every 5 seconds via httpx. Handles greenhouse_temperature, hydroponic_ph, co2_hall, air_quality, water_tank_level and more.</a:t>
            </a:r>
          </a:p>
        </p:txBody>
      </p:sp>
      <p:sp>
        <p:nvSpPr>
          <p:cNvPr id="106" name="Google Shape;112;p7"/>
          <p:cNvSpPr/>
          <p:nvPr/>
        </p:nvSpPr>
        <p:spPr>
          <a:xfrm>
            <a:off x="4661296" y="1293019"/>
            <a:ext cx="3739754" cy="12287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107" name="Google Shape;113;p7" descr="Google Shape;113;p7"/>
          <p:cNvPicPr>
            <a:picLocks noChangeAspect="1"/>
          </p:cNvPicPr>
          <p:nvPr/>
        </p:nvPicPr>
        <p:blipFill>
          <a:blip r:embed="rId5">
            <a:extLst/>
          </a:blip>
          <a:stretch>
            <a:fillRect/>
          </a:stretch>
        </p:blipFill>
        <p:spPr>
          <a:xfrm>
            <a:off x="4804171" y="1435894"/>
            <a:ext cx="214314" cy="171451"/>
          </a:xfrm>
          <a:prstGeom prst="rect">
            <a:avLst/>
          </a:prstGeom>
          <a:ln w="12700">
            <a:miter lim="400000"/>
          </a:ln>
        </p:spPr>
      </p:pic>
      <p:sp>
        <p:nvSpPr>
          <p:cNvPr id="108" name="Google Shape;114;p7"/>
          <p:cNvSpPr txBox="1"/>
          <p:nvPr/>
        </p:nvSpPr>
        <p:spPr>
          <a:xfrm>
            <a:off x="5125640" y="1441252"/>
            <a:ext cx="97333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FF4500"/>
                </a:solidFill>
                <a:latin typeface="Orbitron Regular Regular"/>
                <a:ea typeface="Orbitron Regular Regular"/>
                <a:cs typeface="Orbitron Regular Regular"/>
                <a:sym typeface="Orbitron Regular Regular"/>
              </a:defRPr>
            </a:lvl1pPr>
          </a:lstStyle>
          <a:p>
            <a:pPr/>
            <a:r>
              <a:t>WEBSOCKET</a:t>
            </a:r>
          </a:p>
        </p:txBody>
      </p:sp>
      <p:sp>
        <p:nvSpPr>
          <p:cNvPr id="109" name="Google Shape;115;p7"/>
          <p:cNvSpPr txBox="1"/>
          <p:nvPr/>
        </p:nvSpPr>
        <p:spPr>
          <a:xfrm>
            <a:off x="4804171" y="1678781"/>
            <a:ext cx="3454004" cy="2709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Subscribes to real-time telemetry streams (e.g., power, environment, thermal, airlock) with auto-reconnect on disconnect.</a:t>
            </a:r>
          </a:p>
        </p:txBody>
      </p:sp>
      <p:sp>
        <p:nvSpPr>
          <p:cNvPr id="110" name="Google Shape;116;p7"/>
          <p:cNvSpPr/>
          <p:nvPr/>
        </p:nvSpPr>
        <p:spPr>
          <a:xfrm>
            <a:off x="742949" y="2700338"/>
            <a:ext cx="3739755" cy="12287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111" name="Google Shape;117;p7" descr="Google Shape;117;p7"/>
          <p:cNvPicPr>
            <a:picLocks noChangeAspect="1"/>
          </p:cNvPicPr>
          <p:nvPr/>
        </p:nvPicPr>
        <p:blipFill>
          <a:blip r:embed="rId6">
            <a:extLst/>
          </a:blip>
          <a:stretch>
            <a:fillRect/>
          </a:stretch>
        </p:blipFill>
        <p:spPr>
          <a:xfrm>
            <a:off x="885825" y="2843213"/>
            <a:ext cx="214314" cy="171451"/>
          </a:xfrm>
          <a:prstGeom prst="rect">
            <a:avLst/>
          </a:prstGeom>
          <a:ln w="12700">
            <a:miter lim="400000"/>
          </a:ln>
        </p:spPr>
      </p:pic>
      <p:sp>
        <p:nvSpPr>
          <p:cNvPr id="112" name="Google Shape;118;p7"/>
          <p:cNvSpPr txBox="1"/>
          <p:nvPr/>
        </p:nvSpPr>
        <p:spPr>
          <a:xfrm>
            <a:off x="1207294" y="2848569"/>
            <a:ext cx="177165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FF4500"/>
                </a:solidFill>
                <a:latin typeface="Orbitron Regular Regular"/>
                <a:ea typeface="Orbitron Regular Regular"/>
                <a:cs typeface="Orbitron Regular Regular"/>
                <a:sym typeface="Orbitron Regular Regular"/>
              </a:defRPr>
            </a:lvl1pPr>
          </a:lstStyle>
          <a:p>
            <a:pPr/>
            <a:r>
              <a:t>NORMALIZER REGISTRY</a:t>
            </a:r>
          </a:p>
        </p:txBody>
      </p:sp>
      <p:sp>
        <p:nvSpPr>
          <p:cNvPr id="113" name="Google Shape;119;p7"/>
          <p:cNvSpPr txBox="1"/>
          <p:nvPr/>
        </p:nvSpPr>
        <p:spPr>
          <a:xfrm>
            <a:off x="885824" y="3086099"/>
            <a:ext cx="3454005" cy="2709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Schema-driven registry: SENSOR_ID_NORMALIZERS for REST, SCHEMA_NORMALIZERS for SSE/actuators. Decouples source formats from unified schema.</a:t>
            </a:r>
          </a:p>
        </p:txBody>
      </p:sp>
      <p:sp>
        <p:nvSpPr>
          <p:cNvPr id="114" name="Google Shape;120;p7"/>
          <p:cNvSpPr/>
          <p:nvPr/>
        </p:nvSpPr>
        <p:spPr>
          <a:xfrm>
            <a:off x="4661296" y="2700338"/>
            <a:ext cx="3739754" cy="12287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115" name="Google Shape;121;p7" descr="Google Shape;121;p7"/>
          <p:cNvPicPr>
            <a:picLocks noChangeAspect="1"/>
          </p:cNvPicPr>
          <p:nvPr/>
        </p:nvPicPr>
        <p:blipFill>
          <a:blip r:embed="rId7">
            <a:extLst/>
          </a:blip>
          <a:stretch>
            <a:fillRect/>
          </a:stretch>
        </p:blipFill>
        <p:spPr>
          <a:xfrm>
            <a:off x="4804171" y="2843213"/>
            <a:ext cx="214314" cy="171451"/>
          </a:xfrm>
          <a:prstGeom prst="rect">
            <a:avLst/>
          </a:prstGeom>
          <a:ln w="12700">
            <a:miter lim="400000"/>
          </a:ln>
        </p:spPr>
      </p:pic>
      <p:sp>
        <p:nvSpPr>
          <p:cNvPr id="116" name="Google Shape;122;p7"/>
          <p:cNvSpPr txBox="1"/>
          <p:nvPr/>
        </p:nvSpPr>
        <p:spPr>
          <a:xfrm>
            <a:off x="5125641" y="2848569"/>
            <a:ext cx="15519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FF4500"/>
                </a:solidFill>
                <a:latin typeface="Orbitron Regular Regular"/>
                <a:ea typeface="Orbitron Regular Regular"/>
                <a:cs typeface="Orbitron Regular Regular"/>
                <a:sym typeface="Orbitron Regular Regular"/>
              </a:defRPr>
            </a:lvl1pPr>
          </a:lstStyle>
          <a:p>
            <a:pPr/>
            <a:r>
              <a:t>COMMAND LISTENER</a:t>
            </a:r>
          </a:p>
        </p:txBody>
      </p:sp>
      <p:sp>
        <p:nvSpPr>
          <p:cNvPr id="117" name="Google Shape;123;p7"/>
          <p:cNvSpPr txBox="1"/>
          <p:nvPr/>
        </p:nvSpPr>
        <p:spPr>
          <a:xfrm>
            <a:off x="4804171" y="3086099"/>
            <a:ext cx="3454004" cy="2709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AMQP receiver on actuator.commands in a dedicated daemon thread. Bridges asyncio loop and AMQP via run_coroutine_threadsafe.</a:t>
            </a:r>
          </a:p>
        </p:txBody>
      </p:sp>
      <p:sp>
        <p:nvSpPr>
          <p:cNvPr id="118" name="Google Shape;124;p7"/>
          <p:cNvSpPr/>
          <p:nvPr/>
        </p:nvSpPr>
        <p:spPr>
          <a:xfrm>
            <a:off x="742950" y="4143375"/>
            <a:ext cx="7658100" cy="571500"/>
          </a:xfrm>
          <a:prstGeom prst="rect">
            <a:avLst/>
          </a:prstGeom>
          <a:solidFill>
            <a:srgbClr val="FF4500">
              <a:alpha val="5098"/>
            </a:srgbClr>
          </a:solidFill>
          <a:ln>
            <a:solidFill>
              <a:srgbClr val="FF4500">
                <a:alpha val="20000"/>
              </a:srgbClr>
            </a:solidFill>
          </a:ln>
        </p:spPr>
        <p:txBody>
          <a:bodyPr lIns="0" tIns="0" rIns="0" bIns="0" anchor="ctr"/>
          <a:lstStyle/>
          <a:p>
            <a:pPr/>
          </a:p>
        </p:txBody>
      </p:sp>
      <p:sp>
        <p:nvSpPr>
          <p:cNvPr id="119" name="Google Shape;125;p7"/>
          <p:cNvSpPr txBox="1"/>
          <p:nvPr/>
        </p:nvSpPr>
        <p:spPr>
          <a:xfrm>
            <a:off x="885825" y="4286250"/>
            <a:ext cx="737235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1894"/>
              </a:lnSpc>
              <a:defRPr sz="800">
                <a:solidFill>
                  <a:srgbClr val="FF4500"/>
                </a:solidFill>
                <a:latin typeface="Orbitron Regular Regular"/>
                <a:ea typeface="Orbitron Regular Regular"/>
                <a:cs typeface="Orbitron Regular Regular"/>
                <a:sym typeface="Orbitron Regular Regular"/>
              </a:defRPr>
            </a:lvl1pPr>
          </a:lstStyle>
          <a:p>
            <a:pPr/>
            <a:r>
              <a:t>STATELESS DESIGN — NO DATABASE, NO PERSISTENT STORAGE. ALL STATE LIVES IN THE BROKER.</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3" name="Google Shape;131;p8" descr="Google Shape;131;p8"/>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124" name="Google Shape;132;p8"/>
          <p:cNvSpPr txBox="1"/>
          <p:nvPr/>
        </p:nvSpPr>
        <p:spPr>
          <a:xfrm>
            <a:off x="6829425" y="285749"/>
            <a:ext cx="20288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PURPOSE // REL_3.3.2</a:t>
            </a:r>
          </a:p>
        </p:txBody>
      </p:sp>
      <p:sp>
        <p:nvSpPr>
          <p:cNvPr id="125" name="Google Shape;133;p8"/>
          <p:cNvSpPr/>
          <p:nvPr/>
        </p:nvSpPr>
        <p:spPr>
          <a:xfrm>
            <a:off x="457200" y="607219"/>
            <a:ext cx="8229600" cy="392906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126" name="Google Shape;134;p8"/>
          <p:cNvSpPr txBox="1"/>
          <p:nvPr/>
        </p:nvSpPr>
        <p:spPr>
          <a:xfrm>
            <a:off x="742950" y="978044"/>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PURPOSE &amp; CORE FUNCTIONALITY</a:t>
            </a:r>
          </a:p>
        </p:txBody>
      </p:sp>
      <p:sp>
        <p:nvSpPr>
          <p:cNvPr id="127" name="Google Shape;135;p8"/>
          <p:cNvSpPr/>
          <p:nvPr/>
        </p:nvSpPr>
        <p:spPr>
          <a:xfrm>
            <a:off x="742949" y="1471612"/>
            <a:ext cx="3739755" cy="97869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128" name="Google Shape;136;p8" descr="Google Shape;136;p8"/>
          <p:cNvPicPr>
            <a:picLocks noChangeAspect="1"/>
          </p:cNvPicPr>
          <p:nvPr/>
        </p:nvPicPr>
        <p:blipFill>
          <a:blip r:embed="rId4">
            <a:extLst/>
          </a:blip>
          <a:stretch>
            <a:fillRect/>
          </a:stretch>
        </p:blipFill>
        <p:spPr>
          <a:xfrm>
            <a:off x="885825" y="1614487"/>
            <a:ext cx="250032" cy="235745"/>
          </a:xfrm>
          <a:prstGeom prst="rect">
            <a:avLst/>
          </a:prstGeom>
          <a:ln w="12700">
            <a:miter lim="400000"/>
          </a:ln>
        </p:spPr>
      </p:pic>
      <p:sp>
        <p:nvSpPr>
          <p:cNvPr id="129" name="Google Shape;137;p8"/>
          <p:cNvSpPr txBox="1"/>
          <p:nvPr/>
        </p:nvSpPr>
        <p:spPr>
          <a:xfrm>
            <a:off x="1278730" y="1614487"/>
            <a:ext cx="218063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E0E0E0"/>
                </a:solidFill>
                <a:latin typeface="Orbitron Regular Regular"/>
                <a:ea typeface="Orbitron Regular Regular"/>
                <a:cs typeface="Orbitron Regular Regular"/>
                <a:sym typeface="Orbitron Regular Regular"/>
              </a:defRPr>
            </a:lvl1pPr>
          </a:lstStyle>
          <a:p>
            <a:pPr/>
            <a:r>
              <a:t>AUTOMATED CONTROL LOOP</a:t>
            </a:r>
          </a:p>
        </p:txBody>
      </p:sp>
      <p:sp>
        <p:nvSpPr>
          <p:cNvPr id="130" name="Google Shape;138;p8"/>
          <p:cNvSpPr txBox="1"/>
          <p:nvPr/>
        </p:nvSpPr>
        <p:spPr>
          <a:xfrm>
            <a:off x="1278730" y="1816298"/>
            <a:ext cx="218063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Implements the habitat's automated control loop.</a:t>
            </a:r>
          </a:p>
        </p:txBody>
      </p:sp>
      <p:sp>
        <p:nvSpPr>
          <p:cNvPr id="131" name="Google Shape;139;p8"/>
          <p:cNvSpPr/>
          <p:nvPr/>
        </p:nvSpPr>
        <p:spPr>
          <a:xfrm>
            <a:off x="4661296" y="1471612"/>
            <a:ext cx="3739754" cy="97869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132" name="Google Shape;140;p8" descr="Google Shape;140;p8"/>
          <p:cNvPicPr>
            <a:picLocks noChangeAspect="1"/>
          </p:cNvPicPr>
          <p:nvPr/>
        </p:nvPicPr>
        <p:blipFill>
          <a:blip r:embed="rId5">
            <a:extLst/>
          </a:blip>
          <a:stretch>
            <a:fillRect/>
          </a:stretch>
        </p:blipFill>
        <p:spPr>
          <a:xfrm>
            <a:off x="4804171" y="1614487"/>
            <a:ext cx="250032" cy="235745"/>
          </a:xfrm>
          <a:prstGeom prst="rect">
            <a:avLst/>
          </a:prstGeom>
          <a:ln w="12700">
            <a:miter lim="400000"/>
          </a:ln>
        </p:spPr>
      </p:pic>
      <p:sp>
        <p:nvSpPr>
          <p:cNvPr id="133" name="Google Shape;141;p8"/>
          <p:cNvSpPr txBox="1"/>
          <p:nvPr/>
        </p:nvSpPr>
        <p:spPr>
          <a:xfrm>
            <a:off x="5197078" y="1614487"/>
            <a:ext cx="22538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E0E0E0"/>
                </a:solidFill>
                <a:latin typeface="Orbitron Regular Regular"/>
                <a:ea typeface="Orbitron Regular Regular"/>
                <a:cs typeface="Orbitron Regular Regular"/>
                <a:sym typeface="Orbitron Regular Regular"/>
              </a:defRPr>
            </a:lvl1pPr>
          </a:lstStyle>
          <a:p>
            <a:pPr/>
            <a:r>
              <a:t>RULE EVALUATION</a:t>
            </a:r>
          </a:p>
        </p:txBody>
      </p:sp>
      <p:sp>
        <p:nvSpPr>
          <p:cNvPr id="134" name="Google Shape;142;p8"/>
          <p:cNvSpPr txBox="1"/>
          <p:nvPr/>
        </p:nvSpPr>
        <p:spPr>
          <a:xfrm>
            <a:off x="5197078" y="1816298"/>
            <a:ext cx="22538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Evaluates telemetry against operator-defined rules.</a:t>
            </a:r>
          </a:p>
        </p:txBody>
      </p:sp>
      <p:sp>
        <p:nvSpPr>
          <p:cNvPr id="135" name="Google Shape;143;p8"/>
          <p:cNvSpPr/>
          <p:nvPr/>
        </p:nvSpPr>
        <p:spPr>
          <a:xfrm>
            <a:off x="742949" y="2628899"/>
            <a:ext cx="3739755" cy="97869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136" name="Google Shape;144;p8" descr="Google Shape;144;p8"/>
          <p:cNvPicPr>
            <a:picLocks noChangeAspect="1"/>
          </p:cNvPicPr>
          <p:nvPr/>
        </p:nvPicPr>
        <p:blipFill>
          <a:blip r:embed="rId6">
            <a:extLst/>
          </a:blip>
          <a:stretch>
            <a:fillRect/>
          </a:stretch>
        </p:blipFill>
        <p:spPr>
          <a:xfrm>
            <a:off x="885825" y="2771775"/>
            <a:ext cx="250032" cy="235744"/>
          </a:xfrm>
          <a:prstGeom prst="rect">
            <a:avLst/>
          </a:prstGeom>
          <a:ln w="12700">
            <a:miter lim="400000"/>
          </a:ln>
        </p:spPr>
      </p:pic>
      <p:sp>
        <p:nvSpPr>
          <p:cNvPr id="137" name="Google Shape;145;p8"/>
          <p:cNvSpPr txBox="1"/>
          <p:nvPr/>
        </p:nvSpPr>
        <p:spPr>
          <a:xfrm>
            <a:off x="1278730" y="2771775"/>
            <a:ext cx="29110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E0E0E0"/>
                </a:solidFill>
                <a:latin typeface="Orbitron Regular Regular"/>
                <a:ea typeface="Orbitron Regular Regular"/>
                <a:cs typeface="Orbitron Regular Regular"/>
                <a:sym typeface="Orbitron Regular Regular"/>
              </a:defRPr>
            </a:lvl1pPr>
          </a:lstStyle>
          <a:p>
            <a:pPr/>
            <a:r>
              <a:t>TELEMETRY PROCESSING</a:t>
            </a:r>
          </a:p>
        </p:txBody>
      </p:sp>
      <p:sp>
        <p:nvSpPr>
          <p:cNvPr id="138" name="Google Shape;146;p8"/>
          <p:cNvSpPr txBox="1"/>
          <p:nvPr/>
        </p:nvSpPr>
        <p:spPr>
          <a:xfrm>
            <a:off x="1278730" y="2973585"/>
            <a:ext cx="29110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Continuously receives sensor telemetry from the message broker.</a:t>
            </a:r>
          </a:p>
        </p:txBody>
      </p:sp>
      <p:sp>
        <p:nvSpPr>
          <p:cNvPr id="139" name="Google Shape;147;p8"/>
          <p:cNvSpPr/>
          <p:nvPr/>
        </p:nvSpPr>
        <p:spPr>
          <a:xfrm>
            <a:off x="4661296" y="2628899"/>
            <a:ext cx="3739754" cy="97869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140" name="Google Shape;148;p8" descr="Google Shape;148;p8"/>
          <p:cNvPicPr>
            <a:picLocks noChangeAspect="1"/>
          </p:cNvPicPr>
          <p:nvPr/>
        </p:nvPicPr>
        <p:blipFill>
          <a:blip r:embed="rId7">
            <a:extLst/>
          </a:blip>
          <a:stretch>
            <a:fillRect/>
          </a:stretch>
        </p:blipFill>
        <p:spPr>
          <a:xfrm>
            <a:off x="4804171" y="2771775"/>
            <a:ext cx="250032" cy="235744"/>
          </a:xfrm>
          <a:prstGeom prst="rect">
            <a:avLst/>
          </a:prstGeom>
          <a:ln w="12700">
            <a:miter lim="400000"/>
          </a:ln>
        </p:spPr>
      </p:pic>
      <p:sp>
        <p:nvSpPr>
          <p:cNvPr id="141" name="Google Shape;149;p8"/>
          <p:cNvSpPr txBox="1"/>
          <p:nvPr/>
        </p:nvSpPr>
        <p:spPr>
          <a:xfrm>
            <a:off x="5197078" y="2771775"/>
            <a:ext cx="271462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E0E0E0"/>
                </a:solidFill>
                <a:latin typeface="Orbitron Regular Regular"/>
                <a:ea typeface="Orbitron Regular Regular"/>
                <a:cs typeface="Orbitron Regular Regular"/>
                <a:sym typeface="Orbitron Regular Regular"/>
              </a:defRPr>
            </a:lvl1pPr>
          </a:lstStyle>
          <a:p>
            <a:pPr/>
            <a:r>
              <a:t>ACTUATOR COMMANDS</a:t>
            </a:r>
          </a:p>
        </p:txBody>
      </p:sp>
      <p:sp>
        <p:nvSpPr>
          <p:cNvPr id="142" name="Google Shape;150;p8"/>
          <p:cNvSpPr txBox="1"/>
          <p:nvPr/>
        </p:nvSpPr>
        <p:spPr>
          <a:xfrm>
            <a:off x="5197078" y="2973585"/>
            <a:ext cx="271462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Emits commands for actuators when rule conditions are met.</a:t>
            </a:r>
          </a:p>
        </p:txBody>
      </p:sp>
      <p:sp>
        <p:nvSpPr>
          <p:cNvPr id="143" name="Google Shape;151;p8"/>
          <p:cNvSpPr/>
          <p:nvPr/>
        </p:nvSpPr>
        <p:spPr>
          <a:xfrm>
            <a:off x="742950" y="3745705"/>
            <a:ext cx="7658100" cy="714301"/>
          </a:xfrm>
          <a:prstGeom prst="rect">
            <a:avLst/>
          </a:prstGeom>
          <a:solidFill>
            <a:srgbClr val="FF4500">
              <a:alpha val="5098"/>
            </a:srgbClr>
          </a:solidFill>
          <a:ln>
            <a:solidFill>
              <a:srgbClr val="FF4500">
                <a:alpha val="20000"/>
              </a:srgbClr>
            </a:solidFill>
          </a:ln>
        </p:spPr>
        <p:txBody>
          <a:bodyPr lIns="0" tIns="0" rIns="0" bIns="0" anchor="ctr"/>
          <a:lstStyle/>
          <a:p>
            <a:pPr/>
          </a:p>
        </p:txBody>
      </p:sp>
      <p:sp>
        <p:nvSpPr>
          <p:cNvPr id="144" name="Google Shape;152;p8"/>
          <p:cNvSpPr txBox="1"/>
          <p:nvPr/>
        </p:nvSpPr>
        <p:spPr>
          <a:xfrm>
            <a:off x="885824" y="3888580"/>
            <a:ext cx="73725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OPERATIONAL EXAMPLE</a:t>
            </a:r>
          </a:p>
        </p:txBody>
      </p:sp>
      <p:sp>
        <p:nvSpPr>
          <p:cNvPr id="145" name="Google Shape;153;p8"/>
          <p:cNvSpPr txBox="1"/>
          <p:nvPr/>
        </p:nvSpPr>
        <p:spPr>
          <a:xfrm>
            <a:off x="885824" y="4086819"/>
            <a:ext cx="7372502" cy="2709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If the temperature in a greenhouse group exceeds a configured threshold, a command is produced to switch the cooling fan ON. The process is automatic and requires no manual intervention.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9" name="Google Shape;159;p9" descr="Google Shape;159;p9"/>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150" name="Google Shape;160;p9"/>
          <p:cNvSpPr txBox="1"/>
          <p:nvPr/>
        </p:nvSpPr>
        <p:spPr>
          <a:xfrm>
            <a:off x="6470451" y="285749"/>
            <a:ext cx="238779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CONVERTER-SERVICE // V1.0</a:t>
            </a:r>
          </a:p>
        </p:txBody>
      </p:sp>
      <p:sp>
        <p:nvSpPr>
          <p:cNvPr id="151" name="Google Shape;161;p9"/>
          <p:cNvSpPr/>
          <p:nvPr/>
        </p:nvSpPr>
        <p:spPr>
          <a:xfrm>
            <a:off x="457200" y="607219"/>
            <a:ext cx="8229600" cy="392906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152" name="Google Shape;162;p9"/>
          <p:cNvSpPr txBox="1"/>
          <p:nvPr/>
        </p:nvSpPr>
        <p:spPr>
          <a:xfrm>
            <a:off x="814387" y="964405"/>
            <a:ext cx="751522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CONVERTER SERVICE</a:t>
            </a:r>
          </a:p>
        </p:txBody>
      </p:sp>
      <p:pic>
        <p:nvPicPr>
          <p:cNvPr id="153" name="Google Shape;163;p9" descr="Google Shape;163;p9"/>
          <p:cNvPicPr>
            <a:picLocks noChangeAspect="1"/>
          </p:cNvPicPr>
          <p:nvPr/>
        </p:nvPicPr>
        <p:blipFill>
          <a:blip r:embed="rId3">
            <a:extLst/>
          </a:blip>
          <a:stretch>
            <a:fillRect/>
          </a:stretch>
        </p:blipFill>
        <p:spPr>
          <a:xfrm>
            <a:off x="814387" y="1612702"/>
            <a:ext cx="128589" cy="128589"/>
          </a:xfrm>
          <a:prstGeom prst="rect">
            <a:avLst/>
          </a:prstGeom>
          <a:ln w="12700">
            <a:miter lim="400000"/>
          </a:ln>
        </p:spPr>
      </p:pic>
      <p:sp>
        <p:nvSpPr>
          <p:cNvPr id="154" name="Google Shape;164;p9"/>
          <p:cNvSpPr txBox="1"/>
          <p:nvPr/>
        </p:nvSpPr>
        <p:spPr>
          <a:xfrm>
            <a:off x="1014412" y="1605558"/>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The converter-service is the data ingestion and conversion layer of the MarsOps platform. It acts as a bridge between</a:t>
            </a:r>
          </a:p>
        </p:txBody>
      </p:sp>
      <p:sp>
        <p:nvSpPr>
          <p:cNvPr id="155" name="Google Shape;165;p9"/>
          <p:cNvSpPr txBox="1"/>
          <p:nvPr/>
        </p:nvSpPr>
        <p:spPr>
          <a:xfrm>
            <a:off x="814399" y="1811274"/>
            <a:ext cx="7515302"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lnSpc>
                <a:spcPct val="140000"/>
              </a:lnSpc>
              <a:defRPr sz="900">
                <a:solidFill>
                  <a:srgbClr val="E0E0E0"/>
                </a:solidFill>
                <a:latin typeface="Roboto Regular Regular"/>
                <a:ea typeface="Roboto Regular Regular"/>
                <a:cs typeface="Roboto Regular Regular"/>
                <a:sym typeface="Roboto Regular Regular"/>
              </a:defRPr>
            </a:pPr>
            <a:r>
              <a:t>heterogeneous IoT sources, which have different event formats and communicate in different forms (such as SSE and polling),</a:t>
            </a:r>
            <a:br/>
            <a:r>
              <a:t>and the event queues that the other microservices attach to, ensuring that all other components operate on homogeneous and</a:t>
            </a:r>
            <a:br/>
            <a:r>
              <a:t>similarly structured data.</a:t>
            </a:r>
          </a:p>
        </p:txBody>
      </p:sp>
      <p:pic>
        <p:nvPicPr>
          <p:cNvPr id="156" name="Google Shape;166;p9" descr="Google Shape;166;p9"/>
          <p:cNvPicPr>
            <a:picLocks noChangeAspect="1"/>
          </p:cNvPicPr>
          <p:nvPr/>
        </p:nvPicPr>
        <p:blipFill>
          <a:blip r:embed="rId4">
            <a:extLst/>
          </a:blip>
          <a:stretch>
            <a:fillRect/>
          </a:stretch>
        </p:blipFill>
        <p:spPr>
          <a:xfrm>
            <a:off x="814387" y="2637047"/>
            <a:ext cx="128589" cy="128589"/>
          </a:xfrm>
          <a:prstGeom prst="rect">
            <a:avLst/>
          </a:prstGeom>
          <a:ln w="12700">
            <a:miter lim="400000"/>
          </a:ln>
        </p:spPr>
      </p:pic>
      <p:sp>
        <p:nvSpPr>
          <p:cNvPr id="157" name="Google Shape;167;p9"/>
          <p:cNvSpPr txBox="1"/>
          <p:nvPr/>
        </p:nvSpPr>
        <p:spPr>
          <a:xfrm>
            <a:off x="1014412" y="2629904"/>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By normalizing the way to receive data from sensors, it deduplicates the other complexity while removing it from all the</a:t>
            </a:r>
          </a:p>
        </p:txBody>
      </p:sp>
      <p:sp>
        <p:nvSpPr>
          <p:cNvPr id="158" name="Google Shape;168;p9"/>
          <p:cNvSpPr txBox="1"/>
          <p:nvPr/>
        </p:nvSpPr>
        <p:spPr>
          <a:xfrm>
            <a:off x="814400" y="2835624"/>
            <a:ext cx="6744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other microservices, ensuring that they can treat every source as basically identical as long as it provides the same “type” of metric (for example temperature, pressure or air particle concentration).</a:t>
            </a:r>
          </a:p>
        </p:txBody>
      </p:sp>
      <p:sp>
        <p:nvSpPr>
          <p:cNvPr id="159" name="Google Shape;169;p9"/>
          <p:cNvSpPr/>
          <p:nvPr/>
        </p:nvSpPr>
        <p:spPr>
          <a:xfrm>
            <a:off x="814387" y="3812380"/>
            <a:ext cx="7515302" cy="571501"/>
          </a:xfrm>
          <a:prstGeom prst="rect">
            <a:avLst/>
          </a:prstGeom>
          <a:solidFill>
            <a:srgbClr val="FF4500">
              <a:alpha val="5098"/>
            </a:srgbClr>
          </a:solidFill>
          <a:ln>
            <a:solidFill>
              <a:srgbClr val="FF4500">
                <a:alpha val="20000"/>
              </a:srgbClr>
            </a:solidFill>
          </a:ln>
        </p:spPr>
        <p:txBody>
          <a:bodyPr lIns="0" tIns="0" rIns="0" bIns="0" anchor="ctr"/>
          <a:lstStyle/>
          <a:p>
            <a:pPr/>
          </a:p>
        </p:txBody>
      </p:sp>
      <p:sp>
        <p:nvSpPr>
          <p:cNvPr id="160" name="Google Shape;170;p9"/>
          <p:cNvSpPr txBox="1"/>
          <p:nvPr/>
        </p:nvSpPr>
        <p:spPr>
          <a:xfrm>
            <a:off x="957263" y="4021037"/>
            <a:ext cx="17055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FF4500"/>
                </a:solidFill>
                <a:latin typeface="Orbitron Regular Regular"/>
                <a:ea typeface="Orbitron Regular Regular"/>
                <a:cs typeface="Orbitron Regular Regular"/>
                <a:sym typeface="Orbitron Regular Regular"/>
              </a:defRPr>
            </a:lvl1pPr>
          </a:lstStyle>
          <a:p>
            <a:pPr/>
            <a:r>
              <a:t>TARGET USER STORIES</a:t>
            </a:r>
          </a:p>
        </p:txBody>
      </p:sp>
      <p:sp>
        <p:nvSpPr>
          <p:cNvPr id="161" name="Google Shape;171;p9"/>
          <p:cNvSpPr txBox="1"/>
          <p:nvPr/>
        </p:nvSpPr>
        <p:spPr>
          <a:xfrm>
            <a:off x="2805707" y="4004071"/>
            <a:ext cx="136800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333"/>
              </a:lnSpc>
              <a:defRPr sz="1000">
                <a:solidFill>
                  <a:srgbClr val="00FFFF"/>
                </a:solidFill>
                <a:latin typeface="Orbitron Regular Regular"/>
                <a:ea typeface="Orbitron Regular Regular"/>
                <a:cs typeface="Orbitron Regular Regular"/>
                <a:sym typeface="Orbitron Regular Regular"/>
              </a:defRPr>
            </a:lvl1pPr>
          </a:lstStyle>
          <a:p>
            <a:pPr/>
            <a:r>
              <a:t>1, 2, 3, 4, 5, 20</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3" name="Google Shape;177;p10" descr="Google Shape;177;p10"/>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164" name="Google Shape;178;p10"/>
          <p:cNvSpPr txBox="1"/>
          <p:nvPr/>
        </p:nvSpPr>
        <p:spPr>
          <a:xfrm>
            <a:off x="6759772" y="285749"/>
            <a:ext cx="209847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CONVERTER // PIPELINE</a:t>
            </a:r>
          </a:p>
        </p:txBody>
      </p:sp>
      <p:sp>
        <p:nvSpPr>
          <p:cNvPr id="165" name="Google Shape;179;p10"/>
          <p:cNvSpPr/>
          <p:nvPr/>
        </p:nvSpPr>
        <p:spPr>
          <a:xfrm>
            <a:off x="457200" y="607219"/>
            <a:ext cx="8229600" cy="392906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166" name="Google Shape;180;p10"/>
          <p:cNvSpPr txBox="1"/>
          <p:nvPr/>
        </p:nvSpPr>
        <p:spPr>
          <a:xfrm>
            <a:off x="742950" y="89296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NORMALIZATION PIPELINE</a:t>
            </a:r>
          </a:p>
        </p:txBody>
      </p:sp>
      <p:sp>
        <p:nvSpPr>
          <p:cNvPr id="167" name="Google Shape;181;p10"/>
          <p:cNvSpPr/>
          <p:nvPr/>
        </p:nvSpPr>
        <p:spPr>
          <a:xfrm>
            <a:off x="742950" y="1435894"/>
            <a:ext cx="3757613" cy="1121570"/>
          </a:xfrm>
          <a:prstGeom prst="rect">
            <a:avLst/>
          </a:prstGeom>
          <a:solidFill>
            <a:srgbClr val="00FFFF">
              <a:alpha val="5098"/>
            </a:srgbClr>
          </a:solidFill>
          <a:ln w="12700">
            <a:miter lim="400000"/>
          </a:ln>
        </p:spPr>
        <p:txBody>
          <a:bodyPr lIns="0" tIns="0" rIns="0" bIns="0" anchor="ctr"/>
          <a:lstStyle/>
          <a:p>
            <a:pPr/>
          </a:p>
        </p:txBody>
      </p:sp>
      <p:sp>
        <p:nvSpPr>
          <p:cNvPr id="168" name="Google Shape;182;p10"/>
          <p:cNvSpPr/>
          <p:nvPr/>
        </p:nvSpPr>
        <p:spPr>
          <a:xfrm>
            <a:off x="742949" y="1435894"/>
            <a:ext cx="21433" cy="1121570"/>
          </a:xfrm>
          <a:prstGeom prst="rect">
            <a:avLst/>
          </a:prstGeom>
          <a:solidFill>
            <a:srgbClr val="00FFFF"/>
          </a:solidFill>
          <a:ln w="12700">
            <a:miter lim="400000"/>
          </a:ln>
        </p:spPr>
        <p:txBody>
          <a:bodyPr lIns="0" tIns="0" rIns="0" bIns="0" anchor="ctr"/>
          <a:lstStyle/>
          <a:p>
            <a:pPr/>
          </a:p>
        </p:txBody>
      </p:sp>
      <p:pic>
        <p:nvPicPr>
          <p:cNvPr id="169" name="Google Shape;183;p10" descr="Google Shape;183;p10"/>
          <p:cNvPicPr>
            <a:picLocks noChangeAspect="1"/>
          </p:cNvPicPr>
          <p:nvPr/>
        </p:nvPicPr>
        <p:blipFill>
          <a:blip r:embed="rId4">
            <a:extLst/>
          </a:blip>
          <a:stretch>
            <a:fillRect/>
          </a:stretch>
        </p:blipFill>
        <p:spPr>
          <a:xfrm>
            <a:off x="850105" y="1543942"/>
            <a:ext cx="178595" cy="142876"/>
          </a:xfrm>
          <a:prstGeom prst="rect">
            <a:avLst/>
          </a:prstGeom>
          <a:ln w="12700">
            <a:miter lim="400000"/>
          </a:ln>
        </p:spPr>
      </p:pic>
      <p:sp>
        <p:nvSpPr>
          <p:cNvPr id="170" name="Google Shape;184;p10"/>
          <p:cNvSpPr txBox="1"/>
          <p:nvPr/>
        </p:nvSpPr>
        <p:spPr>
          <a:xfrm>
            <a:off x="1114425" y="1543050"/>
            <a:ext cx="19448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E0E0E0"/>
                </a:solidFill>
                <a:latin typeface="Orbitron Regular Regular"/>
                <a:ea typeface="Orbitron Regular Regular"/>
                <a:cs typeface="Orbitron Regular Regular"/>
                <a:sym typeface="Orbitron Regular Regular"/>
              </a:defRPr>
            </a:lvl1pPr>
          </a:lstStyle>
          <a:p>
            <a:pPr/>
            <a:r>
              <a:t>REST SENSORS (8 SOURCES)</a:t>
            </a:r>
          </a:p>
        </p:txBody>
      </p:sp>
      <p:sp>
        <p:nvSpPr>
          <p:cNvPr id="171" name="Google Shape;185;p10"/>
          <p:cNvSpPr txBox="1"/>
          <p:nvPr/>
        </p:nvSpPr>
        <p:spPr>
          <a:xfrm>
            <a:off x="850105" y="1759148"/>
            <a:ext cx="74116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Poll every 5s via</a:t>
            </a:r>
          </a:p>
        </p:txBody>
      </p:sp>
      <p:sp>
        <p:nvSpPr>
          <p:cNvPr id="172" name="Google Shape;186;p10"/>
          <p:cNvSpPr/>
          <p:nvPr/>
        </p:nvSpPr>
        <p:spPr>
          <a:xfrm>
            <a:off x="1591270" y="1739502"/>
            <a:ext cx="357189" cy="150020"/>
          </a:xfrm>
          <a:prstGeom prst="rect">
            <a:avLst/>
          </a:prstGeom>
          <a:solidFill>
            <a:srgbClr val="000000">
              <a:alpha val="30196"/>
            </a:srgbClr>
          </a:solidFill>
          <a:ln w="12700">
            <a:miter lim="400000"/>
          </a:ln>
        </p:spPr>
        <p:txBody>
          <a:bodyPr lIns="0" tIns="0" rIns="0" bIns="0" anchor="ctr"/>
          <a:lstStyle/>
          <a:p>
            <a:pPr/>
          </a:p>
        </p:txBody>
      </p:sp>
      <p:sp>
        <p:nvSpPr>
          <p:cNvPr id="173" name="Google Shape;187;p10"/>
          <p:cNvSpPr txBox="1"/>
          <p:nvPr/>
        </p:nvSpPr>
        <p:spPr>
          <a:xfrm>
            <a:off x="1616795" y="1739502"/>
            <a:ext cx="306139"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httpx</a:t>
            </a:r>
          </a:p>
        </p:txBody>
      </p:sp>
      <p:sp>
        <p:nvSpPr>
          <p:cNvPr id="174" name="Google Shape;188;p10"/>
          <p:cNvSpPr txBox="1"/>
          <p:nvPr/>
        </p:nvSpPr>
        <p:spPr>
          <a:xfrm>
            <a:off x="1948458" y="1759148"/>
            <a:ext cx="15537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--&gt;</a:t>
            </a:r>
          </a:p>
        </p:txBody>
      </p:sp>
      <p:sp>
        <p:nvSpPr>
          <p:cNvPr id="175" name="Google Shape;189;p10"/>
          <p:cNvSpPr/>
          <p:nvPr/>
        </p:nvSpPr>
        <p:spPr>
          <a:xfrm>
            <a:off x="2103834" y="1739502"/>
            <a:ext cx="1317324" cy="150020"/>
          </a:xfrm>
          <a:prstGeom prst="rect">
            <a:avLst/>
          </a:prstGeom>
          <a:solidFill>
            <a:srgbClr val="000000">
              <a:alpha val="30196"/>
            </a:srgbClr>
          </a:solidFill>
          <a:ln w="12700">
            <a:miter lim="400000"/>
          </a:ln>
        </p:spPr>
        <p:txBody>
          <a:bodyPr lIns="0" tIns="0" rIns="0" bIns="0" anchor="ctr"/>
          <a:lstStyle/>
          <a:p>
            <a:pPr/>
          </a:p>
        </p:txBody>
      </p:sp>
      <p:sp>
        <p:nvSpPr>
          <p:cNvPr id="176" name="Google Shape;190;p10"/>
          <p:cNvSpPr txBox="1"/>
          <p:nvPr/>
        </p:nvSpPr>
        <p:spPr>
          <a:xfrm>
            <a:off x="2129359" y="1739502"/>
            <a:ext cx="1266274"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SENSOR_ID_NORMALIZERS</a:t>
            </a:r>
          </a:p>
        </p:txBody>
      </p:sp>
      <p:sp>
        <p:nvSpPr>
          <p:cNvPr id="177" name="Google Shape;191;p10"/>
          <p:cNvSpPr txBox="1"/>
          <p:nvPr/>
        </p:nvSpPr>
        <p:spPr>
          <a:xfrm>
            <a:off x="3421159" y="1759148"/>
            <a:ext cx="15537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--&gt;</a:t>
            </a:r>
          </a:p>
        </p:txBody>
      </p:sp>
      <p:sp>
        <p:nvSpPr>
          <p:cNvPr id="178" name="Google Shape;192;p10"/>
          <p:cNvSpPr/>
          <p:nvPr/>
        </p:nvSpPr>
        <p:spPr>
          <a:xfrm>
            <a:off x="3576535" y="1739502"/>
            <a:ext cx="777247" cy="150020"/>
          </a:xfrm>
          <a:prstGeom prst="rect">
            <a:avLst/>
          </a:prstGeom>
          <a:solidFill>
            <a:srgbClr val="000000">
              <a:alpha val="30196"/>
            </a:srgbClr>
          </a:solidFill>
          <a:ln w="12700">
            <a:miter lim="400000"/>
          </a:ln>
        </p:spPr>
        <p:txBody>
          <a:bodyPr lIns="0" tIns="0" rIns="0" bIns="0" anchor="ctr"/>
          <a:lstStyle/>
          <a:p>
            <a:pPr/>
          </a:p>
        </p:txBody>
      </p:sp>
      <p:sp>
        <p:nvSpPr>
          <p:cNvPr id="179" name="Google Shape;193;p10"/>
          <p:cNvSpPr txBox="1"/>
          <p:nvPr/>
        </p:nvSpPr>
        <p:spPr>
          <a:xfrm>
            <a:off x="3602060" y="1739502"/>
            <a:ext cx="726197"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UnifiedEvent</a:t>
            </a:r>
          </a:p>
        </p:txBody>
      </p:sp>
      <p:sp>
        <p:nvSpPr>
          <p:cNvPr id="180" name="Google Shape;194;p10"/>
          <p:cNvSpPr txBox="1"/>
          <p:nvPr/>
        </p:nvSpPr>
        <p:spPr>
          <a:xfrm>
            <a:off x="850105" y="1902721"/>
            <a:ext cx="13037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--&gt;</a:t>
            </a:r>
          </a:p>
        </p:txBody>
      </p:sp>
      <p:sp>
        <p:nvSpPr>
          <p:cNvPr id="181" name="Google Shape;195;p10"/>
          <p:cNvSpPr/>
          <p:nvPr/>
        </p:nvSpPr>
        <p:spPr>
          <a:xfrm>
            <a:off x="980479" y="1883075"/>
            <a:ext cx="837271" cy="150020"/>
          </a:xfrm>
          <a:prstGeom prst="rect">
            <a:avLst/>
          </a:prstGeom>
          <a:solidFill>
            <a:srgbClr val="000000">
              <a:alpha val="30196"/>
            </a:srgbClr>
          </a:solidFill>
          <a:ln w="12700">
            <a:miter lim="400000"/>
          </a:ln>
        </p:spPr>
        <p:txBody>
          <a:bodyPr lIns="0" tIns="0" rIns="0" bIns="0" anchor="ctr"/>
          <a:lstStyle/>
          <a:p>
            <a:pPr/>
          </a:p>
        </p:txBody>
      </p:sp>
      <p:sp>
        <p:nvSpPr>
          <p:cNvPr id="182" name="Google Shape;196;p10"/>
          <p:cNvSpPr txBox="1"/>
          <p:nvPr/>
        </p:nvSpPr>
        <p:spPr>
          <a:xfrm>
            <a:off x="1006004" y="1883075"/>
            <a:ext cx="786221"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sensor.events</a:t>
            </a:r>
          </a:p>
        </p:txBody>
      </p:sp>
      <p:sp>
        <p:nvSpPr>
          <p:cNvPr id="183" name="Google Shape;197;p10"/>
          <p:cNvSpPr txBox="1"/>
          <p:nvPr/>
        </p:nvSpPr>
        <p:spPr>
          <a:xfrm>
            <a:off x="1817750" y="1902721"/>
            <a:ext cx="5089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(multicast)</a:t>
            </a:r>
          </a:p>
        </p:txBody>
      </p:sp>
      <p:sp>
        <p:nvSpPr>
          <p:cNvPr id="184" name="Google Shape;198;p10"/>
          <p:cNvSpPr/>
          <p:nvPr/>
        </p:nvSpPr>
        <p:spPr>
          <a:xfrm>
            <a:off x="4643437" y="1435894"/>
            <a:ext cx="3757614" cy="1121570"/>
          </a:xfrm>
          <a:prstGeom prst="rect">
            <a:avLst/>
          </a:prstGeom>
          <a:solidFill>
            <a:srgbClr val="00FFFF">
              <a:alpha val="5098"/>
            </a:srgbClr>
          </a:solidFill>
          <a:ln w="12700">
            <a:miter lim="400000"/>
          </a:ln>
        </p:spPr>
        <p:txBody>
          <a:bodyPr lIns="0" tIns="0" rIns="0" bIns="0" anchor="ctr"/>
          <a:lstStyle/>
          <a:p>
            <a:pPr/>
          </a:p>
        </p:txBody>
      </p:sp>
      <p:sp>
        <p:nvSpPr>
          <p:cNvPr id="185" name="Google Shape;199;p10"/>
          <p:cNvSpPr/>
          <p:nvPr/>
        </p:nvSpPr>
        <p:spPr>
          <a:xfrm>
            <a:off x="4643437" y="1435894"/>
            <a:ext cx="21432" cy="1121570"/>
          </a:xfrm>
          <a:prstGeom prst="rect">
            <a:avLst/>
          </a:prstGeom>
          <a:solidFill>
            <a:srgbClr val="00FFFF"/>
          </a:solidFill>
          <a:ln w="12700">
            <a:miter lim="400000"/>
          </a:ln>
        </p:spPr>
        <p:txBody>
          <a:bodyPr lIns="0" tIns="0" rIns="0" bIns="0" anchor="ctr"/>
          <a:lstStyle/>
          <a:p>
            <a:pPr/>
          </a:p>
        </p:txBody>
      </p:sp>
      <p:pic>
        <p:nvPicPr>
          <p:cNvPr id="186" name="Google Shape;200;p10" descr="Google Shape;200;p10"/>
          <p:cNvPicPr>
            <a:picLocks noChangeAspect="1"/>
          </p:cNvPicPr>
          <p:nvPr/>
        </p:nvPicPr>
        <p:blipFill>
          <a:blip r:embed="rId5">
            <a:extLst/>
          </a:blip>
          <a:stretch>
            <a:fillRect/>
          </a:stretch>
        </p:blipFill>
        <p:spPr>
          <a:xfrm>
            <a:off x="4750594" y="1543942"/>
            <a:ext cx="178595" cy="142876"/>
          </a:xfrm>
          <a:prstGeom prst="rect">
            <a:avLst/>
          </a:prstGeom>
          <a:ln w="12700">
            <a:miter lim="400000"/>
          </a:ln>
        </p:spPr>
      </p:pic>
      <p:sp>
        <p:nvSpPr>
          <p:cNvPr id="187" name="Google Shape;201;p10"/>
          <p:cNvSpPr txBox="1"/>
          <p:nvPr/>
        </p:nvSpPr>
        <p:spPr>
          <a:xfrm>
            <a:off x="5014912" y="1543050"/>
            <a:ext cx="212883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E0E0E0"/>
                </a:solidFill>
                <a:latin typeface="Orbitron Regular Regular"/>
                <a:ea typeface="Orbitron Regular Regular"/>
                <a:cs typeface="Orbitron Regular Regular"/>
                <a:sym typeface="Orbitron Regular Regular"/>
              </a:defRPr>
            </a:lvl1pPr>
          </a:lstStyle>
          <a:p>
            <a:pPr/>
            <a:r>
              <a:t>TELEMETRY TOPICS (4 GROUPS)</a:t>
            </a:r>
          </a:p>
        </p:txBody>
      </p:sp>
      <p:sp>
        <p:nvSpPr>
          <p:cNvPr id="188" name="Google Shape;202;p10"/>
          <p:cNvSpPr txBox="1"/>
          <p:nvPr/>
        </p:nvSpPr>
        <p:spPr>
          <a:xfrm>
            <a:off x="4750594" y="1759148"/>
            <a:ext cx="1569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SSE stream with auto-reconnect --&gt;</a:t>
            </a:r>
          </a:p>
        </p:txBody>
      </p:sp>
      <p:sp>
        <p:nvSpPr>
          <p:cNvPr id="189" name="Google Shape;203;p10"/>
          <p:cNvSpPr/>
          <p:nvPr/>
        </p:nvSpPr>
        <p:spPr>
          <a:xfrm>
            <a:off x="6320432" y="1739502"/>
            <a:ext cx="1137308" cy="150020"/>
          </a:xfrm>
          <a:prstGeom prst="rect">
            <a:avLst/>
          </a:prstGeom>
          <a:solidFill>
            <a:srgbClr val="000000">
              <a:alpha val="30196"/>
            </a:srgbClr>
          </a:solidFill>
          <a:ln w="12700">
            <a:miter lim="400000"/>
          </a:ln>
        </p:spPr>
        <p:txBody>
          <a:bodyPr lIns="0" tIns="0" rIns="0" bIns="0" anchor="ctr"/>
          <a:lstStyle/>
          <a:p>
            <a:pPr/>
          </a:p>
        </p:txBody>
      </p:sp>
      <p:sp>
        <p:nvSpPr>
          <p:cNvPr id="190" name="Google Shape;204;p10"/>
          <p:cNvSpPr txBox="1"/>
          <p:nvPr/>
        </p:nvSpPr>
        <p:spPr>
          <a:xfrm>
            <a:off x="6345957" y="1739502"/>
            <a:ext cx="1086258" cy="236012"/>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SCHEMA_NORMALIZERS</a:t>
            </a:r>
          </a:p>
        </p:txBody>
      </p:sp>
      <p:sp>
        <p:nvSpPr>
          <p:cNvPr id="191" name="Google Shape;205;p10"/>
          <p:cNvSpPr txBox="1"/>
          <p:nvPr/>
        </p:nvSpPr>
        <p:spPr>
          <a:xfrm>
            <a:off x="7457740" y="1759148"/>
            <a:ext cx="13037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--&gt;</a:t>
            </a:r>
          </a:p>
        </p:txBody>
      </p:sp>
      <p:sp>
        <p:nvSpPr>
          <p:cNvPr id="192" name="Google Shape;206;p10"/>
          <p:cNvSpPr/>
          <p:nvPr/>
        </p:nvSpPr>
        <p:spPr>
          <a:xfrm>
            <a:off x="4750594" y="1883075"/>
            <a:ext cx="777247" cy="150020"/>
          </a:xfrm>
          <a:prstGeom prst="rect">
            <a:avLst/>
          </a:prstGeom>
          <a:solidFill>
            <a:srgbClr val="000000">
              <a:alpha val="30196"/>
            </a:srgbClr>
          </a:solidFill>
          <a:ln w="12700">
            <a:miter lim="400000"/>
          </a:ln>
        </p:spPr>
        <p:txBody>
          <a:bodyPr lIns="0" tIns="0" rIns="0" bIns="0" anchor="ctr"/>
          <a:lstStyle/>
          <a:p>
            <a:pPr/>
          </a:p>
        </p:txBody>
      </p:sp>
      <p:sp>
        <p:nvSpPr>
          <p:cNvPr id="193" name="Google Shape;207;p10"/>
          <p:cNvSpPr txBox="1"/>
          <p:nvPr/>
        </p:nvSpPr>
        <p:spPr>
          <a:xfrm>
            <a:off x="4776119" y="1883075"/>
            <a:ext cx="726197"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UnifiedEvent</a:t>
            </a:r>
          </a:p>
        </p:txBody>
      </p:sp>
      <p:sp>
        <p:nvSpPr>
          <p:cNvPr id="194" name="Google Shape;208;p10"/>
          <p:cNvSpPr txBox="1"/>
          <p:nvPr/>
        </p:nvSpPr>
        <p:spPr>
          <a:xfrm>
            <a:off x="5527838" y="1902721"/>
            <a:ext cx="15537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--&gt;</a:t>
            </a:r>
          </a:p>
        </p:txBody>
      </p:sp>
      <p:sp>
        <p:nvSpPr>
          <p:cNvPr id="195" name="Google Shape;209;p10"/>
          <p:cNvSpPr/>
          <p:nvPr/>
        </p:nvSpPr>
        <p:spPr>
          <a:xfrm>
            <a:off x="5683215" y="1883075"/>
            <a:ext cx="837271" cy="150020"/>
          </a:xfrm>
          <a:prstGeom prst="rect">
            <a:avLst/>
          </a:prstGeom>
          <a:solidFill>
            <a:srgbClr val="000000">
              <a:alpha val="30196"/>
            </a:srgbClr>
          </a:solidFill>
          <a:ln w="12700">
            <a:miter lim="400000"/>
          </a:ln>
        </p:spPr>
        <p:txBody>
          <a:bodyPr lIns="0" tIns="0" rIns="0" bIns="0" anchor="ctr"/>
          <a:lstStyle/>
          <a:p>
            <a:pPr/>
          </a:p>
        </p:txBody>
      </p:sp>
      <p:sp>
        <p:nvSpPr>
          <p:cNvPr id="196" name="Google Shape;210;p10"/>
          <p:cNvSpPr txBox="1"/>
          <p:nvPr/>
        </p:nvSpPr>
        <p:spPr>
          <a:xfrm>
            <a:off x="5708740" y="1883075"/>
            <a:ext cx="786221"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sensor.events</a:t>
            </a:r>
          </a:p>
        </p:txBody>
      </p:sp>
      <p:sp>
        <p:nvSpPr>
          <p:cNvPr id="197" name="Google Shape;211;p10"/>
          <p:cNvSpPr txBox="1"/>
          <p:nvPr/>
        </p:nvSpPr>
        <p:spPr>
          <a:xfrm>
            <a:off x="6520485" y="1902721"/>
            <a:ext cx="5089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(multicast)</a:t>
            </a:r>
          </a:p>
        </p:txBody>
      </p:sp>
      <p:sp>
        <p:nvSpPr>
          <p:cNvPr id="198" name="Google Shape;212;p10"/>
          <p:cNvSpPr/>
          <p:nvPr/>
        </p:nvSpPr>
        <p:spPr>
          <a:xfrm>
            <a:off x="742950" y="2700338"/>
            <a:ext cx="3757613" cy="1121570"/>
          </a:xfrm>
          <a:prstGeom prst="rect">
            <a:avLst/>
          </a:prstGeom>
          <a:solidFill>
            <a:srgbClr val="00FFFF">
              <a:alpha val="5098"/>
            </a:srgbClr>
          </a:solidFill>
          <a:ln w="12700">
            <a:miter lim="400000"/>
          </a:ln>
        </p:spPr>
        <p:txBody>
          <a:bodyPr lIns="0" tIns="0" rIns="0" bIns="0" anchor="ctr"/>
          <a:lstStyle/>
          <a:p>
            <a:pPr/>
          </a:p>
        </p:txBody>
      </p:sp>
      <p:sp>
        <p:nvSpPr>
          <p:cNvPr id="199" name="Google Shape;213;p10"/>
          <p:cNvSpPr/>
          <p:nvPr/>
        </p:nvSpPr>
        <p:spPr>
          <a:xfrm>
            <a:off x="742949" y="2700338"/>
            <a:ext cx="21433" cy="1121570"/>
          </a:xfrm>
          <a:prstGeom prst="rect">
            <a:avLst/>
          </a:prstGeom>
          <a:solidFill>
            <a:srgbClr val="00FFFF"/>
          </a:solidFill>
          <a:ln w="12700">
            <a:miter lim="400000"/>
          </a:ln>
        </p:spPr>
        <p:txBody>
          <a:bodyPr lIns="0" tIns="0" rIns="0" bIns="0" anchor="ctr"/>
          <a:lstStyle/>
          <a:p>
            <a:pPr/>
          </a:p>
        </p:txBody>
      </p:sp>
      <p:pic>
        <p:nvPicPr>
          <p:cNvPr id="200" name="Google Shape;214;p10" descr="Google Shape;214;p10"/>
          <p:cNvPicPr>
            <a:picLocks noChangeAspect="1"/>
          </p:cNvPicPr>
          <p:nvPr/>
        </p:nvPicPr>
        <p:blipFill>
          <a:blip r:embed="rId6">
            <a:extLst/>
          </a:blip>
          <a:stretch>
            <a:fillRect/>
          </a:stretch>
        </p:blipFill>
        <p:spPr>
          <a:xfrm>
            <a:off x="850105" y="2808386"/>
            <a:ext cx="178595" cy="142876"/>
          </a:xfrm>
          <a:prstGeom prst="rect">
            <a:avLst/>
          </a:prstGeom>
          <a:ln w="12700">
            <a:miter lim="400000"/>
          </a:ln>
        </p:spPr>
      </p:pic>
      <p:sp>
        <p:nvSpPr>
          <p:cNvPr id="201" name="Google Shape;215;p10"/>
          <p:cNvSpPr txBox="1"/>
          <p:nvPr/>
        </p:nvSpPr>
        <p:spPr>
          <a:xfrm>
            <a:off x="1114425" y="2807493"/>
            <a:ext cx="2057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E0E0E0"/>
                </a:solidFill>
                <a:latin typeface="Orbitron Regular Regular"/>
                <a:ea typeface="Orbitron Regular Regular"/>
                <a:cs typeface="Orbitron Regular Regular"/>
                <a:sym typeface="Orbitron Regular Regular"/>
              </a:defRPr>
            </a:lvl1pPr>
          </a:lstStyle>
          <a:p>
            <a:pPr/>
            <a:r>
              <a:t>ACTUATOR BOOT + COMMANDS</a:t>
            </a:r>
          </a:p>
        </p:txBody>
      </p:sp>
      <p:sp>
        <p:nvSpPr>
          <p:cNvPr id="202" name="Google Shape;216;p10"/>
          <p:cNvSpPr txBox="1"/>
          <p:nvPr/>
        </p:nvSpPr>
        <p:spPr>
          <a:xfrm>
            <a:off x="850105" y="3023591"/>
            <a:ext cx="140374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Fetch REST on startup + AMQP</a:t>
            </a:r>
          </a:p>
        </p:txBody>
      </p:sp>
      <p:sp>
        <p:nvSpPr>
          <p:cNvPr id="203" name="Google Shape;217;p10"/>
          <p:cNvSpPr/>
          <p:nvPr/>
        </p:nvSpPr>
        <p:spPr>
          <a:xfrm>
            <a:off x="2253852" y="3003947"/>
            <a:ext cx="1077284" cy="150020"/>
          </a:xfrm>
          <a:prstGeom prst="rect">
            <a:avLst/>
          </a:prstGeom>
          <a:solidFill>
            <a:srgbClr val="000000">
              <a:alpha val="30196"/>
            </a:srgbClr>
          </a:solidFill>
          <a:ln w="12700">
            <a:miter lim="400000"/>
          </a:ln>
        </p:spPr>
        <p:txBody>
          <a:bodyPr lIns="0" tIns="0" rIns="0" bIns="0" anchor="ctr"/>
          <a:lstStyle/>
          <a:p>
            <a:pPr/>
          </a:p>
        </p:txBody>
      </p:sp>
      <p:sp>
        <p:nvSpPr>
          <p:cNvPr id="204" name="Google Shape;218;p10"/>
          <p:cNvSpPr txBox="1"/>
          <p:nvPr/>
        </p:nvSpPr>
        <p:spPr>
          <a:xfrm>
            <a:off x="2279377" y="3003947"/>
            <a:ext cx="1026234"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actuator.commands</a:t>
            </a:r>
          </a:p>
        </p:txBody>
      </p:sp>
      <p:sp>
        <p:nvSpPr>
          <p:cNvPr id="205" name="Google Shape;219;p10"/>
          <p:cNvSpPr txBox="1"/>
          <p:nvPr/>
        </p:nvSpPr>
        <p:spPr>
          <a:xfrm>
            <a:off x="3331135" y="3023591"/>
            <a:ext cx="15537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--&gt;</a:t>
            </a:r>
          </a:p>
        </p:txBody>
      </p:sp>
      <p:sp>
        <p:nvSpPr>
          <p:cNvPr id="206" name="Google Shape;220;p10"/>
          <p:cNvSpPr/>
          <p:nvPr/>
        </p:nvSpPr>
        <p:spPr>
          <a:xfrm>
            <a:off x="3486513" y="3003947"/>
            <a:ext cx="837271" cy="150020"/>
          </a:xfrm>
          <a:prstGeom prst="rect">
            <a:avLst/>
          </a:prstGeom>
          <a:solidFill>
            <a:srgbClr val="000000">
              <a:alpha val="30196"/>
            </a:srgbClr>
          </a:solidFill>
          <a:ln w="12700">
            <a:miter lim="400000"/>
          </a:ln>
        </p:spPr>
        <p:txBody>
          <a:bodyPr lIns="0" tIns="0" rIns="0" bIns="0" anchor="ctr"/>
          <a:lstStyle/>
          <a:p>
            <a:pPr/>
          </a:p>
        </p:txBody>
      </p:sp>
      <p:sp>
        <p:nvSpPr>
          <p:cNvPr id="207" name="Google Shape;221;p10"/>
          <p:cNvSpPr txBox="1"/>
          <p:nvPr/>
        </p:nvSpPr>
        <p:spPr>
          <a:xfrm>
            <a:off x="3512038" y="3003947"/>
            <a:ext cx="786221"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ActuatorEvent</a:t>
            </a:r>
          </a:p>
        </p:txBody>
      </p:sp>
      <p:sp>
        <p:nvSpPr>
          <p:cNvPr id="208" name="Google Shape;222;p10"/>
          <p:cNvSpPr txBox="1"/>
          <p:nvPr/>
        </p:nvSpPr>
        <p:spPr>
          <a:xfrm>
            <a:off x="850106" y="3023591"/>
            <a:ext cx="35254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--&gt;</a:t>
            </a:r>
          </a:p>
        </p:txBody>
      </p:sp>
      <p:sp>
        <p:nvSpPr>
          <p:cNvPr id="209" name="Google Shape;223;p10"/>
          <p:cNvSpPr/>
          <p:nvPr/>
        </p:nvSpPr>
        <p:spPr>
          <a:xfrm>
            <a:off x="953691" y="3147520"/>
            <a:ext cx="957264" cy="150020"/>
          </a:xfrm>
          <a:prstGeom prst="rect">
            <a:avLst/>
          </a:prstGeom>
          <a:solidFill>
            <a:srgbClr val="000000">
              <a:alpha val="30196"/>
            </a:srgbClr>
          </a:solidFill>
          <a:ln w="12700">
            <a:miter lim="400000"/>
          </a:ln>
        </p:spPr>
        <p:txBody>
          <a:bodyPr lIns="0" tIns="0" rIns="0" bIns="0" anchor="ctr"/>
          <a:lstStyle/>
          <a:p>
            <a:pPr/>
          </a:p>
        </p:txBody>
      </p:sp>
      <p:sp>
        <p:nvSpPr>
          <p:cNvPr id="210" name="Google Shape;224;p10"/>
          <p:cNvSpPr txBox="1"/>
          <p:nvPr/>
        </p:nvSpPr>
        <p:spPr>
          <a:xfrm>
            <a:off x="979216" y="3147520"/>
            <a:ext cx="906214"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actuator.states</a:t>
            </a:r>
          </a:p>
        </p:txBody>
      </p:sp>
      <p:sp>
        <p:nvSpPr>
          <p:cNvPr id="211" name="Google Shape;225;p10"/>
          <p:cNvSpPr txBox="1"/>
          <p:nvPr/>
        </p:nvSpPr>
        <p:spPr>
          <a:xfrm>
            <a:off x="1910952" y="3167165"/>
            <a:ext cx="44112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(anycast)</a:t>
            </a:r>
          </a:p>
        </p:txBody>
      </p:sp>
      <p:sp>
        <p:nvSpPr>
          <p:cNvPr id="212" name="Google Shape;226;p10"/>
          <p:cNvSpPr/>
          <p:nvPr/>
        </p:nvSpPr>
        <p:spPr>
          <a:xfrm>
            <a:off x="4643437" y="2700338"/>
            <a:ext cx="3757614" cy="1121570"/>
          </a:xfrm>
          <a:prstGeom prst="rect">
            <a:avLst/>
          </a:prstGeom>
          <a:solidFill>
            <a:srgbClr val="00FFFF">
              <a:alpha val="5098"/>
            </a:srgbClr>
          </a:solidFill>
          <a:ln w="12700">
            <a:miter lim="400000"/>
          </a:ln>
        </p:spPr>
        <p:txBody>
          <a:bodyPr lIns="0" tIns="0" rIns="0" bIns="0" anchor="ctr"/>
          <a:lstStyle/>
          <a:p>
            <a:pPr/>
          </a:p>
        </p:txBody>
      </p:sp>
      <p:sp>
        <p:nvSpPr>
          <p:cNvPr id="213" name="Google Shape;227;p10"/>
          <p:cNvSpPr/>
          <p:nvPr/>
        </p:nvSpPr>
        <p:spPr>
          <a:xfrm>
            <a:off x="4643437" y="2700338"/>
            <a:ext cx="21432" cy="1121570"/>
          </a:xfrm>
          <a:prstGeom prst="rect">
            <a:avLst/>
          </a:prstGeom>
          <a:solidFill>
            <a:srgbClr val="00FFFF"/>
          </a:solidFill>
          <a:ln w="12700">
            <a:miter lim="400000"/>
          </a:ln>
        </p:spPr>
        <p:txBody>
          <a:bodyPr lIns="0" tIns="0" rIns="0" bIns="0" anchor="ctr"/>
          <a:lstStyle/>
          <a:p>
            <a:pPr/>
          </a:p>
        </p:txBody>
      </p:sp>
      <p:pic>
        <p:nvPicPr>
          <p:cNvPr id="214" name="Google Shape;228;p10" descr="Google Shape;228;p10"/>
          <p:cNvPicPr>
            <a:picLocks noChangeAspect="1"/>
          </p:cNvPicPr>
          <p:nvPr/>
        </p:nvPicPr>
        <p:blipFill>
          <a:blip r:embed="rId7">
            <a:extLst/>
          </a:blip>
          <a:stretch>
            <a:fillRect/>
          </a:stretch>
        </p:blipFill>
        <p:spPr>
          <a:xfrm>
            <a:off x="4750594" y="2808386"/>
            <a:ext cx="178595" cy="142876"/>
          </a:xfrm>
          <a:prstGeom prst="rect">
            <a:avLst/>
          </a:prstGeom>
          <a:ln w="12700">
            <a:miter lim="400000"/>
          </a:ln>
        </p:spPr>
      </p:pic>
      <p:sp>
        <p:nvSpPr>
          <p:cNvPr id="215" name="Google Shape;229;p10"/>
          <p:cNvSpPr txBox="1"/>
          <p:nvPr/>
        </p:nvSpPr>
        <p:spPr>
          <a:xfrm>
            <a:off x="5014912" y="2807493"/>
            <a:ext cx="158412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E0E0E0"/>
                </a:solidFill>
                <a:latin typeface="Orbitron Regular Regular"/>
                <a:ea typeface="Orbitron Regular Regular"/>
                <a:cs typeface="Orbitron Regular Regular"/>
                <a:sym typeface="Orbitron Regular Regular"/>
              </a:defRPr>
            </a:lvl1pPr>
          </a:lstStyle>
          <a:p>
            <a:pPr/>
            <a:r>
              <a:t>UNIFIEDEVENT SCHEMA</a:t>
            </a:r>
          </a:p>
        </p:txBody>
      </p:sp>
      <p:sp>
        <p:nvSpPr>
          <p:cNvPr id="216" name="Google Shape;230;p10"/>
          <p:cNvSpPr/>
          <p:nvPr/>
        </p:nvSpPr>
        <p:spPr>
          <a:xfrm>
            <a:off x="4750594" y="3003947"/>
            <a:ext cx="537233" cy="150020"/>
          </a:xfrm>
          <a:prstGeom prst="rect">
            <a:avLst/>
          </a:prstGeom>
          <a:solidFill>
            <a:srgbClr val="000000">
              <a:alpha val="30196"/>
            </a:srgbClr>
          </a:solidFill>
          <a:ln w="12700">
            <a:miter lim="400000"/>
          </a:ln>
        </p:spPr>
        <p:txBody>
          <a:bodyPr lIns="0" tIns="0" rIns="0" bIns="0" anchor="ctr"/>
          <a:lstStyle/>
          <a:p>
            <a:pPr/>
          </a:p>
        </p:txBody>
      </p:sp>
      <p:sp>
        <p:nvSpPr>
          <p:cNvPr id="217" name="Google Shape;231;p10"/>
          <p:cNvSpPr txBox="1"/>
          <p:nvPr/>
        </p:nvSpPr>
        <p:spPr>
          <a:xfrm>
            <a:off x="4776119" y="3003947"/>
            <a:ext cx="486183"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group_id</a:t>
            </a:r>
          </a:p>
        </p:txBody>
      </p:sp>
      <p:sp>
        <p:nvSpPr>
          <p:cNvPr id="218" name="Google Shape;232;p10"/>
          <p:cNvSpPr txBox="1"/>
          <p:nvPr/>
        </p:nvSpPr>
        <p:spPr>
          <a:xfrm>
            <a:off x="5287826" y="3023591"/>
            <a:ext cx="10715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a:t>
            </a:r>
          </a:p>
        </p:txBody>
      </p:sp>
      <p:sp>
        <p:nvSpPr>
          <p:cNvPr id="219" name="Google Shape;233;p10"/>
          <p:cNvSpPr/>
          <p:nvPr/>
        </p:nvSpPr>
        <p:spPr>
          <a:xfrm>
            <a:off x="5394981" y="3003947"/>
            <a:ext cx="177172" cy="150020"/>
          </a:xfrm>
          <a:prstGeom prst="rect">
            <a:avLst/>
          </a:prstGeom>
          <a:solidFill>
            <a:srgbClr val="000000">
              <a:alpha val="30196"/>
            </a:srgbClr>
          </a:solidFill>
          <a:ln w="12700">
            <a:miter lim="400000"/>
          </a:ln>
        </p:spPr>
        <p:txBody>
          <a:bodyPr lIns="0" tIns="0" rIns="0" bIns="0" anchor="ctr"/>
          <a:lstStyle/>
          <a:p>
            <a:pPr/>
          </a:p>
        </p:txBody>
      </p:sp>
      <p:sp>
        <p:nvSpPr>
          <p:cNvPr id="220" name="Google Shape;234;p10"/>
          <p:cNvSpPr txBox="1"/>
          <p:nvPr/>
        </p:nvSpPr>
        <p:spPr>
          <a:xfrm>
            <a:off x="5420506" y="3003947"/>
            <a:ext cx="126122"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at</a:t>
            </a:r>
          </a:p>
        </p:txBody>
      </p:sp>
      <p:sp>
        <p:nvSpPr>
          <p:cNvPr id="221" name="Google Shape;235;p10"/>
          <p:cNvSpPr txBox="1"/>
          <p:nvPr/>
        </p:nvSpPr>
        <p:spPr>
          <a:xfrm>
            <a:off x="5572152" y="3023591"/>
            <a:ext cx="10715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a:t>
            </a:r>
          </a:p>
        </p:txBody>
      </p:sp>
      <p:sp>
        <p:nvSpPr>
          <p:cNvPr id="222" name="Google Shape;236;p10"/>
          <p:cNvSpPr/>
          <p:nvPr/>
        </p:nvSpPr>
        <p:spPr>
          <a:xfrm>
            <a:off x="5679309" y="3003947"/>
            <a:ext cx="1737382" cy="150020"/>
          </a:xfrm>
          <a:prstGeom prst="rect">
            <a:avLst/>
          </a:prstGeom>
          <a:solidFill>
            <a:srgbClr val="000000">
              <a:alpha val="30196"/>
            </a:srgbClr>
          </a:solidFill>
          <a:ln w="12700">
            <a:miter lim="400000"/>
          </a:ln>
        </p:spPr>
        <p:txBody>
          <a:bodyPr lIns="0" tIns="0" rIns="0" bIns="0" anchor="ctr"/>
          <a:lstStyle/>
          <a:p>
            <a:pPr/>
          </a:p>
        </p:txBody>
      </p:sp>
      <p:sp>
        <p:nvSpPr>
          <p:cNvPr id="223" name="Google Shape;237;p10"/>
          <p:cNvSpPr txBox="1"/>
          <p:nvPr/>
        </p:nvSpPr>
        <p:spPr>
          <a:xfrm>
            <a:off x="5704834" y="3003947"/>
            <a:ext cx="1686332"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metrics[]{id, type, value[]}</a:t>
            </a:r>
          </a:p>
        </p:txBody>
      </p:sp>
      <p:sp>
        <p:nvSpPr>
          <p:cNvPr id="224" name="Google Shape;238;p10"/>
          <p:cNvSpPr txBox="1"/>
          <p:nvPr/>
        </p:nvSpPr>
        <p:spPr>
          <a:xfrm>
            <a:off x="7416690" y="3023591"/>
            <a:ext cx="10715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a:t>
            </a:r>
          </a:p>
        </p:txBody>
      </p:sp>
      <p:sp>
        <p:nvSpPr>
          <p:cNvPr id="225" name="Google Shape;239;p10"/>
          <p:cNvSpPr/>
          <p:nvPr/>
        </p:nvSpPr>
        <p:spPr>
          <a:xfrm>
            <a:off x="7523847" y="3003947"/>
            <a:ext cx="417213" cy="150020"/>
          </a:xfrm>
          <a:prstGeom prst="rect">
            <a:avLst/>
          </a:prstGeom>
          <a:solidFill>
            <a:srgbClr val="000000">
              <a:alpha val="30196"/>
            </a:srgbClr>
          </a:solidFill>
          <a:ln w="12700">
            <a:miter lim="400000"/>
          </a:ln>
        </p:spPr>
        <p:txBody>
          <a:bodyPr lIns="0" tIns="0" rIns="0" bIns="0" anchor="ctr"/>
          <a:lstStyle/>
          <a:p>
            <a:pPr/>
          </a:p>
        </p:txBody>
      </p:sp>
      <p:sp>
        <p:nvSpPr>
          <p:cNvPr id="226" name="Google Shape;240;p10"/>
          <p:cNvSpPr txBox="1"/>
          <p:nvPr/>
        </p:nvSpPr>
        <p:spPr>
          <a:xfrm>
            <a:off x="7549372" y="3003947"/>
            <a:ext cx="366163"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status</a:t>
            </a:r>
          </a:p>
        </p:txBody>
      </p:sp>
      <p:sp>
        <p:nvSpPr>
          <p:cNvPr id="227" name="Google Shape;241;p10"/>
          <p:cNvSpPr txBox="1"/>
          <p:nvPr/>
        </p:nvSpPr>
        <p:spPr>
          <a:xfrm>
            <a:off x="7941058" y="3023591"/>
            <a:ext cx="821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a:t>
            </a:r>
          </a:p>
        </p:txBody>
      </p:sp>
      <p:sp>
        <p:nvSpPr>
          <p:cNvPr id="228" name="Google Shape;242;p10"/>
          <p:cNvSpPr/>
          <p:nvPr/>
        </p:nvSpPr>
        <p:spPr>
          <a:xfrm>
            <a:off x="4750594" y="3147520"/>
            <a:ext cx="1077284" cy="150020"/>
          </a:xfrm>
          <a:prstGeom prst="rect">
            <a:avLst/>
          </a:prstGeom>
          <a:solidFill>
            <a:srgbClr val="000000">
              <a:alpha val="30196"/>
            </a:srgbClr>
          </a:solidFill>
          <a:ln w="12700">
            <a:miter lim="400000"/>
          </a:ln>
        </p:spPr>
        <p:txBody>
          <a:bodyPr lIns="0" tIns="0" rIns="0" bIns="0" anchor="ctr"/>
          <a:lstStyle/>
          <a:p>
            <a:pPr/>
          </a:p>
        </p:txBody>
      </p:sp>
      <p:sp>
        <p:nvSpPr>
          <p:cNvPr id="229" name="Google Shape;243;p10"/>
          <p:cNvSpPr txBox="1"/>
          <p:nvPr/>
        </p:nvSpPr>
        <p:spPr>
          <a:xfrm>
            <a:off x="4776119" y="3147520"/>
            <a:ext cx="1026234"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defRPr>
            </a:lvl1pPr>
          </a:lstStyle>
          <a:p>
            <a:pPr/>
            <a:r>
              <a:t>converter_version</a:t>
            </a:r>
          </a:p>
        </p:txBody>
      </p:sp>
      <p:sp>
        <p:nvSpPr>
          <p:cNvPr id="230" name="Google Shape;244;p10"/>
          <p:cNvSpPr txBox="1"/>
          <p:nvPr/>
        </p:nvSpPr>
        <p:spPr>
          <a:xfrm>
            <a:off x="5827876" y="3167165"/>
            <a:ext cx="135909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 Two event types, two queues.</a:t>
            </a:r>
          </a:p>
        </p:txBody>
      </p:sp>
      <p:sp>
        <p:nvSpPr>
          <p:cNvPr id="231" name="Google Shape;245;p10"/>
          <p:cNvSpPr/>
          <p:nvPr/>
        </p:nvSpPr>
        <p:spPr>
          <a:xfrm>
            <a:off x="742950" y="3964780"/>
            <a:ext cx="7658100" cy="571501"/>
          </a:xfrm>
          <a:prstGeom prst="rect">
            <a:avLst/>
          </a:prstGeom>
          <a:solidFill>
            <a:srgbClr val="FF4500">
              <a:alpha val="5098"/>
            </a:srgbClr>
          </a:solidFill>
          <a:ln>
            <a:solidFill>
              <a:srgbClr val="FF4500">
                <a:alpha val="20000"/>
              </a:srgbClr>
            </a:solidFill>
          </a:ln>
        </p:spPr>
        <p:txBody>
          <a:bodyPr lIns="0" tIns="0" rIns="0" bIns="0" anchor="ctr"/>
          <a:lstStyle/>
          <a:p>
            <a:pPr/>
          </a:p>
        </p:txBody>
      </p:sp>
      <p:sp>
        <p:nvSpPr>
          <p:cNvPr id="232" name="Google Shape;246;p10"/>
          <p:cNvSpPr txBox="1"/>
          <p:nvPr/>
        </p:nvSpPr>
        <p:spPr>
          <a:xfrm>
            <a:off x="850105" y="4071937"/>
            <a:ext cx="74437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6666"/>
              </a:lnSpc>
              <a:defRPr i="1" sz="700">
                <a:solidFill>
                  <a:srgbClr val="E0E0E0"/>
                </a:solidFill>
                <a:latin typeface="Roboto Regular Regular"/>
                <a:ea typeface="Roboto Regular Regular"/>
                <a:cs typeface="Roboto Regular Regular"/>
                <a:sym typeface="Roboto Regular Regular"/>
              </a:defRPr>
            </a:lvl1pPr>
          </a:lstStyle>
          <a:p>
            <a:pPr/>
            <a:r>
              <a:t>Both REST and SSE sources converge into the same UnifiedEvent schema, eliminating source-specific complexity for all downstream consumers.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6" name="Google Shape;252;p11" descr="Google Shape;252;p11"/>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237" name="Google Shape;253;p11"/>
          <p:cNvSpPr txBox="1"/>
          <p:nvPr/>
        </p:nvSpPr>
        <p:spPr>
          <a:xfrm>
            <a:off x="6606182" y="214313"/>
            <a:ext cx="2252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TECH_STACK // REL_3.3.2</a:t>
            </a:r>
          </a:p>
        </p:txBody>
      </p:sp>
      <p:sp>
        <p:nvSpPr>
          <p:cNvPr id="238" name="Google Shape;254;p11"/>
          <p:cNvSpPr/>
          <p:nvPr/>
        </p:nvSpPr>
        <p:spPr>
          <a:xfrm>
            <a:off x="457274" y="428550"/>
            <a:ext cx="8229601" cy="4286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239" name="Google Shape;255;p11"/>
          <p:cNvSpPr txBox="1"/>
          <p:nvPr/>
        </p:nvSpPr>
        <p:spPr>
          <a:xfrm>
            <a:off x="742950" y="79944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CONVERTER SERVICE - TECHNOLOGY STACK</a:t>
            </a:r>
          </a:p>
        </p:txBody>
      </p:sp>
      <p:sp>
        <p:nvSpPr>
          <p:cNvPr id="240" name="Google Shape;256;p11"/>
          <p:cNvSpPr/>
          <p:nvPr/>
        </p:nvSpPr>
        <p:spPr>
          <a:xfrm>
            <a:off x="742950"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241" name="Google Shape;257;p11" descr="Google Shape;257;p11"/>
          <p:cNvPicPr>
            <a:picLocks noChangeAspect="1"/>
          </p:cNvPicPr>
          <p:nvPr/>
        </p:nvPicPr>
        <p:blipFill>
          <a:blip r:embed="rId3">
            <a:extLst/>
          </a:blip>
          <a:stretch>
            <a:fillRect/>
          </a:stretch>
        </p:blipFill>
        <p:spPr>
          <a:xfrm>
            <a:off x="850105" y="1400175"/>
            <a:ext cx="178595" cy="142875"/>
          </a:xfrm>
          <a:prstGeom prst="rect">
            <a:avLst/>
          </a:prstGeom>
          <a:ln w="12700">
            <a:miter lim="400000"/>
          </a:ln>
        </p:spPr>
      </p:pic>
      <p:sp>
        <p:nvSpPr>
          <p:cNvPr id="242" name="Google Shape;258;p11"/>
          <p:cNvSpPr txBox="1"/>
          <p:nvPr/>
        </p:nvSpPr>
        <p:spPr>
          <a:xfrm>
            <a:off x="1100137" y="1408212"/>
            <a:ext cx="11019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PYTHON 3</a:t>
            </a:r>
          </a:p>
        </p:txBody>
      </p:sp>
      <p:sp>
        <p:nvSpPr>
          <p:cNvPr id="243" name="Google Shape;259;p11"/>
          <p:cNvSpPr txBox="1"/>
          <p:nvPr/>
        </p:nvSpPr>
        <p:spPr>
          <a:xfrm>
            <a:off x="850106" y="1614487"/>
            <a:ext cx="2243100" cy="220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8"/>
              </a:lnSpc>
              <a:defRPr sz="600">
                <a:solidFill>
                  <a:srgbClr val="E0E0E0"/>
                </a:solidFill>
                <a:latin typeface="Roboto Regular Regular"/>
                <a:ea typeface="Roboto Regular Regular"/>
                <a:cs typeface="Roboto Regular Regular"/>
                <a:sym typeface="Roboto Regular Regular"/>
              </a:defRPr>
            </a:lvl1pPr>
          </a:lstStyle>
          <a:p>
            <a:pPr/>
            <a:r>
              <a:t>Provides acceptable performance while being extremely fast to prototype in and having a rich ecosystem.</a:t>
            </a:r>
          </a:p>
        </p:txBody>
      </p:sp>
      <p:sp>
        <p:nvSpPr>
          <p:cNvPr id="244" name="Google Shape;260;p11"/>
          <p:cNvSpPr/>
          <p:nvPr/>
        </p:nvSpPr>
        <p:spPr>
          <a:xfrm>
            <a:off x="3343275"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245" name="Google Shape;261;p11"/>
          <p:cNvSpPr txBox="1"/>
          <p:nvPr/>
        </p:nvSpPr>
        <p:spPr>
          <a:xfrm>
            <a:off x="3700462" y="1408212"/>
            <a:ext cx="1109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HTTPX</a:t>
            </a:r>
          </a:p>
        </p:txBody>
      </p:sp>
      <p:sp>
        <p:nvSpPr>
          <p:cNvPr id="246" name="Google Shape;262;p11"/>
          <p:cNvSpPr txBox="1"/>
          <p:nvPr/>
        </p:nvSpPr>
        <p:spPr>
          <a:xfrm>
            <a:off x="3450430" y="1614487"/>
            <a:ext cx="2243101" cy="220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8"/>
              </a:lnSpc>
              <a:defRPr sz="600">
                <a:solidFill>
                  <a:srgbClr val="E0E0E0"/>
                </a:solidFill>
                <a:latin typeface="Roboto Regular Regular"/>
                <a:ea typeface="Roboto Regular Regular"/>
                <a:cs typeface="Roboto Regular Regular"/>
                <a:sym typeface="Roboto Regular Regular"/>
              </a:defRPr>
            </a:lvl1pPr>
          </a:lstStyle>
          <a:p>
            <a:pPr/>
            <a:r>
              <a:t>Enables HTTP request support in order to interface with the sensors’ and actuators HTTP APIs.</a:t>
            </a:r>
          </a:p>
        </p:txBody>
      </p:sp>
      <p:sp>
        <p:nvSpPr>
          <p:cNvPr id="247" name="Google Shape;263;p11"/>
          <p:cNvSpPr/>
          <p:nvPr/>
        </p:nvSpPr>
        <p:spPr>
          <a:xfrm>
            <a:off x="5943600"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248" name="Google Shape;264;p11"/>
          <p:cNvSpPr txBox="1"/>
          <p:nvPr/>
        </p:nvSpPr>
        <p:spPr>
          <a:xfrm>
            <a:off x="6300809" y="1408199"/>
            <a:ext cx="1554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AMQ (STOMP, PROTON)</a:t>
            </a:r>
          </a:p>
        </p:txBody>
      </p:sp>
      <p:sp>
        <p:nvSpPr>
          <p:cNvPr id="249" name="Google Shape;265;p11"/>
          <p:cNvSpPr txBox="1"/>
          <p:nvPr/>
        </p:nvSpPr>
        <p:spPr>
          <a:xfrm>
            <a:off x="6050755" y="1614487"/>
            <a:ext cx="2243101" cy="220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8"/>
              </a:lnSpc>
              <a:defRPr sz="600">
                <a:solidFill>
                  <a:srgbClr val="E0E0E0"/>
                </a:solidFill>
                <a:latin typeface="Roboto Regular Regular"/>
                <a:ea typeface="Roboto Regular Regular"/>
                <a:cs typeface="Roboto Regular Regular"/>
                <a:sym typeface="Roboto Regular Regular"/>
              </a:defRPr>
            </a:lvl1pPr>
          </a:lstStyle>
          <a:p>
            <a:pPr/>
            <a:r>
              <a:t>Interacts with the message queues in order to exchange messages with every other part of the system.</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1" name="Google Shape;271;p12" descr="Google Shape;271;p12"/>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252" name="Google Shape;272;p12"/>
          <p:cNvSpPr txBox="1"/>
          <p:nvPr/>
        </p:nvSpPr>
        <p:spPr>
          <a:xfrm>
            <a:off x="6968728" y="214313"/>
            <a:ext cx="18895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SERVICE // CACHING</a:t>
            </a:r>
          </a:p>
        </p:txBody>
      </p:sp>
      <p:sp>
        <p:nvSpPr>
          <p:cNvPr id="253" name="Google Shape;273;p12"/>
          <p:cNvSpPr/>
          <p:nvPr/>
        </p:nvSpPr>
        <p:spPr>
          <a:xfrm>
            <a:off x="457200" y="578644"/>
            <a:ext cx="8229600" cy="398621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254" name="Google Shape;274;p12"/>
          <p:cNvSpPr txBox="1"/>
          <p:nvPr/>
        </p:nvSpPr>
        <p:spPr>
          <a:xfrm>
            <a:off x="742950" y="956612"/>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CACHING SERVICE</a:t>
            </a:r>
          </a:p>
        </p:txBody>
      </p:sp>
      <p:sp>
        <p:nvSpPr>
          <p:cNvPr id="255" name="Google Shape;275;p12"/>
          <p:cNvSpPr/>
          <p:nvPr/>
        </p:nvSpPr>
        <p:spPr>
          <a:xfrm>
            <a:off x="742949" y="1450180"/>
            <a:ext cx="3739755" cy="10001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256" name="Google Shape;276;p12" descr="Google Shape;276;p12"/>
          <p:cNvPicPr>
            <a:picLocks noChangeAspect="1"/>
          </p:cNvPicPr>
          <p:nvPr/>
        </p:nvPicPr>
        <p:blipFill>
          <a:blip r:embed="rId4">
            <a:extLst/>
          </a:blip>
          <a:stretch>
            <a:fillRect/>
          </a:stretch>
        </p:blipFill>
        <p:spPr>
          <a:xfrm>
            <a:off x="885825" y="1593055"/>
            <a:ext cx="214314" cy="171451"/>
          </a:xfrm>
          <a:prstGeom prst="rect">
            <a:avLst/>
          </a:prstGeom>
          <a:ln w="12700">
            <a:miter lim="400000"/>
          </a:ln>
        </p:spPr>
      </p:pic>
      <p:sp>
        <p:nvSpPr>
          <p:cNvPr id="257" name="Google Shape;277;p12"/>
          <p:cNvSpPr txBox="1"/>
          <p:nvPr/>
        </p:nvSpPr>
        <p:spPr>
          <a:xfrm>
            <a:off x="1207294" y="1598413"/>
            <a:ext cx="161806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FF4500"/>
                </a:solidFill>
                <a:latin typeface="Orbitron Regular Regular"/>
                <a:ea typeface="Orbitron Regular Regular"/>
                <a:cs typeface="Orbitron Regular Regular"/>
                <a:sym typeface="Orbitron Regular Regular"/>
              </a:defRPr>
            </a:lvl1pPr>
          </a:lstStyle>
          <a:p>
            <a:pPr/>
            <a:r>
              <a:t>IN-MEMORY STORAGE</a:t>
            </a:r>
          </a:p>
        </p:txBody>
      </p:sp>
      <p:sp>
        <p:nvSpPr>
          <p:cNvPr id="258" name="Google Shape;278;p12"/>
          <p:cNvSpPr txBox="1"/>
          <p:nvPr/>
        </p:nvSpPr>
        <p:spPr>
          <a:xfrm>
            <a:off x="885824" y="1835943"/>
            <a:ext cx="3454005" cy="2709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The Caching Service uses Redis to store the most recent state of all sensors and actuators.</a:t>
            </a:r>
          </a:p>
        </p:txBody>
      </p:sp>
      <p:sp>
        <p:nvSpPr>
          <p:cNvPr id="259" name="Google Shape;279;p12"/>
          <p:cNvSpPr/>
          <p:nvPr/>
        </p:nvSpPr>
        <p:spPr>
          <a:xfrm>
            <a:off x="4661296" y="1450180"/>
            <a:ext cx="3739754" cy="1000126"/>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260" name="Google Shape;280;p12" descr="Google Shape;280;p12"/>
          <p:cNvPicPr>
            <a:picLocks noChangeAspect="1"/>
          </p:cNvPicPr>
          <p:nvPr/>
        </p:nvPicPr>
        <p:blipFill>
          <a:blip r:embed="rId5">
            <a:extLst/>
          </a:blip>
          <a:stretch>
            <a:fillRect/>
          </a:stretch>
        </p:blipFill>
        <p:spPr>
          <a:xfrm>
            <a:off x="4804171" y="1593055"/>
            <a:ext cx="214314" cy="171451"/>
          </a:xfrm>
          <a:prstGeom prst="rect">
            <a:avLst/>
          </a:prstGeom>
          <a:ln w="12700">
            <a:miter lim="400000"/>
          </a:ln>
        </p:spPr>
      </p:pic>
      <p:sp>
        <p:nvSpPr>
          <p:cNvPr id="261" name="Google Shape;281;p12"/>
          <p:cNvSpPr txBox="1"/>
          <p:nvPr/>
        </p:nvSpPr>
        <p:spPr>
          <a:xfrm>
            <a:off x="5125641" y="1598413"/>
            <a:ext cx="1114426"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FF4500"/>
                </a:solidFill>
                <a:latin typeface="Orbitron Regular Regular"/>
                <a:ea typeface="Orbitron Regular Regular"/>
                <a:cs typeface="Orbitron Regular Regular"/>
                <a:sym typeface="Orbitron Regular Regular"/>
              </a:defRPr>
            </a:lvl1pPr>
          </a:lstStyle>
          <a:p>
            <a:pPr/>
            <a:r>
              <a:t>LOW LATENCY</a:t>
            </a:r>
          </a:p>
        </p:txBody>
      </p:sp>
      <p:sp>
        <p:nvSpPr>
          <p:cNvPr id="262" name="Google Shape;282;p12"/>
          <p:cNvSpPr txBox="1"/>
          <p:nvPr/>
        </p:nvSpPr>
        <p:spPr>
          <a:xfrm>
            <a:off x="4804171" y="1835943"/>
            <a:ext cx="34540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Provides sub-millisecond access to habitat telemetry for critical decision-making.</a:t>
            </a:r>
          </a:p>
        </p:txBody>
      </p:sp>
      <p:sp>
        <p:nvSpPr>
          <p:cNvPr id="263" name="Google Shape;283;p12"/>
          <p:cNvSpPr/>
          <p:nvPr/>
        </p:nvSpPr>
        <p:spPr>
          <a:xfrm>
            <a:off x="742949" y="2628900"/>
            <a:ext cx="3739755" cy="1000125"/>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264" name="Google Shape;284;p12" descr="Google Shape;284;p12"/>
          <p:cNvPicPr>
            <a:picLocks noChangeAspect="1"/>
          </p:cNvPicPr>
          <p:nvPr/>
        </p:nvPicPr>
        <p:blipFill>
          <a:blip r:embed="rId6">
            <a:extLst/>
          </a:blip>
          <a:stretch>
            <a:fillRect/>
          </a:stretch>
        </p:blipFill>
        <p:spPr>
          <a:xfrm>
            <a:off x="885825" y="2771775"/>
            <a:ext cx="214314" cy="171450"/>
          </a:xfrm>
          <a:prstGeom prst="rect">
            <a:avLst/>
          </a:prstGeom>
          <a:ln w="12700">
            <a:miter lim="400000"/>
          </a:ln>
        </p:spPr>
      </p:pic>
      <p:sp>
        <p:nvSpPr>
          <p:cNvPr id="265" name="Google Shape;285;p12"/>
          <p:cNvSpPr txBox="1"/>
          <p:nvPr/>
        </p:nvSpPr>
        <p:spPr>
          <a:xfrm>
            <a:off x="1207294" y="2777133"/>
            <a:ext cx="197524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FF4500"/>
                </a:solidFill>
                <a:latin typeface="Orbitron Regular Regular"/>
                <a:ea typeface="Orbitron Regular Regular"/>
                <a:cs typeface="Orbitron Regular Regular"/>
                <a:sym typeface="Orbitron Regular Regular"/>
              </a:defRPr>
            </a:lvl1pPr>
          </a:lstStyle>
          <a:p>
            <a:pPr/>
            <a:r>
              <a:t>STATE SYNCHRONIZATION</a:t>
            </a:r>
          </a:p>
        </p:txBody>
      </p:sp>
      <p:sp>
        <p:nvSpPr>
          <p:cNvPr id="266" name="Google Shape;286;p12"/>
          <p:cNvSpPr txBox="1"/>
          <p:nvPr/>
        </p:nvSpPr>
        <p:spPr>
          <a:xfrm>
            <a:off x="885824" y="3014663"/>
            <a:ext cx="34540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Ensures all microservices have a consistent view of the habitat's current status.</a:t>
            </a:r>
          </a:p>
        </p:txBody>
      </p:sp>
      <p:sp>
        <p:nvSpPr>
          <p:cNvPr id="267" name="Google Shape;287;p12"/>
          <p:cNvSpPr/>
          <p:nvPr/>
        </p:nvSpPr>
        <p:spPr>
          <a:xfrm>
            <a:off x="4661296" y="2628900"/>
            <a:ext cx="3739754" cy="1000125"/>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268" name="Google Shape;288;p12" descr="Google Shape;288;p12"/>
          <p:cNvPicPr>
            <a:picLocks noChangeAspect="1"/>
          </p:cNvPicPr>
          <p:nvPr/>
        </p:nvPicPr>
        <p:blipFill>
          <a:blip r:embed="rId7">
            <a:extLst/>
          </a:blip>
          <a:stretch>
            <a:fillRect/>
          </a:stretch>
        </p:blipFill>
        <p:spPr>
          <a:xfrm>
            <a:off x="4804171" y="2771775"/>
            <a:ext cx="214314" cy="171450"/>
          </a:xfrm>
          <a:prstGeom prst="rect">
            <a:avLst/>
          </a:prstGeom>
          <a:ln w="12700">
            <a:miter lim="400000"/>
          </a:ln>
        </p:spPr>
      </p:pic>
      <p:sp>
        <p:nvSpPr>
          <p:cNvPr id="269" name="Google Shape;289;p12"/>
          <p:cNvSpPr txBox="1"/>
          <p:nvPr/>
        </p:nvSpPr>
        <p:spPr>
          <a:xfrm>
            <a:off x="5125640" y="2777133"/>
            <a:ext cx="172879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FF4500"/>
                </a:solidFill>
                <a:latin typeface="Orbitron Regular Regular"/>
                <a:ea typeface="Orbitron Regular Regular"/>
                <a:cs typeface="Orbitron Regular Regular"/>
                <a:sym typeface="Orbitron Regular Regular"/>
              </a:defRPr>
            </a:lvl1pPr>
          </a:lstStyle>
          <a:p>
            <a:pPr/>
            <a:r>
              <a:t>DASHBOARD SUPPORT</a:t>
            </a:r>
          </a:p>
        </p:txBody>
      </p:sp>
      <p:sp>
        <p:nvSpPr>
          <p:cNvPr id="270" name="Google Shape;290;p12"/>
          <p:cNvSpPr txBox="1"/>
          <p:nvPr/>
        </p:nvSpPr>
        <p:spPr>
          <a:xfrm>
            <a:off x="4804171" y="3014663"/>
            <a:ext cx="34540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Powers the real-time dashboard by providing the initial state on connection.</a:t>
            </a:r>
          </a:p>
        </p:txBody>
      </p:sp>
      <p:sp>
        <p:nvSpPr>
          <p:cNvPr id="271" name="Google Shape;291;p12"/>
          <p:cNvSpPr/>
          <p:nvPr/>
        </p:nvSpPr>
        <p:spPr>
          <a:xfrm>
            <a:off x="742950" y="3843337"/>
            <a:ext cx="7658100" cy="714376"/>
          </a:xfrm>
          <a:prstGeom prst="rect">
            <a:avLst/>
          </a:prstGeom>
          <a:solidFill>
            <a:srgbClr val="FF4500">
              <a:alpha val="5098"/>
            </a:srgbClr>
          </a:solidFill>
          <a:ln>
            <a:solidFill>
              <a:srgbClr val="FF4500">
                <a:alpha val="20000"/>
              </a:srgbClr>
            </a:solidFill>
          </a:ln>
        </p:spPr>
        <p:txBody>
          <a:bodyPr lIns="0" tIns="0" rIns="0" bIns="0" anchor="ctr"/>
          <a:lstStyle/>
          <a:p>
            <a:pPr/>
          </a:p>
        </p:txBody>
      </p:sp>
      <p:sp>
        <p:nvSpPr>
          <p:cNvPr id="272" name="Google Shape;292;p12"/>
          <p:cNvSpPr txBox="1"/>
          <p:nvPr/>
        </p:nvSpPr>
        <p:spPr>
          <a:xfrm>
            <a:off x="885825" y="3986212"/>
            <a:ext cx="737235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FF4500"/>
                </a:solidFill>
                <a:latin typeface="Orbitron Regular Regular"/>
                <a:ea typeface="Orbitron Regular Regular"/>
                <a:cs typeface="Orbitron Regular Regular"/>
                <a:sym typeface="Orbitron Regular Regular"/>
              </a:defRPr>
            </a:lvl1pPr>
          </a:lstStyle>
          <a:p>
            <a:pPr/>
            <a:r>
              <a:t>TECHNICAL NOTE</a:t>
            </a:r>
          </a:p>
        </p:txBody>
      </p:sp>
      <p:sp>
        <p:nvSpPr>
          <p:cNvPr id="273" name="Google Shape;293;p12"/>
          <p:cNvSpPr txBox="1"/>
          <p:nvPr/>
        </p:nvSpPr>
        <p:spPr>
          <a:xfrm>
            <a:off x="885825" y="4202310"/>
            <a:ext cx="7372350" cy="2709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6666"/>
              </a:lnSpc>
              <a:defRPr sz="700">
                <a:solidFill>
                  <a:srgbClr val="E0E0E0"/>
                </a:solidFill>
                <a:latin typeface="Roboto Regular Regular"/>
                <a:ea typeface="Roboto Regular Regular"/>
                <a:cs typeface="Roboto Regular Regular"/>
                <a:sym typeface="Roboto Regular Regular"/>
              </a:defRPr>
            </a:lvl1pPr>
          </a:lstStyle>
          <a:p>
            <a:pPr/>
            <a:r>
              <a:t>By decoupling state from the primary database, the Caching Service reduces load on persistent storage and ensures high availability of real-time data across the entire MarsOps ecosystem.</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77" name="Google Shape;299;p13" descr="Google Shape;299;p13"/>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278" name="Google Shape;300;p13"/>
          <p:cNvSpPr txBox="1"/>
          <p:nvPr/>
        </p:nvSpPr>
        <p:spPr>
          <a:xfrm>
            <a:off x="6470451" y="285749"/>
            <a:ext cx="23877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CONVERTER-SERVICE // V1.0</a:t>
            </a:r>
          </a:p>
        </p:txBody>
      </p:sp>
      <p:sp>
        <p:nvSpPr>
          <p:cNvPr id="279" name="Google Shape;301;p13"/>
          <p:cNvSpPr/>
          <p:nvPr/>
        </p:nvSpPr>
        <p:spPr>
          <a:xfrm>
            <a:off x="457200" y="607218"/>
            <a:ext cx="8229600" cy="3929102"/>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280" name="Google Shape;302;p13"/>
          <p:cNvSpPr txBox="1"/>
          <p:nvPr/>
        </p:nvSpPr>
        <p:spPr>
          <a:xfrm>
            <a:off x="814387" y="964405"/>
            <a:ext cx="751530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CACHE SERVICE</a:t>
            </a:r>
          </a:p>
        </p:txBody>
      </p:sp>
      <p:sp>
        <p:nvSpPr>
          <p:cNvPr id="281" name="Google Shape;303;p13"/>
          <p:cNvSpPr txBox="1"/>
          <p:nvPr/>
        </p:nvSpPr>
        <p:spPr>
          <a:xfrm>
            <a:off x="814325" y="1605549"/>
            <a:ext cx="6744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The cache service ensures that upon outages of the converter service, or whenever other microservices restart, they can</a:t>
            </a:r>
          </a:p>
        </p:txBody>
      </p:sp>
      <p:sp>
        <p:nvSpPr>
          <p:cNvPr id="282" name="Google Shape;304;p13"/>
          <p:cNvSpPr txBox="1"/>
          <p:nvPr/>
        </p:nvSpPr>
        <p:spPr>
          <a:xfrm>
            <a:off x="814400" y="1804334"/>
            <a:ext cx="6744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immediately query the system’s current state without waiting for update messages to appear on the internal event queue. It does so by using Redis as an in-memory “ephemeral” cache, that however can still immediately provide the needed data.</a:t>
            </a:r>
          </a:p>
        </p:txBody>
      </p:sp>
      <p:sp>
        <p:nvSpPr>
          <p:cNvPr id="283" name="Google Shape;305;p13"/>
          <p:cNvSpPr txBox="1"/>
          <p:nvPr/>
        </p:nvSpPr>
        <p:spPr>
          <a:xfrm>
            <a:off x="814325" y="2629899"/>
            <a:ext cx="6744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This powers several parts of the system: for example, whenever the frontend connects for live updates, an initial batch of</a:t>
            </a:r>
          </a:p>
        </p:txBody>
      </p:sp>
      <p:sp>
        <p:nvSpPr>
          <p:cNvPr id="284" name="Google Shape;306;p13"/>
          <p:cNvSpPr txBox="1"/>
          <p:nvPr/>
        </p:nvSpPr>
        <p:spPr>
          <a:xfrm>
            <a:off x="814400" y="2814801"/>
            <a:ext cx="674460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synthesized updates is immediately sent to notify it of the state that it should display, in order to never display an empty dashboard. Analogously, when the automation rules service starts, it can fetch the current state for all sensors and actuators so that it can know which rules to skip as they have already run.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6" name="Google Shape;312;p14" descr="Google Shape;312;p14"/>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287" name="Google Shape;313;p14"/>
          <p:cNvSpPr txBox="1"/>
          <p:nvPr/>
        </p:nvSpPr>
        <p:spPr>
          <a:xfrm>
            <a:off x="6606182" y="214313"/>
            <a:ext cx="2252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TECH_STACK // REL_3.3.2</a:t>
            </a:r>
          </a:p>
        </p:txBody>
      </p:sp>
      <p:sp>
        <p:nvSpPr>
          <p:cNvPr id="288" name="Google Shape;314;p14"/>
          <p:cNvSpPr/>
          <p:nvPr/>
        </p:nvSpPr>
        <p:spPr>
          <a:xfrm>
            <a:off x="457200" y="428625"/>
            <a:ext cx="8229600" cy="4286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289" name="Google Shape;315;p14"/>
          <p:cNvSpPr txBox="1"/>
          <p:nvPr/>
        </p:nvSpPr>
        <p:spPr>
          <a:xfrm>
            <a:off x="742950" y="79944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CACHE SERVICE - TECHNOLOGY STACK</a:t>
            </a:r>
          </a:p>
        </p:txBody>
      </p:sp>
      <p:sp>
        <p:nvSpPr>
          <p:cNvPr id="290" name="Google Shape;316;p14"/>
          <p:cNvSpPr/>
          <p:nvPr/>
        </p:nvSpPr>
        <p:spPr>
          <a:xfrm>
            <a:off x="742950"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291" name="Google Shape;317;p14" descr="Google Shape;317;p14"/>
          <p:cNvPicPr>
            <a:picLocks noChangeAspect="1"/>
          </p:cNvPicPr>
          <p:nvPr/>
        </p:nvPicPr>
        <p:blipFill>
          <a:blip r:embed="rId3">
            <a:extLst/>
          </a:blip>
          <a:stretch>
            <a:fillRect/>
          </a:stretch>
        </p:blipFill>
        <p:spPr>
          <a:xfrm>
            <a:off x="850105" y="1400175"/>
            <a:ext cx="178595" cy="142875"/>
          </a:xfrm>
          <a:prstGeom prst="rect">
            <a:avLst/>
          </a:prstGeom>
          <a:ln w="12700">
            <a:miter lim="400000"/>
          </a:ln>
        </p:spPr>
      </p:pic>
      <p:sp>
        <p:nvSpPr>
          <p:cNvPr id="292" name="Google Shape;318;p14"/>
          <p:cNvSpPr txBox="1"/>
          <p:nvPr/>
        </p:nvSpPr>
        <p:spPr>
          <a:xfrm>
            <a:off x="1100137" y="1408212"/>
            <a:ext cx="11019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PYTHON 3</a:t>
            </a:r>
          </a:p>
        </p:txBody>
      </p:sp>
      <p:sp>
        <p:nvSpPr>
          <p:cNvPr id="293" name="Google Shape;319;p14"/>
          <p:cNvSpPr/>
          <p:nvPr/>
        </p:nvSpPr>
        <p:spPr>
          <a:xfrm>
            <a:off x="3343275"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294" name="Google Shape;320;p14"/>
          <p:cNvSpPr txBox="1"/>
          <p:nvPr/>
        </p:nvSpPr>
        <p:spPr>
          <a:xfrm>
            <a:off x="3700462" y="1408212"/>
            <a:ext cx="1109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FASTAPI</a:t>
            </a:r>
          </a:p>
        </p:txBody>
      </p:sp>
      <p:sp>
        <p:nvSpPr>
          <p:cNvPr id="295" name="Google Shape;321;p14"/>
          <p:cNvSpPr txBox="1"/>
          <p:nvPr/>
        </p:nvSpPr>
        <p:spPr>
          <a:xfrm>
            <a:off x="3450430" y="1614487"/>
            <a:ext cx="2243101" cy="220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8"/>
              </a:lnSpc>
              <a:defRPr sz="600">
                <a:solidFill>
                  <a:srgbClr val="E0E0E0"/>
                </a:solidFill>
                <a:latin typeface="Roboto Regular Regular"/>
                <a:ea typeface="Roboto Regular Regular"/>
                <a:cs typeface="Roboto Regular Regular"/>
                <a:sym typeface="Roboto Regular Regular"/>
              </a:defRPr>
            </a:lvl1pPr>
          </a:lstStyle>
          <a:p>
            <a:pPr/>
            <a:r>
              <a:t>Provides built-in support for OpenAPI and Swagger documentation, as well as enabling fast API prototyping.</a:t>
            </a:r>
          </a:p>
        </p:txBody>
      </p:sp>
      <p:sp>
        <p:nvSpPr>
          <p:cNvPr id="296" name="Google Shape;322;p14"/>
          <p:cNvSpPr/>
          <p:nvPr/>
        </p:nvSpPr>
        <p:spPr>
          <a:xfrm>
            <a:off x="5943600"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297" name="Google Shape;323;p14"/>
          <p:cNvSpPr txBox="1"/>
          <p:nvPr/>
        </p:nvSpPr>
        <p:spPr>
          <a:xfrm>
            <a:off x="6300787" y="1408212"/>
            <a:ext cx="843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REDIS</a:t>
            </a:r>
          </a:p>
        </p:txBody>
      </p:sp>
      <p:sp>
        <p:nvSpPr>
          <p:cNvPr id="298" name="Google Shape;324;p14"/>
          <p:cNvSpPr txBox="1"/>
          <p:nvPr/>
        </p:nvSpPr>
        <p:spPr>
          <a:xfrm>
            <a:off x="6050755" y="1614487"/>
            <a:ext cx="2243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8"/>
              </a:lnSpc>
              <a:defRPr sz="600">
                <a:solidFill>
                  <a:srgbClr val="E0E0E0"/>
                </a:solidFill>
                <a:latin typeface="Roboto Regular Regular"/>
                <a:ea typeface="Roboto Regular Regular"/>
                <a:cs typeface="Roboto Regular Regular"/>
                <a:sym typeface="Roboto Regular Regular"/>
              </a:defRPr>
            </a:lvl1pPr>
          </a:lstStyle>
          <a:p>
            <a:pPr/>
            <a:r>
              <a:t>Provides the in-memory cache that powers the service.</a:t>
            </a:r>
          </a:p>
        </p:txBody>
      </p:sp>
      <p:pic>
        <p:nvPicPr>
          <p:cNvPr id="299" name="Google Shape;325;p14" descr="Google Shape;325;p14"/>
          <p:cNvPicPr>
            <a:picLocks noChangeAspect="1"/>
          </p:cNvPicPr>
          <p:nvPr/>
        </p:nvPicPr>
        <p:blipFill>
          <a:blip r:embed="rId4">
            <a:extLst/>
          </a:blip>
          <a:stretch>
            <a:fillRect/>
          </a:stretch>
        </p:blipFill>
        <p:spPr>
          <a:xfrm>
            <a:off x="6050755" y="1400175"/>
            <a:ext cx="178595" cy="142875"/>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01" name="Google Shape;331;p15" descr="Google Shape;331;p15"/>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302" name="Google Shape;332;p15"/>
          <p:cNvSpPr txBox="1"/>
          <p:nvPr/>
        </p:nvSpPr>
        <p:spPr>
          <a:xfrm>
            <a:off x="6470451" y="285749"/>
            <a:ext cx="23877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CONVERTER-SERVICE // V1.0</a:t>
            </a:r>
          </a:p>
        </p:txBody>
      </p:sp>
      <p:sp>
        <p:nvSpPr>
          <p:cNvPr id="303" name="Google Shape;333;p15"/>
          <p:cNvSpPr/>
          <p:nvPr/>
        </p:nvSpPr>
        <p:spPr>
          <a:xfrm>
            <a:off x="457200" y="607218"/>
            <a:ext cx="8229600" cy="3929102"/>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304" name="Google Shape;334;p15"/>
          <p:cNvSpPr txBox="1"/>
          <p:nvPr/>
        </p:nvSpPr>
        <p:spPr>
          <a:xfrm>
            <a:off x="814387" y="964405"/>
            <a:ext cx="751530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METRICS SERVICE</a:t>
            </a:r>
          </a:p>
        </p:txBody>
      </p:sp>
      <p:sp>
        <p:nvSpPr>
          <p:cNvPr id="305" name="Google Shape;335;p15"/>
          <p:cNvSpPr txBox="1"/>
          <p:nvPr/>
        </p:nvSpPr>
        <p:spPr>
          <a:xfrm>
            <a:off x="814325" y="1605549"/>
            <a:ext cx="6744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The metrics service acts as middleware between the backend’s internal event queues and cache and a user or frontend that</a:t>
            </a:r>
          </a:p>
        </p:txBody>
      </p:sp>
      <p:sp>
        <p:nvSpPr>
          <p:cNvPr id="306" name="Google Shape;336;p15"/>
          <p:cNvSpPr txBox="1"/>
          <p:nvPr/>
        </p:nvSpPr>
        <p:spPr>
          <a:xfrm>
            <a:off x="814400" y="1804334"/>
            <a:ext cx="674460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might just want to receive live updates over more standard web browser protocols. For this reason, it exposes WebSockets for both general updates, spanning all metrics, and more granular updates, for specific metric “group”, in order to avoid overloading a client with information that it doesn’t care about.</a:t>
            </a:r>
          </a:p>
        </p:txBody>
      </p:sp>
      <p:sp>
        <p:nvSpPr>
          <p:cNvPr id="307" name="Google Shape;337;p15"/>
          <p:cNvSpPr txBox="1"/>
          <p:nvPr/>
        </p:nvSpPr>
        <p:spPr>
          <a:xfrm>
            <a:off x="814325" y="2553699"/>
            <a:ext cx="6744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As described in the previous slides, when a WebSocket is opened it first sends to it the currently cached state. This ensures that as soon as clients request data, they receive a valid copy of it to display, while still getting live updates later.</a:t>
            </a:r>
          </a:p>
        </p:txBody>
      </p:sp>
      <p:sp>
        <p:nvSpPr>
          <p:cNvPr id="308" name="Google Shape;338;p15"/>
          <p:cNvSpPr txBox="1"/>
          <p:nvPr/>
        </p:nvSpPr>
        <p:spPr>
          <a:xfrm>
            <a:off x="814325" y="3126850"/>
            <a:ext cx="6744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Additionally, it enables discovery of all available metrics and their names and info by the frontend, making sure that it doesn’t have to hardcode almost anything.</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10" name="Google Shape;344;p16" descr="Google Shape;344;p16"/>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311" name="Google Shape;345;p16"/>
          <p:cNvSpPr txBox="1"/>
          <p:nvPr/>
        </p:nvSpPr>
        <p:spPr>
          <a:xfrm>
            <a:off x="6850856" y="214313"/>
            <a:ext cx="20073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SERVICE // ACTUATOR</a:t>
            </a:r>
          </a:p>
        </p:txBody>
      </p:sp>
      <p:sp>
        <p:nvSpPr>
          <p:cNvPr id="312" name="Google Shape;346;p16"/>
          <p:cNvSpPr/>
          <p:nvPr/>
        </p:nvSpPr>
        <p:spPr>
          <a:xfrm>
            <a:off x="457200" y="428625"/>
            <a:ext cx="8229600" cy="428625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313" name="Google Shape;347;p16"/>
          <p:cNvSpPr txBox="1"/>
          <p:nvPr/>
        </p:nvSpPr>
        <p:spPr>
          <a:xfrm>
            <a:off x="742950" y="79944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ACTUATOR SERVICE</a:t>
            </a:r>
          </a:p>
        </p:txBody>
      </p:sp>
      <p:sp>
        <p:nvSpPr>
          <p:cNvPr id="314" name="Google Shape;348;p16"/>
          <p:cNvSpPr/>
          <p:nvPr/>
        </p:nvSpPr>
        <p:spPr>
          <a:xfrm>
            <a:off x="742950" y="1257300"/>
            <a:ext cx="7658100" cy="571500"/>
          </a:xfrm>
          <a:prstGeom prst="rect">
            <a:avLst/>
          </a:prstGeom>
          <a:solidFill>
            <a:srgbClr val="00FFFF">
              <a:alpha val="3137"/>
            </a:srgbClr>
          </a:solidFill>
          <a:ln w="12700">
            <a:miter lim="400000"/>
          </a:ln>
        </p:spPr>
        <p:txBody>
          <a:bodyPr lIns="0" tIns="0" rIns="0" bIns="0" anchor="ctr"/>
          <a:lstStyle/>
          <a:p>
            <a:pPr/>
          </a:p>
        </p:txBody>
      </p:sp>
      <p:sp>
        <p:nvSpPr>
          <p:cNvPr id="315" name="Google Shape;349;p16"/>
          <p:cNvSpPr/>
          <p:nvPr/>
        </p:nvSpPr>
        <p:spPr>
          <a:xfrm>
            <a:off x="742949" y="1257300"/>
            <a:ext cx="21433" cy="571500"/>
          </a:xfrm>
          <a:prstGeom prst="rect">
            <a:avLst/>
          </a:prstGeom>
          <a:solidFill>
            <a:srgbClr val="00FFFF"/>
          </a:solidFill>
          <a:ln w="12700">
            <a:miter lim="400000"/>
          </a:ln>
        </p:spPr>
        <p:txBody>
          <a:bodyPr lIns="0" tIns="0" rIns="0" bIns="0" anchor="ctr"/>
          <a:lstStyle/>
          <a:p>
            <a:pPr/>
          </a:p>
        </p:txBody>
      </p:sp>
      <p:pic>
        <p:nvPicPr>
          <p:cNvPr id="316" name="Google Shape;350;p16" descr="Google Shape;350;p16"/>
          <p:cNvPicPr>
            <a:picLocks noChangeAspect="1"/>
          </p:cNvPicPr>
          <p:nvPr/>
        </p:nvPicPr>
        <p:blipFill>
          <a:blip r:embed="rId4">
            <a:extLst/>
          </a:blip>
          <a:stretch>
            <a:fillRect/>
          </a:stretch>
        </p:blipFill>
        <p:spPr>
          <a:xfrm>
            <a:off x="850105" y="1364455"/>
            <a:ext cx="178595" cy="35720"/>
          </a:xfrm>
          <a:prstGeom prst="rect">
            <a:avLst/>
          </a:prstGeom>
          <a:ln w="12700">
            <a:miter lim="400000"/>
          </a:ln>
        </p:spPr>
      </p:pic>
      <p:sp>
        <p:nvSpPr>
          <p:cNvPr id="317" name="Google Shape;351;p16"/>
          <p:cNvSpPr txBox="1"/>
          <p:nvPr/>
        </p:nvSpPr>
        <p:spPr>
          <a:xfrm>
            <a:off x="1171574" y="1364455"/>
            <a:ext cx="520779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FUNCTION</a:t>
            </a:r>
          </a:p>
        </p:txBody>
      </p:sp>
      <p:sp>
        <p:nvSpPr>
          <p:cNvPr id="318" name="Google Shape;352;p16"/>
          <p:cNvSpPr txBox="1"/>
          <p:nvPr/>
        </p:nvSpPr>
        <p:spPr>
          <a:xfrm>
            <a:off x="1171574" y="1526977"/>
            <a:ext cx="520779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Acts as the "bridge" between the Automation Engine (logic provider) and the physical actuators of the Martian habitat.</a:t>
            </a:r>
          </a:p>
        </p:txBody>
      </p:sp>
      <p:sp>
        <p:nvSpPr>
          <p:cNvPr id="319" name="Google Shape;353;p16"/>
          <p:cNvSpPr/>
          <p:nvPr/>
        </p:nvSpPr>
        <p:spPr>
          <a:xfrm>
            <a:off x="742950" y="1935956"/>
            <a:ext cx="7658100" cy="571501"/>
          </a:xfrm>
          <a:prstGeom prst="rect">
            <a:avLst/>
          </a:prstGeom>
          <a:solidFill>
            <a:srgbClr val="00FFFF">
              <a:alpha val="3137"/>
            </a:srgbClr>
          </a:solidFill>
          <a:ln w="12700">
            <a:miter lim="400000"/>
          </a:ln>
        </p:spPr>
        <p:txBody>
          <a:bodyPr lIns="0" tIns="0" rIns="0" bIns="0" anchor="ctr"/>
          <a:lstStyle/>
          <a:p>
            <a:pPr/>
          </a:p>
        </p:txBody>
      </p:sp>
      <p:sp>
        <p:nvSpPr>
          <p:cNvPr id="320" name="Google Shape;354;p16"/>
          <p:cNvSpPr/>
          <p:nvPr/>
        </p:nvSpPr>
        <p:spPr>
          <a:xfrm>
            <a:off x="742949" y="1935956"/>
            <a:ext cx="21433" cy="571501"/>
          </a:xfrm>
          <a:prstGeom prst="rect">
            <a:avLst/>
          </a:prstGeom>
          <a:solidFill>
            <a:srgbClr val="00FFFF"/>
          </a:solidFill>
          <a:ln w="12700">
            <a:miter lim="400000"/>
          </a:ln>
        </p:spPr>
        <p:txBody>
          <a:bodyPr lIns="0" tIns="0" rIns="0" bIns="0" anchor="ctr"/>
          <a:lstStyle/>
          <a:p>
            <a:pPr/>
          </a:p>
        </p:txBody>
      </p:sp>
      <p:pic>
        <p:nvPicPr>
          <p:cNvPr id="321" name="Google Shape;355;p16" descr="Google Shape;355;p16"/>
          <p:cNvPicPr>
            <a:picLocks noChangeAspect="1"/>
          </p:cNvPicPr>
          <p:nvPr/>
        </p:nvPicPr>
        <p:blipFill>
          <a:blip r:embed="rId5">
            <a:extLst/>
          </a:blip>
          <a:stretch>
            <a:fillRect/>
          </a:stretch>
        </p:blipFill>
        <p:spPr>
          <a:xfrm>
            <a:off x="850105" y="2043113"/>
            <a:ext cx="178595" cy="178595"/>
          </a:xfrm>
          <a:prstGeom prst="rect">
            <a:avLst/>
          </a:prstGeom>
          <a:ln w="12700">
            <a:miter lim="400000"/>
          </a:ln>
        </p:spPr>
      </p:pic>
      <p:sp>
        <p:nvSpPr>
          <p:cNvPr id="322" name="Google Shape;356;p16"/>
          <p:cNvSpPr txBox="1"/>
          <p:nvPr/>
        </p:nvSpPr>
        <p:spPr>
          <a:xfrm>
            <a:off x="1171575" y="2043113"/>
            <a:ext cx="396120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SUBSCRIPTION</a:t>
            </a:r>
          </a:p>
        </p:txBody>
      </p:sp>
      <p:sp>
        <p:nvSpPr>
          <p:cNvPr id="323" name="Google Shape;357;p16"/>
          <p:cNvSpPr txBox="1"/>
          <p:nvPr/>
        </p:nvSpPr>
        <p:spPr>
          <a:xfrm>
            <a:off x="1171575" y="2205633"/>
            <a:ext cx="396120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1306"/>
              </a:lnSpc>
              <a:defRPr sz="700">
                <a:solidFill>
                  <a:srgbClr val="E0E0E0"/>
                </a:solidFill>
                <a:latin typeface="Roboto Regular Regular"/>
                <a:ea typeface="Roboto Regular Regular"/>
                <a:cs typeface="Roboto Regular Regular"/>
                <a:sym typeface="Roboto Regular Regular"/>
              </a:defRPr>
            </a:pPr>
            <a:r>
              <a:t>Listens to the dedicated command topic (multicast/ </a:t>
            </a:r>
            <a:r>
              <a:rPr>
                <a:solidFill>
                  <a:srgbClr val="00FFFF"/>
                </a:solidFill>
              </a:rPr>
              <a:t>actuator.commands</a:t>
            </a:r>
            <a:r>
              <a:t>) on AMQ/Kafka.</a:t>
            </a:r>
          </a:p>
        </p:txBody>
      </p:sp>
      <p:sp>
        <p:nvSpPr>
          <p:cNvPr id="324" name="Google Shape;358;p16"/>
          <p:cNvSpPr/>
          <p:nvPr/>
        </p:nvSpPr>
        <p:spPr>
          <a:xfrm>
            <a:off x="742950" y="2614613"/>
            <a:ext cx="7658100" cy="571501"/>
          </a:xfrm>
          <a:prstGeom prst="rect">
            <a:avLst/>
          </a:prstGeom>
          <a:solidFill>
            <a:srgbClr val="00FFFF">
              <a:alpha val="3137"/>
            </a:srgbClr>
          </a:solidFill>
          <a:ln w="12700">
            <a:miter lim="400000"/>
          </a:ln>
        </p:spPr>
        <p:txBody>
          <a:bodyPr lIns="0" tIns="0" rIns="0" bIns="0" anchor="ctr"/>
          <a:lstStyle/>
          <a:p>
            <a:pPr/>
          </a:p>
        </p:txBody>
      </p:sp>
      <p:sp>
        <p:nvSpPr>
          <p:cNvPr id="325" name="Google Shape;359;p16"/>
          <p:cNvSpPr/>
          <p:nvPr/>
        </p:nvSpPr>
        <p:spPr>
          <a:xfrm>
            <a:off x="742949" y="2614613"/>
            <a:ext cx="21433" cy="571501"/>
          </a:xfrm>
          <a:prstGeom prst="rect">
            <a:avLst/>
          </a:prstGeom>
          <a:solidFill>
            <a:srgbClr val="00FFFF"/>
          </a:solidFill>
          <a:ln w="12700">
            <a:miter lim="400000"/>
          </a:ln>
        </p:spPr>
        <p:txBody>
          <a:bodyPr lIns="0" tIns="0" rIns="0" bIns="0" anchor="ctr"/>
          <a:lstStyle/>
          <a:p>
            <a:pPr/>
          </a:p>
        </p:txBody>
      </p:sp>
      <p:pic>
        <p:nvPicPr>
          <p:cNvPr id="326" name="Google Shape;360;p16" descr="Google Shape;360;p16"/>
          <p:cNvPicPr>
            <a:picLocks noChangeAspect="1"/>
          </p:cNvPicPr>
          <p:nvPr/>
        </p:nvPicPr>
        <p:blipFill>
          <a:blip r:embed="rId6">
            <a:extLst/>
          </a:blip>
          <a:stretch>
            <a:fillRect/>
          </a:stretch>
        </p:blipFill>
        <p:spPr>
          <a:xfrm>
            <a:off x="850105" y="2721768"/>
            <a:ext cx="178595" cy="178595"/>
          </a:xfrm>
          <a:prstGeom prst="rect">
            <a:avLst/>
          </a:prstGeom>
          <a:ln w="12700">
            <a:miter lim="400000"/>
          </a:ln>
        </p:spPr>
      </p:pic>
      <p:sp>
        <p:nvSpPr>
          <p:cNvPr id="327" name="Google Shape;361;p16"/>
          <p:cNvSpPr txBox="1"/>
          <p:nvPr/>
        </p:nvSpPr>
        <p:spPr>
          <a:xfrm>
            <a:off x="1171574" y="2721768"/>
            <a:ext cx="46952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VALIDATION</a:t>
            </a:r>
          </a:p>
        </p:txBody>
      </p:sp>
      <p:sp>
        <p:nvSpPr>
          <p:cNvPr id="328" name="Google Shape;362;p16"/>
          <p:cNvSpPr txBox="1"/>
          <p:nvPr/>
        </p:nvSpPr>
        <p:spPr>
          <a:xfrm>
            <a:off x="1171574" y="2900363"/>
            <a:ext cx="34825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Ensures the command matches the JSON schema defined in the contract.</a:t>
            </a:r>
          </a:p>
        </p:txBody>
      </p:sp>
      <p:sp>
        <p:nvSpPr>
          <p:cNvPr id="329" name="Google Shape;363;p16"/>
          <p:cNvSpPr/>
          <p:nvPr/>
        </p:nvSpPr>
        <p:spPr>
          <a:xfrm>
            <a:off x="4654153" y="2880716"/>
            <a:ext cx="1150145" cy="146448"/>
          </a:xfrm>
          <a:prstGeom prst="rect">
            <a:avLst/>
          </a:prstGeom>
          <a:solidFill>
            <a:srgbClr val="000000">
              <a:alpha val="30196"/>
            </a:srgbClr>
          </a:solidFill>
          <a:ln w="12700">
            <a:miter lim="400000"/>
          </a:ln>
        </p:spPr>
        <p:txBody>
          <a:bodyPr lIns="0" tIns="0" rIns="0" bIns="0" anchor="ctr"/>
          <a:lstStyle/>
          <a:p>
            <a:pPr/>
          </a:p>
        </p:txBody>
      </p:sp>
      <p:sp>
        <p:nvSpPr>
          <p:cNvPr id="330" name="Google Shape;364;p16"/>
          <p:cNvSpPr/>
          <p:nvPr/>
        </p:nvSpPr>
        <p:spPr>
          <a:xfrm>
            <a:off x="742950" y="3293269"/>
            <a:ext cx="7658100" cy="571501"/>
          </a:xfrm>
          <a:prstGeom prst="rect">
            <a:avLst/>
          </a:prstGeom>
          <a:solidFill>
            <a:srgbClr val="00FFFF">
              <a:alpha val="3137"/>
            </a:srgbClr>
          </a:solidFill>
          <a:ln w="12700">
            <a:miter lim="400000"/>
          </a:ln>
        </p:spPr>
        <p:txBody>
          <a:bodyPr lIns="0" tIns="0" rIns="0" bIns="0" anchor="ctr"/>
          <a:lstStyle/>
          <a:p>
            <a:pPr/>
          </a:p>
        </p:txBody>
      </p:sp>
      <p:sp>
        <p:nvSpPr>
          <p:cNvPr id="331" name="Google Shape;365;p16"/>
          <p:cNvSpPr/>
          <p:nvPr/>
        </p:nvSpPr>
        <p:spPr>
          <a:xfrm>
            <a:off x="742949" y="3293269"/>
            <a:ext cx="21433" cy="571501"/>
          </a:xfrm>
          <a:prstGeom prst="rect">
            <a:avLst/>
          </a:prstGeom>
          <a:solidFill>
            <a:srgbClr val="00FFFF"/>
          </a:solidFill>
          <a:ln w="12700">
            <a:miter lim="400000"/>
          </a:ln>
        </p:spPr>
        <p:txBody>
          <a:bodyPr lIns="0" tIns="0" rIns="0" bIns="0" anchor="ctr"/>
          <a:lstStyle/>
          <a:p>
            <a:pPr/>
          </a:p>
        </p:txBody>
      </p:sp>
      <p:pic>
        <p:nvPicPr>
          <p:cNvPr id="332" name="Google Shape;366;p16" descr="Google Shape;366;p16"/>
          <p:cNvPicPr>
            <a:picLocks noChangeAspect="1"/>
          </p:cNvPicPr>
          <p:nvPr/>
        </p:nvPicPr>
        <p:blipFill>
          <a:blip r:embed="rId7">
            <a:extLst/>
          </a:blip>
          <a:stretch>
            <a:fillRect/>
          </a:stretch>
        </p:blipFill>
        <p:spPr>
          <a:xfrm>
            <a:off x="850105" y="3400425"/>
            <a:ext cx="160735" cy="178595"/>
          </a:xfrm>
          <a:prstGeom prst="rect">
            <a:avLst/>
          </a:prstGeom>
          <a:ln w="12700">
            <a:miter lim="400000"/>
          </a:ln>
        </p:spPr>
      </p:pic>
      <p:sp>
        <p:nvSpPr>
          <p:cNvPr id="333" name="Google Shape;367;p16"/>
          <p:cNvSpPr txBox="1"/>
          <p:nvPr/>
        </p:nvSpPr>
        <p:spPr>
          <a:xfrm>
            <a:off x="1153715" y="3400425"/>
            <a:ext cx="71401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EXECUTION</a:t>
            </a:r>
          </a:p>
        </p:txBody>
      </p:sp>
      <p:sp>
        <p:nvSpPr>
          <p:cNvPr id="334" name="Google Shape;368;p16"/>
          <p:cNvSpPr txBox="1"/>
          <p:nvPr/>
        </p:nvSpPr>
        <p:spPr>
          <a:xfrm>
            <a:off x="1153715" y="3579019"/>
            <a:ext cx="308431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Provides a REST POST request to the specific actuator endpoint (e.g.,</a:t>
            </a:r>
          </a:p>
        </p:txBody>
      </p:sp>
      <p:sp>
        <p:nvSpPr>
          <p:cNvPr id="335" name="Google Shape;369;p16"/>
          <p:cNvSpPr/>
          <p:nvPr/>
        </p:nvSpPr>
        <p:spPr>
          <a:xfrm>
            <a:off x="4238030" y="3559373"/>
            <a:ext cx="1635920" cy="146448"/>
          </a:xfrm>
          <a:prstGeom prst="rect">
            <a:avLst/>
          </a:prstGeom>
          <a:solidFill>
            <a:srgbClr val="000000">
              <a:alpha val="30196"/>
            </a:srgbClr>
          </a:solidFill>
          <a:ln w="12700">
            <a:miter lim="400000"/>
          </a:ln>
        </p:spPr>
        <p:txBody>
          <a:bodyPr lIns="0" tIns="0" rIns="0" bIns="0" anchor="ctr"/>
          <a:lstStyle/>
          <a:p>
            <a:pPr/>
          </a:p>
        </p:txBody>
      </p:sp>
      <p:sp>
        <p:nvSpPr>
          <p:cNvPr id="336" name="Google Shape;370;p16"/>
          <p:cNvSpPr txBox="1"/>
          <p:nvPr/>
        </p:nvSpPr>
        <p:spPr>
          <a:xfrm>
            <a:off x="4263555" y="3559373"/>
            <a:ext cx="1584870" cy="1313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latin typeface="Roboto Mono Regular Regular"/>
                <a:ea typeface="Roboto Mono Regular Regular"/>
                <a:cs typeface="Roboto Mono Regular Regular"/>
                <a:sym typeface="Roboto Mono Regular Regular"/>
              </a:defRPr>
            </a:lvl1pPr>
          </a:lstStyle>
          <a:p>
            <a:pPr/>
            <a:r>
              <a:t>/api/actuators/cooling_fan</a:t>
            </a:r>
          </a:p>
        </p:txBody>
      </p:sp>
      <p:sp>
        <p:nvSpPr>
          <p:cNvPr id="337" name="Google Shape;371;p16"/>
          <p:cNvSpPr txBox="1"/>
          <p:nvPr/>
        </p:nvSpPr>
        <p:spPr>
          <a:xfrm>
            <a:off x="5873948" y="3579019"/>
            <a:ext cx="21359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 to update its state. The new state is sent to the</a:t>
            </a:r>
          </a:p>
        </p:txBody>
      </p:sp>
      <p:sp>
        <p:nvSpPr>
          <p:cNvPr id="338" name="Google Shape;372;p16"/>
          <p:cNvSpPr txBox="1"/>
          <p:nvPr/>
        </p:nvSpPr>
        <p:spPr>
          <a:xfrm>
            <a:off x="1153716" y="3724376"/>
            <a:ext cx="31253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Queue</a:t>
            </a:r>
          </a:p>
        </p:txBody>
      </p:sp>
      <p:sp>
        <p:nvSpPr>
          <p:cNvPr id="339" name="Google Shape;373;p16"/>
          <p:cNvSpPr/>
          <p:nvPr/>
        </p:nvSpPr>
        <p:spPr>
          <a:xfrm>
            <a:off x="1466254" y="3704732"/>
            <a:ext cx="1089423" cy="146448"/>
          </a:xfrm>
          <a:prstGeom prst="rect">
            <a:avLst/>
          </a:prstGeom>
          <a:solidFill>
            <a:srgbClr val="000000">
              <a:alpha val="30196"/>
            </a:srgbClr>
          </a:solidFill>
          <a:ln w="12700">
            <a:miter lim="400000"/>
          </a:ln>
        </p:spPr>
        <p:txBody>
          <a:bodyPr lIns="0" tIns="0" rIns="0" bIns="0" anchor="ctr"/>
          <a:lstStyle/>
          <a:p>
            <a:pPr/>
          </a:p>
        </p:txBody>
      </p:sp>
      <p:sp>
        <p:nvSpPr>
          <p:cNvPr id="340" name="Google Shape;374;p16"/>
          <p:cNvSpPr txBox="1"/>
          <p:nvPr/>
        </p:nvSpPr>
        <p:spPr>
          <a:xfrm>
            <a:off x="1491779" y="3704732"/>
            <a:ext cx="1038373" cy="1313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latin typeface="Roboto Mono Regular Regular"/>
                <a:ea typeface="Roboto Mono Regular Regular"/>
                <a:cs typeface="Roboto Mono Regular Regular"/>
                <a:sym typeface="Roboto Mono Regular Regular"/>
              </a:defRPr>
            </a:lvl1pPr>
          </a:lstStyle>
          <a:p>
            <a:pPr/>
            <a:r>
              <a:t>actuator.commands</a:t>
            </a:r>
          </a:p>
        </p:txBody>
      </p:sp>
      <p:sp>
        <p:nvSpPr>
          <p:cNvPr id="341" name="Google Shape;375;p16"/>
          <p:cNvSpPr txBox="1"/>
          <p:nvPr/>
        </p:nvSpPr>
        <p:spPr>
          <a:xfrm>
            <a:off x="2555676" y="3724376"/>
            <a:ext cx="50792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 managed by the Converter Service who will then update the state of the actuator with a REST call to the Simulator.</a:t>
            </a:r>
          </a:p>
        </p:txBody>
      </p:sp>
      <p:sp>
        <p:nvSpPr>
          <p:cNvPr id="342" name="Google Shape;376;p16"/>
          <p:cNvSpPr/>
          <p:nvPr/>
        </p:nvSpPr>
        <p:spPr>
          <a:xfrm>
            <a:off x="742950" y="3971925"/>
            <a:ext cx="7658100" cy="571500"/>
          </a:xfrm>
          <a:prstGeom prst="rect">
            <a:avLst/>
          </a:prstGeom>
          <a:solidFill>
            <a:srgbClr val="00FFFF">
              <a:alpha val="3137"/>
            </a:srgbClr>
          </a:solidFill>
          <a:ln w="12700">
            <a:miter lim="400000"/>
          </a:ln>
        </p:spPr>
        <p:txBody>
          <a:bodyPr lIns="0" tIns="0" rIns="0" bIns="0" anchor="ctr"/>
          <a:lstStyle/>
          <a:p>
            <a:pPr/>
          </a:p>
        </p:txBody>
      </p:sp>
      <p:sp>
        <p:nvSpPr>
          <p:cNvPr id="343" name="Google Shape;377;p16"/>
          <p:cNvSpPr/>
          <p:nvPr/>
        </p:nvSpPr>
        <p:spPr>
          <a:xfrm>
            <a:off x="742949" y="3971925"/>
            <a:ext cx="21433" cy="571500"/>
          </a:xfrm>
          <a:prstGeom prst="rect">
            <a:avLst/>
          </a:prstGeom>
          <a:solidFill>
            <a:srgbClr val="00FFFF"/>
          </a:solidFill>
          <a:ln w="12700">
            <a:miter lim="400000"/>
          </a:ln>
        </p:spPr>
        <p:txBody>
          <a:bodyPr lIns="0" tIns="0" rIns="0" bIns="0" anchor="ctr"/>
          <a:lstStyle/>
          <a:p>
            <a:pPr/>
          </a:p>
        </p:txBody>
      </p:sp>
      <p:pic>
        <p:nvPicPr>
          <p:cNvPr id="344" name="Google Shape;378;p16" descr="Google Shape;378;p16"/>
          <p:cNvPicPr>
            <a:picLocks noChangeAspect="1"/>
          </p:cNvPicPr>
          <p:nvPr/>
        </p:nvPicPr>
        <p:blipFill>
          <a:blip r:embed="rId8">
            <a:extLst/>
          </a:blip>
          <a:stretch>
            <a:fillRect/>
          </a:stretch>
        </p:blipFill>
        <p:spPr>
          <a:xfrm>
            <a:off x="850105" y="4079080"/>
            <a:ext cx="160735" cy="178595"/>
          </a:xfrm>
          <a:prstGeom prst="rect">
            <a:avLst/>
          </a:prstGeom>
          <a:ln w="12700">
            <a:miter lim="400000"/>
          </a:ln>
        </p:spPr>
      </p:pic>
      <p:sp>
        <p:nvSpPr>
          <p:cNvPr id="345" name="Google Shape;379;p16"/>
          <p:cNvSpPr txBox="1"/>
          <p:nvPr/>
        </p:nvSpPr>
        <p:spPr>
          <a:xfrm>
            <a:off x="1153715" y="4079080"/>
            <a:ext cx="71401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REAL-TIME STATE BROADCASTING</a:t>
            </a:r>
          </a:p>
        </p:txBody>
      </p:sp>
      <p:sp>
        <p:nvSpPr>
          <p:cNvPr id="346" name="Google Shape;380;p16"/>
          <p:cNvSpPr txBox="1"/>
          <p:nvPr/>
        </p:nvSpPr>
        <p:spPr>
          <a:xfrm>
            <a:off x="1153716" y="4257675"/>
            <a:ext cx="20591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Exposes dedicated WebSocket channels (e.g.,</a:t>
            </a:r>
          </a:p>
        </p:txBody>
      </p:sp>
      <p:sp>
        <p:nvSpPr>
          <p:cNvPr id="347" name="Google Shape;381;p16"/>
          <p:cNvSpPr/>
          <p:nvPr/>
        </p:nvSpPr>
        <p:spPr>
          <a:xfrm>
            <a:off x="3212901" y="4238030"/>
            <a:ext cx="1089423" cy="146448"/>
          </a:xfrm>
          <a:prstGeom prst="rect">
            <a:avLst/>
          </a:prstGeom>
          <a:solidFill>
            <a:srgbClr val="000000">
              <a:alpha val="30196"/>
            </a:srgbClr>
          </a:solidFill>
          <a:ln w="12700">
            <a:miter lim="400000"/>
          </a:ln>
        </p:spPr>
        <p:txBody>
          <a:bodyPr lIns="0" tIns="0" rIns="0" bIns="0" anchor="ctr"/>
          <a:lstStyle/>
          <a:p>
            <a:pPr/>
          </a:p>
        </p:txBody>
      </p:sp>
      <p:sp>
        <p:nvSpPr>
          <p:cNvPr id="348" name="Google Shape;382;p16"/>
          <p:cNvSpPr txBox="1"/>
          <p:nvPr/>
        </p:nvSpPr>
        <p:spPr>
          <a:xfrm>
            <a:off x="3238426" y="4238030"/>
            <a:ext cx="1038373" cy="1313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51306"/>
              </a:lnSpc>
              <a:defRPr sz="700">
                <a:solidFill>
                  <a:srgbClr val="FF4500"/>
                </a:solidFill>
                <a:latin typeface="Roboto Mono Regular Regular"/>
                <a:ea typeface="Roboto Mono Regular Regular"/>
                <a:cs typeface="Roboto Mono Regular Regular"/>
                <a:sym typeface="Roboto Mono Regular Regular"/>
              </a:defRPr>
            </a:lvl1pPr>
          </a:lstStyle>
          <a:p>
            <a:pPr/>
            <a:r>
              <a:t>/api/actuators/ws</a:t>
            </a:r>
          </a:p>
        </p:txBody>
      </p:sp>
      <p:sp>
        <p:nvSpPr>
          <p:cNvPr id="349" name="Google Shape;383;p16"/>
          <p:cNvSpPr txBox="1"/>
          <p:nvPr/>
        </p:nvSpPr>
        <p:spPr>
          <a:xfrm>
            <a:off x="4302323" y="4257675"/>
            <a:ext cx="394513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 to instantly push live state changes to the frontend. This ensures operators immediately</a:t>
            </a:r>
          </a:p>
        </p:txBody>
      </p:sp>
      <p:sp>
        <p:nvSpPr>
          <p:cNvPr id="350" name="Google Shape;384;p16"/>
          <p:cNvSpPr txBox="1"/>
          <p:nvPr/>
        </p:nvSpPr>
        <p:spPr>
          <a:xfrm>
            <a:off x="1153715" y="4397676"/>
            <a:ext cx="52167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1306"/>
              </a:lnSpc>
              <a:defRPr sz="700">
                <a:solidFill>
                  <a:srgbClr val="E0E0E0"/>
                </a:solidFill>
                <a:latin typeface="Roboto Regular Regular"/>
                <a:ea typeface="Roboto Regular Regular"/>
                <a:cs typeface="Roboto Regular Regular"/>
                <a:sym typeface="Roboto Regular Regular"/>
              </a:defRPr>
            </a:lvl1pPr>
          </a:lstStyle>
          <a:p>
            <a:pPr/>
            <a:r>
              <a:t>see the physical response (ON/OFF) to their manual commands or automated rules without refreshing the dashboard.</a:t>
            </a:r>
          </a:p>
        </p:txBody>
      </p:sp>
      <p:pic>
        <p:nvPicPr>
          <p:cNvPr id="351" name="Google Shape;385;p16" descr="Google Shape;385;p16"/>
          <p:cNvPicPr>
            <a:picLocks noChangeAspect="1"/>
          </p:cNvPicPr>
          <p:nvPr/>
        </p:nvPicPr>
        <p:blipFill>
          <a:blip r:embed="rId9">
            <a:extLst/>
          </a:blip>
          <a:stretch>
            <a:fillRect/>
          </a:stretch>
        </p:blipFill>
        <p:spPr>
          <a:xfrm>
            <a:off x="878680" y="1435886"/>
            <a:ext cx="178595" cy="142876"/>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55" name="Google Shape;391;p17" descr="Google Shape;391;p17"/>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356" name="Google Shape;392;p17"/>
          <p:cNvSpPr txBox="1"/>
          <p:nvPr/>
        </p:nvSpPr>
        <p:spPr>
          <a:xfrm>
            <a:off x="6470451" y="285749"/>
            <a:ext cx="23877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CONVERTER-SERVICE // V1.0</a:t>
            </a:r>
          </a:p>
        </p:txBody>
      </p:sp>
      <p:sp>
        <p:nvSpPr>
          <p:cNvPr id="357" name="Google Shape;393;p17"/>
          <p:cNvSpPr/>
          <p:nvPr/>
        </p:nvSpPr>
        <p:spPr>
          <a:xfrm>
            <a:off x="457200" y="607218"/>
            <a:ext cx="8229600" cy="3929102"/>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358" name="Google Shape;394;p17"/>
          <p:cNvSpPr txBox="1"/>
          <p:nvPr/>
        </p:nvSpPr>
        <p:spPr>
          <a:xfrm>
            <a:off x="814387" y="964405"/>
            <a:ext cx="751530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ACTUATOR SERVICE</a:t>
            </a:r>
          </a:p>
        </p:txBody>
      </p:sp>
      <p:sp>
        <p:nvSpPr>
          <p:cNvPr id="359" name="Google Shape;395;p17"/>
          <p:cNvSpPr txBox="1"/>
          <p:nvPr/>
        </p:nvSpPr>
        <p:spPr>
          <a:xfrm>
            <a:off x="814325" y="1605549"/>
            <a:ext cx="6744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The actuator service also acts as middleware between the backend’s internal event queues and cache and a user or frontend,</a:t>
            </a:r>
          </a:p>
        </p:txBody>
      </p:sp>
      <p:sp>
        <p:nvSpPr>
          <p:cNvPr id="360" name="Google Shape;396;p17"/>
          <p:cNvSpPr txBox="1"/>
          <p:nvPr/>
        </p:nvSpPr>
        <p:spPr>
          <a:xfrm>
            <a:off x="814400" y="1804334"/>
            <a:ext cx="6744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however this time that is relative to the actuators’ state and their updates. For this reason, in addition to the discovery features and WebSockets for live state updates, it also provides POST endpoints to manually toggle actuators from the dashboard.</a:t>
            </a:r>
          </a:p>
        </p:txBody>
      </p:sp>
      <p:sp>
        <p:nvSpPr>
          <p:cNvPr id="361" name="Google Shape;397;p17"/>
          <p:cNvSpPr txBox="1"/>
          <p:nvPr/>
        </p:nvSpPr>
        <p:spPr>
          <a:xfrm>
            <a:off x="814400" y="2377933"/>
            <a:ext cx="6744600" cy="3751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Like the metrics service, it also caches actuators’ state.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63" name="Google Shape;403;p18" descr="Google Shape;403;p18"/>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364" name="Google Shape;404;p18"/>
          <p:cNvSpPr txBox="1"/>
          <p:nvPr/>
        </p:nvSpPr>
        <p:spPr>
          <a:xfrm>
            <a:off x="6532959" y="285749"/>
            <a:ext cx="232529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COMMUNICATION // WS_V1.0</a:t>
            </a:r>
          </a:p>
        </p:txBody>
      </p:sp>
      <p:sp>
        <p:nvSpPr>
          <p:cNvPr id="365" name="Google Shape;405;p18"/>
          <p:cNvSpPr/>
          <p:nvPr/>
        </p:nvSpPr>
        <p:spPr>
          <a:xfrm>
            <a:off x="457200" y="607219"/>
            <a:ext cx="8229600" cy="3929063"/>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366" name="Google Shape;406;p18"/>
          <p:cNvSpPr txBox="1"/>
          <p:nvPr/>
        </p:nvSpPr>
        <p:spPr>
          <a:xfrm>
            <a:off x="742950" y="89296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WEBSOCKETS</a:t>
            </a:r>
          </a:p>
        </p:txBody>
      </p:sp>
      <p:sp>
        <p:nvSpPr>
          <p:cNvPr id="367" name="Google Shape;407;p18"/>
          <p:cNvSpPr/>
          <p:nvPr/>
        </p:nvSpPr>
        <p:spPr>
          <a:xfrm>
            <a:off x="742950" y="1507330"/>
            <a:ext cx="7658100" cy="1143001"/>
          </a:xfrm>
          <a:prstGeom prst="rect">
            <a:avLst/>
          </a:prstGeom>
          <a:solidFill>
            <a:srgbClr val="00FFFF">
              <a:alpha val="5098"/>
            </a:srgbClr>
          </a:solidFill>
          <a:ln w="12700">
            <a:miter lim="400000"/>
          </a:ln>
        </p:spPr>
        <p:txBody>
          <a:bodyPr lIns="0" tIns="0" rIns="0" bIns="0" anchor="ctr"/>
          <a:lstStyle/>
          <a:p>
            <a:pPr/>
          </a:p>
        </p:txBody>
      </p:sp>
      <p:sp>
        <p:nvSpPr>
          <p:cNvPr id="368" name="Google Shape;408;p18"/>
          <p:cNvSpPr/>
          <p:nvPr/>
        </p:nvSpPr>
        <p:spPr>
          <a:xfrm>
            <a:off x="742950" y="1507330"/>
            <a:ext cx="28575" cy="1143001"/>
          </a:xfrm>
          <a:prstGeom prst="rect">
            <a:avLst/>
          </a:prstGeom>
          <a:solidFill>
            <a:srgbClr val="00FFFF"/>
          </a:solidFill>
          <a:ln w="12700">
            <a:miter lim="400000"/>
          </a:ln>
        </p:spPr>
        <p:txBody>
          <a:bodyPr lIns="0" tIns="0" rIns="0" bIns="0" anchor="ctr"/>
          <a:lstStyle/>
          <a:p>
            <a:pPr/>
          </a:p>
        </p:txBody>
      </p:sp>
      <p:pic>
        <p:nvPicPr>
          <p:cNvPr id="369" name="Google Shape;409;p18" descr="Google Shape;409;p18"/>
          <p:cNvPicPr>
            <a:picLocks noChangeAspect="1"/>
          </p:cNvPicPr>
          <p:nvPr/>
        </p:nvPicPr>
        <p:blipFill>
          <a:blip r:embed="rId4">
            <a:extLst/>
          </a:blip>
          <a:stretch>
            <a:fillRect/>
          </a:stretch>
        </p:blipFill>
        <p:spPr>
          <a:xfrm>
            <a:off x="885825" y="1650206"/>
            <a:ext cx="192881" cy="171451"/>
          </a:xfrm>
          <a:prstGeom prst="rect">
            <a:avLst/>
          </a:prstGeom>
          <a:ln w="12700">
            <a:miter lim="400000"/>
          </a:ln>
        </p:spPr>
      </p:pic>
      <p:sp>
        <p:nvSpPr>
          <p:cNvPr id="370" name="Google Shape;410;p18"/>
          <p:cNvSpPr txBox="1"/>
          <p:nvPr/>
        </p:nvSpPr>
        <p:spPr>
          <a:xfrm>
            <a:off x="1185862" y="1655564"/>
            <a:ext cx="24663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E0E0E0"/>
                </a:solidFill>
                <a:latin typeface="Orbitron Regular Regular"/>
                <a:ea typeface="Orbitron Regular Regular"/>
                <a:cs typeface="Orbitron Regular Regular"/>
                <a:sym typeface="Orbitron Regular Regular"/>
              </a:defRPr>
            </a:lvl1pPr>
          </a:lstStyle>
          <a:p>
            <a:pPr/>
            <a:r>
              <a:t>GLOBAL STATUS WEBSOCKET</a:t>
            </a:r>
          </a:p>
        </p:txBody>
      </p:sp>
      <p:sp>
        <p:nvSpPr>
          <p:cNvPr id="371" name="Google Shape;411;p18"/>
          <p:cNvSpPr/>
          <p:nvPr/>
        </p:nvSpPr>
        <p:spPr>
          <a:xfrm>
            <a:off x="3723680" y="1655564"/>
            <a:ext cx="2239567" cy="160735"/>
          </a:xfrm>
          <a:prstGeom prst="rect">
            <a:avLst/>
          </a:prstGeom>
          <a:solidFill>
            <a:srgbClr val="000000">
              <a:alpha val="30196"/>
            </a:srgbClr>
          </a:solidFill>
          <a:ln w="12700">
            <a:miter lim="400000"/>
          </a:ln>
        </p:spPr>
        <p:txBody>
          <a:bodyPr lIns="0" tIns="0" rIns="0" bIns="0" anchor="ctr"/>
          <a:lstStyle/>
          <a:p>
            <a:pPr/>
          </a:p>
        </p:txBody>
      </p:sp>
      <p:sp>
        <p:nvSpPr>
          <p:cNvPr id="372" name="Google Shape;412;p18"/>
          <p:cNvSpPr txBox="1"/>
          <p:nvPr/>
        </p:nvSpPr>
        <p:spPr>
          <a:xfrm>
            <a:off x="3774730" y="1655564"/>
            <a:ext cx="2137467" cy="148301"/>
          </a:xfrm>
          <a:prstGeom prst="rect">
            <a:avLst/>
          </a:prstGeom>
          <a:ln w="12700">
            <a:miter lim="400000"/>
          </a:ln>
          <a:extLst>
            <a:ext uri="{C572A759-6A51-4108-AA02-DFA0A04FC94B}">
              <ma14:wrappingTextBoxFlag xmlns:ma14="http://schemas.microsoft.com/office/mac/drawingml/2011/main" val="1"/>
            </a:ext>
          </a:extLst>
        </p:spPr>
        <p:txBody>
          <a:bodyPr lIns="16999" tIns="16999" rIns="16999" bIns="16999">
            <a:spAutoFit/>
          </a:bodyPr>
          <a:lstStyle>
            <a:lvl1pPr>
              <a:lnSpc>
                <a:spcPct val="123796"/>
              </a:lnSpc>
              <a:defRPr sz="700">
                <a:solidFill>
                  <a:srgbClr val="FF4500"/>
                </a:solidFill>
                <a:latin typeface="Roboto Mono Regular Regular"/>
                <a:ea typeface="Roboto Mono Regular Regular"/>
                <a:cs typeface="Roboto Mono Regular Regular"/>
                <a:sym typeface="Roboto Mono Regular Regular"/>
              </a:defRPr>
            </a:lvl1pPr>
          </a:lstStyle>
          <a:p>
            <a:pPr/>
            <a:r>
              <a:t>/api/sensors/ws &amp; /api/actuators/ws</a:t>
            </a:r>
          </a:p>
        </p:txBody>
      </p:sp>
      <p:sp>
        <p:nvSpPr>
          <p:cNvPr id="373" name="Google Shape;413;p18"/>
          <p:cNvSpPr txBox="1"/>
          <p:nvPr/>
        </p:nvSpPr>
        <p:spPr>
          <a:xfrm>
            <a:off x="885825" y="1928813"/>
            <a:ext cx="7372350" cy="3061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7865"/>
              </a:lnSpc>
              <a:defRPr sz="800">
                <a:solidFill>
                  <a:srgbClr val="E0E0E0"/>
                </a:solidFill>
                <a:latin typeface="Roboto Regular Regular"/>
                <a:ea typeface="Roboto Regular Regular"/>
                <a:cs typeface="Roboto Regular Regular"/>
                <a:sym typeface="Roboto Regular Regular"/>
              </a:defRPr>
            </a:lvl1pPr>
          </a:lstStyle>
          <a:p>
            <a:pPr/>
            <a:r>
              <a:t>Provides a broadcast stream of all sensor/actuator states, synchronizing the entire habitat dashboard upon connection by fetching the full dataset from the Redis cache.</a:t>
            </a:r>
          </a:p>
        </p:txBody>
      </p:sp>
      <p:sp>
        <p:nvSpPr>
          <p:cNvPr id="374" name="Google Shape;414;p18"/>
          <p:cNvSpPr/>
          <p:nvPr/>
        </p:nvSpPr>
        <p:spPr>
          <a:xfrm>
            <a:off x="742950" y="2900363"/>
            <a:ext cx="7658100" cy="1143001"/>
          </a:xfrm>
          <a:prstGeom prst="rect">
            <a:avLst/>
          </a:prstGeom>
          <a:solidFill>
            <a:srgbClr val="00FFFF">
              <a:alpha val="5098"/>
            </a:srgbClr>
          </a:solidFill>
          <a:ln w="12700">
            <a:miter lim="400000"/>
          </a:ln>
        </p:spPr>
        <p:txBody>
          <a:bodyPr lIns="0" tIns="0" rIns="0" bIns="0" anchor="ctr"/>
          <a:lstStyle/>
          <a:p>
            <a:pPr/>
          </a:p>
        </p:txBody>
      </p:sp>
      <p:sp>
        <p:nvSpPr>
          <p:cNvPr id="375" name="Google Shape;415;p18"/>
          <p:cNvSpPr/>
          <p:nvPr/>
        </p:nvSpPr>
        <p:spPr>
          <a:xfrm>
            <a:off x="742950" y="2900363"/>
            <a:ext cx="28575" cy="1143001"/>
          </a:xfrm>
          <a:prstGeom prst="rect">
            <a:avLst/>
          </a:prstGeom>
          <a:solidFill>
            <a:srgbClr val="00FFFF"/>
          </a:solidFill>
          <a:ln w="12700">
            <a:miter lim="400000"/>
          </a:ln>
        </p:spPr>
        <p:txBody>
          <a:bodyPr lIns="0" tIns="0" rIns="0" bIns="0" anchor="ctr"/>
          <a:lstStyle/>
          <a:p>
            <a:pPr/>
          </a:p>
        </p:txBody>
      </p:sp>
      <p:pic>
        <p:nvPicPr>
          <p:cNvPr id="376" name="Google Shape;416;p18" descr="Google Shape;416;p18"/>
          <p:cNvPicPr>
            <a:picLocks noChangeAspect="1"/>
          </p:cNvPicPr>
          <p:nvPr/>
        </p:nvPicPr>
        <p:blipFill>
          <a:blip r:embed="rId5">
            <a:extLst/>
          </a:blip>
          <a:stretch>
            <a:fillRect/>
          </a:stretch>
        </p:blipFill>
        <p:spPr>
          <a:xfrm>
            <a:off x="885825" y="3043238"/>
            <a:ext cx="171450" cy="171451"/>
          </a:xfrm>
          <a:prstGeom prst="rect">
            <a:avLst/>
          </a:prstGeom>
          <a:ln w="12700">
            <a:miter lim="400000"/>
          </a:ln>
        </p:spPr>
      </p:pic>
      <p:sp>
        <p:nvSpPr>
          <p:cNvPr id="377" name="Google Shape;417;p18"/>
          <p:cNvSpPr txBox="1"/>
          <p:nvPr/>
        </p:nvSpPr>
        <p:spPr>
          <a:xfrm>
            <a:off x="1164430" y="3048594"/>
            <a:ext cx="261461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E0E0E0"/>
                </a:solidFill>
                <a:latin typeface="Orbitron Regular Regular"/>
                <a:ea typeface="Orbitron Regular Regular"/>
                <a:cs typeface="Orbitron Regular Regular"/>
                <a:sym typeface="Orbitron Regular Regular"/>
              </a:defRPr>
            </a:lvl1pPr>
          </a:lstStyle>
          <a:p>
            <a:pPr/>
            <a:r>
              <a:t>TARGETED DEVICE WEBSOCKET</a:t>
            </a:r>
          </a:p>
        </p:txBody>
      </p:sp>
      <p:sp>
        <p:nvSpPr>
          <p:cNvPr id="378" name="Google Shape;418;p18"/>
          <p:cNvSpPr/>
          <p:nvPr/>
        </p:nvSpPr>
        <p:spPr>
          <a:xfrm>
            <a:off x="3850480" y="3048594"/>
            <a:ext cx="2846785" cy="160735"/>
          </a:xfrm>
          <a:prstGeom prst="rect">
            <a:avLst/>
          </a:prstGeom>
          <a:solidFill>
            <a:srgbClr val="000000">
              <a:alpha val="30196"/>
            </a:srgbClr>
          </a:solidFill>
          <a:ln w="12700">
            <a:miter lim="400000"/>
          </a:ln>
        </p:spPr>
        <p:txBody>
          <a:bodyPr lIns="0" tIns="0" rIns="0" bIns="0" anchor="ctr"/>
          <a:lstStyle/>
          <a:p>
            <a:pPr/>
          </a:p>
        </p:txBody>
      </p:sp>
      <p:sp>
        <p:nvSpPr>
          <p:cNvPr id="379" name="Google Shape;419;p18"/>
          <p:cNvSpPr txBox="1"/>
          <p:nvPr/>
        </p:nvSpPr>
        <p:spPr>
          <a:xfrm>
            <a:off x="3901530" y="3048594"/>
            <a:ext cx="2744685" cy="148301"/>
          </a:xfrm>
          <a:prstGeom prst="rect">
            <a:avLst/>
          </a:prstGeom>
          <a:ln w="12700">
            <a:miter lim="400000"/>
          </a:ln>
          <a:extLst>
            <a:ext uri="{C572A759-6A51-4108-AA02-DFA0A04FC94B}">
              <ma14:wrappingTextBoxFlag xmlns:ma14="http://schemas.microsoft.com/office/mac/drawingml/2011/main" val="1"/>
            </a:ext>
          </a:extLst>
        </p:spPr>
        <p:txBody>
          <a:bodyPr lIns="16999" tIns="16999" rIns="16999" bIns="16999">
            <a:spAutoFit/>
          </a:bodyPr>
          <a:lstStyle>
            <a:lvl1pPr>
              <a:lnSpc>
                <a:spcPct val="123796"/>
              </a:lnSpc>
              <a:defRPr sz="700">
                <a:solidFill>
                  <a:srgbClr val="FF4500"/>
                </a:solidFill>
                <a:latin typeface="Roboto Mono Regular Regular"/>
                <a:ea typeface="Roboto Mono Regular Regular"/>
                <a:cs typeface="Roboto Mono Regular Regular"/>
                <a:sym typeface="Roboto Mono Regular Regular"/>
              </a:defRPr>
            </a:lvl1pPr>
          </a:lstStyle>
          <a:p>
            <a:pPr/>
            <a:r>
              <a:t>/api/sensors/{id}/ws &amp; /api/actuators/{id}/ws</a:t>
            </a:r>
          </a:p>
        </p:txBody>
      </p:sp>
      <p:sp>
        <p:nvSpPr>
          <p:cNvPr id="380" name="Google Shape;420;p18"/>
          <p:cNvSpPr txBox="1"/>
          <p:nvPr/>
        </p:nvSpPr>
        <p:spPr>
          <a:xfrm>
            <a:off x="885825" y="3321844"/>
            <a:ext cx="737235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7865"/>
              </a:lnSpc>
              <a:defRPr sz="800">
                <a:solidFill>
                  <a:srgbClr val="E0E0E0"/>
                </a:solidFill>
                <a:latin typeface="Roboto Regular Regular"/>
                <a:ea typeface="Roboto Regular Regular"/>
                <a:cs typeface="Roboto Regular Regular"/>
                <a:sym typeface="Roboto Regular Regular"/>
              </a:defRPr>
            </a:lvl1pPr>
          </a:lstStyle>
          <a:p>
            <a:pPr/>
            <a:r>
              <a:t>Dedicated low-latency channel for monitoring a specific hardware component, reducing overhead by filtering updates exclusively for the selected actuator ID.</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84" name="Google Shape;426;p19" descr="Google Shape;426;p19"/>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385" name="Google Shape;427;p19"/>
          <p:cNvSpPr txBox="1"/>
          <p:nvPr/>
        </p:nvSpPr>
        <p:spPr>
          <a:xfrm>
            <a:off x="6606182" y="214313"/>
            <a:ext cx="2252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TECH_STACK // REL_3.3.2</a:t>
            </a:r>
          </a:p>
        </p:txBody>
      </p:sp>
      <p:sp>
        <p:nvSpPr>
          <p:cNvPr id="386" name="Google Shape;428;p19"/>
          <p:cNvSpPr/>
          <p:nvPr/>
        </p:nvSpPr>
        <p:spPr>
          <a:xfrm>
            <a:off x="457200" y="428625"/>
            <a:ext cx="8229600" cy="4286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387" name="Google Shape;429;p19"/>
          <p:cNvSpPr txBox="1"/>
          <p:nvPr/>
        </p:nvSpPr>
        <p:spPr>
          <a:xfrm>
            <a:off x="742950" y="79944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METRICS/ACTUATOR SERVICES - TECHNOLOGY STACK</a:t>
            </a:r>
          </a:p>
        </p:txBody>
      </p:sp>
      <p:sp>
        <p:nvSpPr>
          <p:cNvPr id="388" name="Google Shape;430;p19"/>
          <p:cNvSpPr/>
          <p:nvPr/>
        </p:nvSpPr>
        <p:spPr>
          <a:xfrm>
            <a:off x="742950"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389" name="Google Shape;431;p19" descr="Google Shape;431;p19"/>
          <p:cNvPicPr>
            <a:picLocks noChangeAspect="1"/>
          </p:cNvPicPr>
          <p:nvPr/>
        </p:nvPicPr>
        <p:blipFill>
          <a:blip r:embed="rId3">
            <a:extLst/>
          </a:blip>
          <a:stretch>
            <a:fillRect/>
          </a:stretch>
        </p:blipFill>
        <p:spPr>
          <a:xfrm>
            <a:off x="850105" y="1400175"/>
            <a:ext cx="178595" cy="142875"/>
          </a:xfrm>
          <a:prstGeom prst="rect">
            <a:avLst/>
          </a:prstGeom>
          <a:ln w="12700">
            <a:miter lim="400000"/>
          </a:ln>
        </p:spPr>
      </p:pic>
      <p:sp>
        <p:nvSpPr>
          <p:cNvPr id="390" name="Google Shape;432;p19"/>
          <p:cNvSpPr txBox="1"/>
          <p:nvPr/>
        </p:nvSpPr>
        <p:spPr>
          <a:xfrm>
            <a:off x="1100137" y="1408212"/>
            <a:ext cx="11019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PYTHON 3</a:t>
            </a:r>
          </a:p>
        </p:txBody>
      </p:sp>
      <p:sp>
        <p:nvSpPr>
          <p:cNvPr id="391" name="Google Shape;433;p19"/>
          <p:cNvSpPr/>
          <p:nvPr/>
        </p:nvSpPr>
        <p:spPr>
          <a:xfrm>
            <a:off x="3343275"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392" name="Google Shape;434;p19"/>
          <p:cNvSpPr txBox="1"/>
          <p:nvPr/>
        </p:nvSpPr>
        <p:spPr>
          <a:xfrm>
            <a:off x="3700462" y="1408212"/>
            <a:ext cx="1109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FASTAPI</a:t>
            </a:r>
          </a:p>
        </p:txBody>
      </p:sp>
      <p:sp>
        <p:nvSpPr>
          <p:cNvPr id="393" name="Google Shape;435;p19"/>
          <p:cNvSpPr/>
          <p:nvPr/>
        </p:nvSpPr>
        <p:spPr>
          <a:xfrm>
            <a:off x="5943600" y="1293019"/>
            <a:ext cx="2457600" cy="857401"/>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394" name="Google Shape;436;p19"/>
          <p:cNvSpPr txBox="1"/>
          <p:nvPr/>
        </p:nvSpPr>
        <p:spPr>
          <a:xfrm>
            <a:off x="6300787" y="1408212"/>
            <a:ext cx="843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AMQ (PROTON)</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96" name="Google Shape;442;p20" descr="Google Shape;442;p20"/>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397" name="Google Shape;443;p20"/>
          <p:cNvSpPr txBox="1"/>
          <p:nvPr/>
        </p:nvSpPr>
        <p:spPr>
          <a:xfrm>
            <a:off x="6470451" y="285749"/>
            <a:ext cx="23877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CONVERTER-SERVICE // V1.0</a:t>
            </a:r>
          </a:p>
        </p:txBody>
      </p:sp>
      <p:sp>
        <p:nvSpPr>
          <p:cNvPr id="398" name="Google Shape;444;p20"/>
          <p:cNvSpPr/>
          <p:nvPr/>
        </p:nvSpPr>
        <p:spPr>
          <a:xfrm>
            <a:off x="457200" y="607218"/>
            <a:ext cx="8229600" cy="3929102"/>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399" name="Google Shape;445;p20"/>
          <p:cNvSpPr txBox="1"/>
          <p:nvPr/>
        </p:nvSpPr>
        <p:spPr>
          <a:xfrm>
            <a:off x="814387" y="964405"/>
            <a:ext cx="751530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AUTOMATION RULES SERVICE</a:t>
            </a:r>
          </a:p>
        </p:txBody>
      </p:sp>
      <p:sp>
        <p:nvSpPr>
          <p:cNvPr id="400" name="Google Shape;446;p20"/>
          <p:cNvSpPr txBox="1"/>
          <p:nvPr/>
        </p:nvSpPr>
        <p:spPr>
          <a:xfrm>
            <a:off x="814325" y="1605549"/>
            <a:ext cx="6744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69851"/>
              </a:lnSpc>
              <a:defRPr sz="900">
                <a:solidFill>
                  <a:srgbClr val="E0E0E0"/>
                </a:solidFill>
                <a:latin typeface="Roboto Regular Regular"/>
                <a:ea typeface="Roboto Regular Regular"/>
                <a:cs typeface="Roboto Regular Regular"/>
                <a:sym typeface="Roboto Regular Regular"/>
              </a:defRPr>
            </a:lvl1pPr>
          </a:lstStyle>
          <a:p>
            <a:pPr/>
            <a:r>
              <a:t>The automation rules service maintains a core part of the system, by managing and persisting the automation rules that make</a:t>
            </a:r>
          </a:p>
        </p:txBody>
      </p:sp>
      <p:sp>
        <p:nvSpPr>
          <p:cNvPr id="401" name="Google Shape;447;p20"/>
          <p:cNvSpPr txBox="1"/>
          <p:nvPr/>
        </p:nvSpPr>
        <p:spPr>
          <a:xfrm>
            <a:off x="814400" y="1804334"/>
            <a:ext cx="674460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sure it correctly responds to specific situations detected by the sensors with the actuators it has available. For this reason, whenever it receives updates from the sensor state queue, it evaluates them against all the rules it has stored and decides if a rule needs to be fired. If so, it sends a message to the converter service to toggle the relevant actuator.</a:t>
            </a:r>
          </a:p>
        </p:txBody>
      </p:sp>
      <p:sp>
        <p:nvSpPr>
          <p:cNvPr id="402" name="Google Shape;448;p20"/>
          <p:cNvSpPr txBox="1"/>
          <p:nvPr/>
        </p:nvSpPr>
        <p:spPr>
          <a:xfrm>
            <a:off x="814400" y="2536683"/>
            <a:ext cx="6744600" cy="5529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Internally, it uses SQLite to store automation rules, making sure that they don’t go lost even if the system goes down. Additionally, it stores metadata about when the rules were fired, and why.</a:t>
            </a:r>
          </a:p>
        </p:txBody>
      </p:sp>
      <p:sp>
        <p:nvSpPr>
          <p:cNvPr id="403" name="Google Shape;449;p20"/>
          <p:cNvSpPr txBox="1"/>
          <p:nvPr/>
        </p:nvSpPr>
        <p:spPr>
          <a:xfrm>
            <a:off x="814325" y="3096034"/>
            <a:ext cx="6744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40000"/>
              </a:lnSpc>
              <a:defRPr sz="900">
                <a:solidFill>
                  <a:srgbClr val="E0E0E0"/>
                </a:solidFill>
                <a:latin typeface="Roboto Regular Regular"/>
                <a:ea typeface="Roboto Regular Regular"/>
                <a:cs typeface="Roboto Regular Regular"/>
                <a:sym typeface="Roboto Regular Regular"/>
              </a:defRPr>
            </a:lvl1pPr>
          </a:lstStyle>
          <a:p>
            <a:pPr/>
            <a:r>
              <a:t>For a frontend, it provides a rich API to view, edit and delete all rules, as well as consulting the aforementioned logging data it has collected; like the other services, it also provides a description of all this in a standardized OpenAPI format.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05" name="Google Shape;455;p21" descr="Google Shape;455;p21"/>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406" name="Google Shape;456;p21"/>
          <p:cNvSpPr txBox="1"/>
          <p:nvPr/>
        </p:nvSpPr>
        <p:spPr>
          <a:xfrm>
            <a:off x="6606182" y="214313"/>
            <a:ext cx="22520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TECH_STACK // REL_3.3.2</a:t>
            </a:r>
          </a:p>
        </p:txBody>
      </p:sp>
      <p:sp>
        <p:nvSpPr>
          <p:cNvPr id="407" name="Google Shape;457;p21"/>
          <p:cNvSpPr/>
          <p:nvPr/>
        </p:nvSpPr>
        <p:spPr>
          <a:xfrm>
            <a:off x="457200" y="428625"/>
            <a:ext cx="8229600" cy="428625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408" name="Google Shape;458;p21"/>
          <p:cNvSpPr txBox="1"/>
          <p:nvPr/>
        </p:nvSpPr>
        <p:spPr>
          <a:xfrm>
            <a:off x="742950" y="79944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AUTOMATION RULES - TECHNOLOGY STACK</a:t>
            </a:r>
          </a:p>
        </p:txBody>
      </p:sp>
      <p:sp>
        <p:nvSpPr>
          <p:cNvPr id="409" name="Google Shape;459;p21"/>
          <p:cNvSpPr/>
          <p:nvPr/>
        </p:nvSpPr>
        <p:spPr>
          <a:xfrm>
            <a:off x="742950" y="1293019"/>
            <a:ext cx="2457450" cy="85725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410" name="Google Shape;460;p21" descr="Google Shape;460;p21"/>
          <p:cNvPicPr>
            <a:picLocks noChangeAspect="1"/>
          </p:cNvPicPr>
          <p:nvPr/>
        </p:nvPicPr>
        <p:blipFill>
          <a:blip r:embed="rId4">
            <a:extLst/>
          </a:blip>
          <a:stretch>
            <a:fillRect/>
          </a:stretch>
        </p:blipFill>
        <p:spPr>
          <a:xfrm>
            <a:off x="850105" y="1400175"/>
            <a:ext cx="178595" cy="142875"/>
          </a:xfrm>
          <a:prstGeom prst="rect">
            <a:avLst/>
          </a:prstGeom>
          <a:ln w="12700">
            <a:miter lim="400000"/>
          </a:ln>
        </p:spPr>
      </p:pic>
      <p:sp>
        <p:nvSpPr>
          <p:cNvPr id="411" name="Google Shape;461;p21"/>
          <p:cNvSpPr txBox="1"/>
          <p:nvPr/>
        </p:nvSpPr>
        <p:spPr>
          <a:xfrm>
            <a:off x="1100149" y="1408199"/>
            <a:ext cx="1743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JAVA 21 + LOMBOK + JACKSON</a:t>
            </a:r>
          </a:p>
        </p:txBody>
      </p:sp>
      <p:sp>
        <p:nvSpPr>
          <p:cNvPr id="412" name="Google Shape;462;p21"/>
          <p:cNvSpPr txBox="1"/>
          <p:nvPr/>
        </p:nvSpPr>
        <p:spPr>
          <a:xfrm>
            <a:off x="850105" y="1614487"/>
            <a:ext cx="2243139" cy="220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Industry-standard language, with libraries added specifically for boilerplate reduction.</a:t>
            </a:r>
          </a:p>
        </p:txBody>
      </p:sp>
      <p:sp>
        <p:nvSpPr>
          <p:cNvPr id="413" name="Google Shape;463;p21"/>
          <p:cNvSpPr/>
          <p:nvPr/>
        </p:nvSpPr>
        <p:spPr>
          <a:xfrm>
            <a:off x="3343275" y="1293019"/>
            <a:ext cx="2457450" cy="85725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414" name="Google Shape;464;p21" descr="Google Shape;464;p21"/>
          <p:cNvPicPr>
            <a:picLocks noChangeAspect="1"/>
          </p:cNvPicPr>
          <p:nvPr/>
        </p:nvPicPr>
        <p:blipFill>
          <a:blip r:embed="rId5">
            <a:extLst/>
          </a:blip>
          <a:stretch>
            <a:fillRect/>
          </a:stretch>
        </p:blipFill>
        <p:spPr>
          <a:xfrm>
            <a:off x="3450430" y="1400175"/>
            <a:ext cx="178595" cy="142875"/>
          </a:xfrm>
          <a:prstGeom prst="rect">
            <a:avLst/>
          </a:prstGeom>
          <a:ln w="12700">
            <a:miter lim="400000"/>
          </a:ln>
        </p:spPr>
      </p:pic>
      <p:sp>
        <p:nvSpPr>
          <p:cNvPr id="415" name="Google Shape;465;p21"/>
          <p:cNvSpPr txBox="1"/>
          <p:nvPr/>
        </p:nvSpPr>
        <p:spPr>
          <a:xfrm>
            <a:off x="3700462" y="1408212"/>
            <a:ext cx="11090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SPRING BOOT 3.3.2</a:t>
            </a:r>
          </a:p>
        </p:txBody>
      </p:sp>
      <p:sp>
        <p:nvSpPr>
          <p:cNvPr id="416" name="Google Shape;466;p21"/>
          <p:cNvSpPr txBox="1"/>
          <p:nvPr/>
        </p:nvSpPr>
        <p:spPr>
          <a:xfrm>
            <a:off x="3450430" y="1614487"/>
            <a:ext cx="224313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Spring Web, JMS, and JDBC modules.</a:t>
            </a:r>
          </a:p>
        </p:txBody>
      </p:sp>
      <p:sp>
        <p:nvSpPr>
          <p:cNvPr id="417" name="Google Shape;467;p21"/>
          <p:cNvSpPr/>
          <p:nvPr/>
        </p:nvSpPr>
        <p:spPr>
          <a:xfrm>
            <a:off x="5943600" y="1293019"/>
            <a:ext cx="2457450" cy="857251"/>
          </a:xfrm>
          <a:prstGeom prst="rect">
            <a:avLst/>
          </a:prstGeom>
          <a:solidFill>
            <a:srgbClr val="00FFFF">
              <a:alpha val="5098"/>
            </a:srgbClr>
          </a:solidFill>
          <a:ln>
            <a:solidFill>
              <a:srgbClr val="00FFFF">
                <a:alpha val="10196"/>
              </a:srgbClr>
            </a:solidFill>
          </a:ln>
        </p:spPr>
        <p:txBody>
          <a:bodyPr lIns="0" tIns="0" rIns="0" bIns="0" anchor="ctr"/>
          <a:lstStyle/>
          <a:p>
            <a:pPr/>
          </a:p>
        </p:txBody>
      </p:sp>
      <p:pic>
        <p:nvPicPr>
          <p:cNvPr id="418" name="Google Shape;468;p21" descr="Google Shape;468;p21"/>
          <p:cNvPicPr>
            <a:picLocks noChangeAspect="1"/>
          </p:cNvPicPr>
          <p:nvPr/>
        </p:nvPicPr>
        <p:blipFill>
          <a:blip r:embed="rId6">
            <a:extLst/>
          </a:blip>
          <a:stretch>
            <a:fillRect/>
          </a:stretch>
        </p:blipFill>
        <p:spPr>
          <a:xfrm>
            <a:off x="6050755" y="1400175"/>
            <a:ext cx="178595" cy="142875"/>
          </a:xfrm>
          <a:prstGeom prst="rect">
            <a:avLst/>
          </a:prstGeom>
          <a:ln w="12700">
            <a:miter lim="400000"/>
          </a:ln>
        </p:spPr>
      </p:pic>
      <p:sp>
        <p:nvSpPr>
          <p:cNvPr id="419" name="Google Shape;469;p21"/>
          <p:cNvSpPr txBox="1"/>
          <p:nvPr/>
        </p:nvSpPr>
        <p:spPr>
          <a:xfrm>
            <a:off x="6300787" y="1408212"/>
            <a:ext cx="84296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SQLITE (JDBC)</a:t>
            </a:r>
          </a:p>
        </p:txBody>
      </p:sp>
      <p:sp>
        <p:nvSpPr>
          <p:cNvPr id="420" name="Google Shape;470;p21"/>
          <p:cNvSpPr txBox="1"/>
          <p:nvPr/>
        </p:nvSpPr>
        <p:spPr>
          <a:xfrm>
            <a:off x="6050755" y="1614487"/>
            <a:ext cx="224313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Lightweight embedded persistent storage.</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24" name="Google Shape;476;p22" descr="Google Shape;476;p22"/>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425" name="Google Shape;477;p22"/>
          <p:cNvSpPr txBox="1"/>
          <p:nvPr/>
        </p:nvSpPr>
        <p:spPr>
          <a:xfrm>
            <a:off x="6693693" y="214313"/>
            <a:ext cx="216455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REST_API // RULE_MGMT</a:t>
            </a:r>
          </a:p>
        </p:txBody>
      </p:sp>
      <p:sp>
        <p:nvSpPr>
          <p:cNvPr id="426" name="Google Shape;478;p22"/>
          <p:cNvSpPr/>
          <p:nvPr/>
        </p:nvSpPr>
        <p:spPr>
          <a:xfrm>
            <a:off x="457200" y="428625"/>
            <a:ext cx="8229600" cy="428625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427" name="Google Shape;479;p22"/>
          <p:cNvSpPr txBox="1"/>
          <p:nvPr/>
        </p:nvSpPr>
        <p:spPr>
          <a:xfrm>
            <a:off x="742950" y="79944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REST API &amp; RULE DEFINITION</a:t>
            </a:r>
          </a:p>
        </p:txBody>
      </p:sp>
      <p:sp>
        <p:nvSpPr>
          <p:cNvPr id="428" name="Google Shape;480;p22"/>
          <p:cNvSpPr txBox="1"/>
          <p:nvPr/>
        </p:nvSpPr>
        <p:spPr>
          <a:xfrm>
            <a:off x="742950" y="1150144"/>
            <a:ext cx="76581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00FFFF"/>
                </a:solidFill>
                <a:latin typeface="Roboto Mono Regular Regular"/>
                <a:ea typeface="Roboto Mono Regular Regular"/>
                <a:cs typeface="Roboto Mono Regular Regular"/>
                <a:sym typeface="Roboto Mono Regular Regular"/>
              </a:defRPr>
            </a:lvl1pPr>
          </a:lstStyle>
          <a:p>
            <a:pPr/>
            <a:r>
              <a:t>ENDPOINT: /API/RULES</a:t>
            </a:r>
          </a:p>
        </p:txBody>
      </p:sp>
      <p:sp>
        <p:nvSpPr>
          <p:cNvPr id="429" name="Google Shape;481;p22"/>
          <p:cNvSpPr txBox="1"/>
          <p:nvPr/>
        </p:nvSpPr>
        <p:spPr>
          <a:xfrm>
            <a:off x="742950" y="1462683"/>
            <a:ext cx="76581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7865"/>
              </a:lnSpc>
              <a:defRPr sz="800">
                <a:solidFill>
                  <a:srgbClr val="E0E0E0"/>
                </a:solidFill>
                <a:latin typeface="Roboto Regular Regular"/>
                <a:ea typeface="Roboto Regular Regular"/>
                <a:cs typeface="Roboto Regular Regular"/>
                <a:sym typeface="Roboto Regular Regular"/>
              </a:defRPr>
            </a:lvl1pPr>
          </a:lstStyle>
          <a:p>
            <a:pPr/>
            <a:r>
              <a:t>Standard CRUD semantics for comprehensive rule management: list, get by ID, create, update, enable/disable, and delete rules.</a:t>
            </a:r>
          </a:p>
        </p:txBody>
      </p:sp>
      <p:sp>
        <p:nvSpPr>
          <p:cNvPr id="430" name="Google Shape;482;p22"/>
          <p:cNvSpPr/>
          <p:nvPr/>
        </p:nvSpPr>
        <p:spPr>
          <a:xfrm>
            <a:off x="742950" y="1812726"/>
            <a:ext cx="3775472" cy="428626"/>
          </a:xfrm>
          <a:prstGeom prst="rect">
            <a:avLst/>
          </a:prstGeom>
          <a:solidFill>
            <a:srgbClr val="00FFFF">
              <a:alpha val="5098"/>
            </a:srgbClr>
          </a:solidFill>
          <a:ln w="12700">
            <a:miter lim="400000"/>
          </a:ln>
        </p:spPr>
        <p:txBody>
          <a:bodyPr lIns="0" tIns="0" rIns="0" bIns="0" anchor="ctr"/>
          <a:lstStyle/>
          <a:p>
            <a:pPr/>
          </a:p>
        </p:txBody>
      </p:sp>
      <p:sp>
        <p:nvSpPr>
          <p:cNvPr id="431" name="Google Shape;483;p22"/>
          <p:cNvSpPr/>
          <p:nvPr/>
        </p:nvSpPr>
        <p:spPr>
          <a:xfrm>
            <a:off x="742949" y="1812726"/>
            <a:ext cx="21433" cy="428626"/>
          </a:xfrm>
          <a:prstGeom prst="rect">
            <a:avLst/>
          </a:prstGeom>
          <a:solidFill>
            <a:srgbClr val="00FFFF"/>
          </a:solidFill>
          <a:ln w="12700">
            <a:miter lim="400000"/>
          </a:ln>
        </p:spPr>
        <p:txBody>
          <a:bodyPr lIns="0" tIns="0" rIns="0" bIns="0" anchor="ctr"/>
          <a:lstStyle/>
          <a:p>
            <a:pPr/>
          </a:p>
        </p:txBody>
      </p:sp>
      <p:sp>
        <p:nvSpPr>
          <p:cNvPr id="432" name="Google Shape;484;p22"/>
          <p:cNvSpPr txBox="1"/>
          <p:nvPr/>
        </p:nvSpPr>
        <p:spPr>
          <a:xfrm>
            <a:off x="828675" y="1898451"/>
            <a:ext cx="36040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GROUP_ID &amp; METRIC_ID</a:t>
            </a:r>
          </a:p>
        </p:txBody>
      </p:sp>
      <p:sp>
        <p:nvSpPr>
          <p:cNvPr id="433" name="Google Shape;485;p22"/>
          <p:cNvSpPr txBox="1"/>
          <p:nvPr/>
        </p:nvSpPr>
        <p:spPr>
          <a:xfrm>
            <a:off x="828675" y="2060972"/>
            <a:ext cx="36040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Identifies metric within sensor group.</a:t>
            </a:r>
          </a:p>
        </p:txBody>
      </p:sp>
      <p:sp>
        <p:nvSpPr>
          <p:cNvPr id="434" name="Google Shape;486;p22"/>
          <p:cNvSpPr/>
          <p:nvPr/>
        </p:nvSpPr>
        <p:spPr>
          <a:xfrm>
            <a:off x="4625578" y="1812726"/>
            <a:ext cx="3775473" cy="428626"/>
          </a:xfrm>
          <a:prstGeom prst="rect">
            <a:avLst/>
          </a:prstGeom>
          <a:solidFill>
            <a:srgbClr val="00FFFF">
              <a:alpha val="5098"/>
            </a:srgbClr>
          </a:solidFill>
          <a:ln w="12700">
            <a:miter lim="400000"/>
          </a:ln>
        </p:spPr>
        <p:txBody>
          <a:bodyPr lIns="0" tIns="0" rIns="0" bIns="0" anchor="ctr"/>
          <a:lstStyle/>
          <a:p>
            <a:pPr/>
          </a:p>
        </p:txBody>
      </p:sp>
      <p:sp>
        <p:nvSpPr>
          <p:cNvPr id="435" name="Google Shape;487;p22"/>
          <p:cNvSpPr/>
          <p:nvPr/>
        </p:nvSpPr>
        <p:spPr>
          <a:xfrm>
            <a:off x="4625578" y="1812726"/>
            <a:ext cx="21432" cy="428626"/>
          </a:xfrm>
          <a:prstGeom prst="rect">
            <a:avLst/>
          </a:prstGeom>
          <a:solidFill>
            <a:srgbClr val="00FFFF"/>
          </a:solidFill>
          <a:ln w="12700">
            <a:miter lim="400000"/>
          </a:ln>
        </p:spPr>
        <p:txBody>
          <a:bodyPr lIns="0" tIns="0" rIns="0" bIns="0" anchor="ctr"/>
          <a:lstStyle/>
          <a:p>
            <a:pPr/>
          </a:p>
        </p:txBody>
      </p:sp>
      <p:sp>
        <p:nvSpPr>
          <p:cNvPr id="436" name="Google Shape;488;p22"/>
          <p:cNvSpPr txBox="1"/>
          <p:nvPr/>
        </p:nvSpPr>
        <p:spPr>
          <a:xfrm>
            <a:off x="4711303" y="1898451"/>
            <a:ext cx="36040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OPERATOR</a:t>
            </a:r>
          </a:p>
        </p:txBody>
      </p:sp>
      <p:sp>
        <p:nvSpPr>
          <p:cNvPr id="437" name="Google Shape;489;p22"/>
          <p:cNvSpPr txBox="1"/>
          <p:nvPr/>
        </p:nvSpPr>
        <p:spPr>
          <a:xfrm>
            <a:off x="4711303" y="2075258"/>
            <a:ext cx="112871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Comparison operator (e.g.,</a:t>
            </a:r>
          </a:p>
        </p:txBody>
      </p:sp>
      <p:sp>
        <p:nvSpPr>
          <p:cNvPr id="438" name="Google Shape;490;p22"/>
          <p:cNvSpPr/>
          <p:nvPr/>
        </p:nvSpPr>
        <p:spPr>
          <a:xfrm>
            <a:off x="5840016" y="2057400"/>
            <a:ext cx="167879" cy="135731"/>
          </a:xfrm>
          <a:prstGeom prst="rect">
            <a:avLst/>
          </a:prstGeom>
          <a:solidFill>
            <a:srgbClr val="000000">
              <a:alpha val="30196"/>
            </a:srgbClr>
          </a:solidFill>
          <a:ln w="12700">
            <a:miter lim="400000"/>
          </a:ln>
        </p:spPr>
        <p:txBody>
          <a:bodyPr lIns="0" tIns="0" rIns="0" bIns="0" anchor="ctr"/>
          <a:lstStyle/>
          <a:p>
            <a:pPr/>
          </a:p>
        </p:txBody>
      </p:sp>
      <p:sp>
        <p:nvSpPr>
          <p:cNvPr id="439" name="Google Shape;491;p22"/>
          <p:cNvSpPr txBox="1"/>
          <p:nvPr/>
        </p:nvSpPr>
        <p:spPr>
          <a:xfrm>
            <a:off x="5865541" y="2057400"/>
            <a:ext cx="116829"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48367"/>
              </a:lnSpc>
              <a:defRPr sz="600">
                <a:solidFill>
                  <a:srgbClr val="00FFFF"/>
                </a:solidFill>
                <a:latin typeface="Roboto Mono Regular Regular"/>
                <a:ea typeface="Roboto Mono Regular Regular"/>
                <a:cs typeface="Roboto Mono Regular Regular"/>
                <a:sym typeface="Roboto Mono Regular Regular"/>
              </a:defRPr>
            </a:lvl1pPr>
          </a:lstStyle>
          <a:p>
            <a:pPr/>
            <a:r>
              <a:t>lt</a:t>
            </a:r>
          </a:p>
        </p:txBody>
      </p:sp>
      <p:sp>
        <p:nvSpPr>
          <p:cNvPr id="440" name="Google Shape;492;p22"/>
          <p:cNvSpPr txBox="1"/>
          <p:nvPr/>
        </p:nvSpPr>
        <p:spPr>
          <a:xfrm>
            <a:off x="6007894" y="2075258"/>
            <a:ext cx="4107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a:t>
            </a:r>
          </a:p>
        </p:txBody>
      </p:sp>
      <p:sp>
        <p:nvSpPr>
          <p:cNvPr id="441" name="Google Shape;493;p22"/>
          <p:cNvSpPr/>
          <p:nvPr/>
        </p:nvSpPr>
        <p:spPr>
          <a:xfrm>
            <a:off x="6048969" y="2057400"/>
            <a:ext cx="167879" cy="135731"/>
          </a:xfrm>
          <a:prstGeom prst="rect">
            <a:avLst/>
          </a:prstGeom>
          <a:solidFill>
            <a:srgbClr val="000000">
              <a:alpha val="30196"/>
            </a:srgbClr>
          </a:solidFill>
          <a:ln w="12700">
            <a:miter lim="400000"/>
          </a:ln>
        </p:spPr>
        <p:txBody>
          <a:bodyPr lIns="0" tIns="0" rIns="0" bIns="0" anchor="ctr"/>
          <a:lstStyle/>
          <a:p>
            <a:pPr/>
          </a:p>
        </p:txBody>
      </p:sp>
      <p:sp>
        <p:nvSpPr>
          <p:cNvPr id="442" name="Google Shape;494;p22"/>
          <p:cNvSpPr txBox="1"/>
          <p:nvPr/>
        </p:nvSpPr>
        <p:spPr>
          <a:xfrm>
            <a:off x="6074494" y="2057400"/>
            <a:ext cx="116829"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48367"/>
              </a:lnSpc>
              <a:defRPr sz="600">
                <a:solidFill>
                  <a:srgbClr val="00FFFF"/>
                </a:solidFill>
                <a:latin typeface="Roboto Mono Regular Regular"/>
                <a:ea typeface="Roboto Mono Regular Regular"/>
                <a:cs typeface="Roboto Mono Regular Regular"/>
                <a:sym typeface="Roboto Mono Regular Regular"/>
              </a:defRPr>
            </a:lvl1pPr>
          </a:lstStyle>
          <a:p>
            <a:pPr/>
            <a:r>
              <a:t>eq</a:t>
            </a:r>
          </a:p>
        </p:txBody>
      </p:sp>
      <p:sp>
        <p:nvSpPr>
          <p:cNvPr id="443" name="Google Shape;495;p22"/>
          <p:cNvSpPr txBox="1"/>
          <p:nvPr/>
        </p:nvSpPr>
        <p:spPr>
          <a:xfrm>
            <a:off x="6216848" y="2075258"/>
            <a:ext cx="4107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a:t>
            </a:r>
          </a:p>
        </p:txBody>
      </p:sp>
      <p:sp>
        <p:nvSpPr>
          <p:cNvPr id="444" name="Google Shape;496;p22"/>
          <p:cNvSpPr/>
          <p:nvPr/>
        </p:nvSpPr>
        <p:spPr>
          <a:xfrm>
            <a:off x="6257924" y="2057400"/>
            <a:ext cx="167880" cy="135731"/>
          </a:xfrm>
          <a:prstGeom prst="rect">
            <a:avLst/>
          </a:prstGeom>
          <a:solidFill>
            <a:srgbClr val="000000">
              <a:alpha val="30196"/>
            </a:srgbClr>
          </a:solidFill>
          <a:ln w="12700">
            <a:miter lim="400000"/>
          </a:ln>
        </p:spPr>
        <p:txBody>
          <a:bodyPr lIns="0" tIns="0" rIns="0" bIns="0" anchor="ctr"/>
          <a:lstStyle/>
          <a:p>
            <a:pPr/>
          </a:p>
        </p:txBody>
      </p:sp>
      <p:sp>
        <p:nvSpPr>
          <p:cNvPr id="445" name="Google Shape;497;p22"/>
          <p:cNvSpPr txBox="1"/>
          <p:nvPr/>
        </p:nvSpPr>
        <p:spPr>
          <a:xfrm>
            <a:off x="6283449" y="2057400"/>
            <a:ext cx="116830" cy="127001"/>
          </a:xfrm>
          <a:prstGeom prst="rect">
            <a:avLst/>
          </a:prstGeom>
          <a:ln w="12700">
            <a:miter lim="400000"/>
          </a:ln>
          <a:extLst>
            <a:ext uri="{C572A759-6A51-4108-AA02-DFA0A04FC94B}">
              <ma14:wrappingTextBoxFlag xmlns:ma14="http://schemas.microsoft.com/office/mac/drawingml/2011/main" val="1"/>
            </a:ext>
          </a:extLst>
        </p:spPr>
        <p:txBody>
          <a:bodyPr lIns="8499" tIns="8499" rIns="8499" bIns="8499">
            <a:spAutoFit/>
          </a:bodyPr>
          <a:lstStyle>
            <a:lvl1pPr>
              <a:lnSpc>
                <a:spcPct val="148367"/>
              </a:lnSpc>
              <a:defRPr sz="600">
                <a:solidFill>
                  <a:srgbClr val="00FFFF"/>
                </a:solidFill>
                <a:latin typeface="Roboto Mono Regular Regular"/>
                <a:ea typeface="Roboto Mono Regular Regular"/>
                <a:cs typeface="Roboto Mono Regular Regular"/>
                <a:sym typeface="Roboto Mono Regular Regular"/>
              </a:defRPr>
            </a:lvl1pPr>
          </a:lstStyle>
          <a:p>
            <a:pPr/>
            <a:r>
              <a:t>gt</a:t>
            </a:r>
          </a:p>
        </p:txBody>
      </p:sp>
      <p:sp>
        <p:nvSpPr>
          <p:cNvPr id="446" name="Google Shape;498;p22"/>
          <p:cNvSpPr txBox="1"/>
          <p:nvPr/>
        </p:nvSpPr>
        <p:spPr>
          <a:xfrm>
            <a:off x="6425803" y="2075258"/>
            <a:ext cx="5715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a:t>
            </a:r>
          </a:p>
        </p:txBody>
      </p:sp>
      <p:sp>
        <p:nvSpPr>
          <p:cNvPr id="447" name="Google Shape;499;p22"/>
          <p:cNvSpPr/>
          <p:nvPr/>
        </p:nvSpPr>
        <p:spPr>
          <a:xfrm>
            <a:off x="742950" y="2348508"/>
            <a:ext cx="3775472" cy="428626"/>
          </a:xfrm>
          <a:prstGeom prst="rect">
            <a:avLst/>
          </a:prstGeom>
          <a:solidFill>
            <a:srgbClr val="00FFFF">
              <a:alpha val="5098"/>
            </a:srgbClr>
          </a:solidFill>
          <a:ln w="12700">
            <a:miter lim="400000"/>
          </a:ln>
        </p:spPr>
        <p:txBody>
          <a:bodyPr lIns="0" tIns="0" rIns="0" bIns="0" anchor="ctr"/>
          <a:lstStyle/>
          <a:p>
            <a:pPr/>
          </a:p>
        </p:txBody>
      </p:sp>
      <p:sp>
        <p:nvSpPr>
          <p:cNvPr id="448" name="Google Shape;500;p22"/>
          <p:cNvSpPr/>
          <p:nvPr/>
        </p:nvSpPr>
        <p:spPr>
          <a:xfrm>
            <a:off x="742949" y="2348508"/>
            <a:ext cx="21433" cy="428626"/>
          </a:xfrm>
          <a:prstGeom prst="rect">
            <a:avLst/>
          </a:prstGeom>
          <a:solidFill>
            <a:srgbClr val="00FFFF"/>
          </a:solidFill>
          <a:ln w="12700">
            <a:miter lim="400000"/>
          </a:ln>
        </p:spPr>
        <p:txBody>
          <a:bodyPr lIns="0" tIns="0" rIns="0" bIns="0" anchor="ctr"/>
          <a:lstStyle/>
          <a:p>
            <a:pPr/>
          </a:p>
        </p:txBody>
      </p:sp>
      <p:sp>
        <p:nvSpPr>
          <p:cNvPr id="449" name="Google Shape;501;p22"/>
          <p:cNvSpPr txBox="1"/>
          <p:nvPr/>
        </p:nvSpPr>
        <p:spPr>
          <a:xfrm>
            <a:off x="828675" y="2434233"/>
            <a:ext cx="36040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COMPARE_VALUE</a:t>
            </a:r>
          </a:p>
        </p:txBody>
      </p:sp>
      <p:sp>
        <p:nvSpPr>
          <p:cNvPr id="450" name="Google Shape;502;p22"/>
          <p:cNvSpPr txBox="1"/>
          <p:nvPr/>
        </p:nvSpPr>
        <p:spPr>
          <a:xfrm>
            <a:off x="828675" y="2596752"/>
            <a:ext cx="36040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Threshold for comparison (numeric or string).</a:t>
            </a:r>
          </a:p>
        </p:txBody>
      </p:sp>
      <p:sp>
        <p:nvSpPr>
          <p:cNvPr id="451" name="Google Shape;503;p22"/>
          <p:cNvSpPr/>
          <p:nvPr/>
        </p:nvSpPr>
        <p:spPr>
          <a:xfrm>
            <a:off x="4625578" y="2348508"/>
            <a:ext cx="3775473" cy="428626"/>
          </a:xfrm>
          <a:prstGeom prst="rect">
            <a:avLst/>
          </a:prstGeom>
          <a:solidFill>
            <a:srgbClr val="00FFFF">
              <a:alpha val="5098"/>
            </a:srgbClr>
          </a:solidFill>
          <a:ln w="12700">
            <a:miter lim="400000"/>
          </a:ln>
        </p:spPr>
        <p:txBody>
          <a:bodyPr lIns="0" tIns="0" rIns="0" bIns="0" anchor="ctr"/>
          <a:lstStyle/>
          <a:p>
            <a:pPr/>
          </a:p>
        </p:txBody>
      </p:sp>
      <p:sp>
        <p:nvSpPr>
          <p:cNvPr id="452" name="Google Shape;504;p22"/>
          <p:cNvSpPr/>
          <p:nvPr/>
        </p:nvSpPr>
        <p:spPr>
          <a:xfrm>
            <a:off x="4625578" y="2348508"/>
            <a:ext cx="21432" cy="428626"/>
          </a:xfrm>
          <a:prstGeom prst="rect">
            <a:avLst/>
          </a:prstGeom>
          <a:solidFill>
            <a:srgbClr val="00FFFF"/>
          </a:solidFill>
          <a:ln w="12700">
            <a:miter lim="400000"/>
          </a:ln>
        </p:spPr>
        <p:txBody>
          <a:bodyPr lIns="0" tIns="0" rIns="0" bIns="0" anchor="ctr"/>
          <a:lstStyle/>
          <a:p>
            <a:pPr/>
          </a:p>
        </p:txBody>
      </p:sp>
      <p:sp>
        <p:nvSpPr>
          <p:cNvPr id="453" name="Google Shape;505;p22"/>
          <p:cNvSpPr txBox="1"/>
          <p:nvPr/>
        </p:nvSpPr>
        <p:spPr>
          <a:xfrm>
            <a:off x="4711303" y="2434233"/>
            <a:ext cx="36040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UNIT</a:t>
            </a:r>
          </a:p>
        </p:txBody>
      </p:sp>
      <p:sp>
        <p:nvSpPr>
          <p:cNvPr id="454" name="Google Shape;506;p22"/>
          <p:cNvSpPr txBox="1"/>
          <p:nvPr/>
        </p:nvSpPr>
        <p:spPr>
          <a:xfrm>
            <a:off x="4711303" y="2596752"/>
            <a:ext cx="36040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Optional unit filter for event value.</a:t>
            </a:r>
          </a:p>
        </p:txBody>
      </p:sp>
      <p:sp>
        <p:nvSpPr>
          <p:cNvPr id="455" name="Google Shape;507;p22"/>
          <p:cNvSpPr/>
          <p:nvPr/>
        </p:nvSpPr>
        <p:spPr>
          <a:xfrm>
            <a:off x="742950" y="2884289"/>
            <a:ext cx="3775472" cy="428626"/>
          </a:xfrm>
          <a:prstGeom prst="rect">
            <a:avLst/>
          </a:prstGeom>
          <a:solidFill>
            <a:srgbClr val="00FFFF">
              <a:alpha val="5098"/>
            </a:srgbClr>
          </a:solidFill>
          <a:ln w="12700">
            <a:miter lim="400000"/>
          </a:ln>
        </p:spPr>
        <p:txBody>
          <a:bodyPr lIns="0" tIns="0" rIns="0" bIns="0" anchor="ctr"/>
          <a:lstStyle/>
          <a:p>
            <a:pPr/>
          </a:p>
        </p:txBody>
      </p:sp>
      <p:sp>
        <p:nvSpPr>
          <p:cNvPr id="456" name="Google Shape;508;p22"/>
          <p:cNvSpPr/>
          <p:nvPr/>
        </p:nvSpPr>
        <p:spPr>
          <a:xfrm>
            <a:off x="742949" y="2884289"/>
            <a:ext cx="21433" cy="428626"/>
          </a:xfrm>
          <a:prstGeom prst="rect">
            <a:avLst/>
          </a:prstGeom>
          <a:solidFill>
            <a:srgbClr val="00FFFF"/>
          </a:solidFill>
          <a:ln w="12700">
            <a:miter lim="400000"/>
          </a:ln>
        </p:spPr>
        <p:txBody>
          <a:bodyPr lIns="0" tIns="0" rIns="0" bIns="0" anchor="ctr"/>
          <a:lstStyle/>
          <a:p>
            <a:pPr/>
          </a:p>
        </p:txBody>
      </p:sp>
      <p:sp>
        <p:nvSpPr>
          <p:cNvPr id="457" name="Google Shape;509;p22"/>
          <p:cNvSpPr txBox="1"/>
          <p:nvPr/>
        </p:nvSpPr>
        <p:spPr>
          <a:xfrm>
            <a:off x="828675" y="2970014"/>
            <a:ext cx="36040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ACTUATOR_ID &amp; ACTUATOR_STATE</a:t>
            </a:r>
          </a:p>
        </p:txBody>
      </p:sp>
      <p:sp>
        <p:nvSpPr>
          <p:cNvPr id="458" name="Google Shape;510;p22"/>
          <p:cNvSpPr txBox="1"/>
          <p:nvPr/>
        </p:nvSpPr>
        <p:spPr>
          <a:xfrm>
            <a:off x="828675" y="3132533"/>
            <a:ext cx="36040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Target actuator and boolean state.</a:t>
            </a:r>
          </a:p>
        </p:txBody>
      </p:sp>
      <p:sp>
        <p:nvSpPr>
          <p:cNvPr id="459" name="Google Shape;511;p22"/>
          <p:cNvSpPr/>
          <p:nvPr/>
        </p:nvSpPr>
        <p:spPr>
          <a:xfrm>
            <a:off x="4625578" y="2884289"/>
            <a:ext cx="3775473" cy="428626"/>
          </a:xfrm>
          <a:prstGeom prst="rect">
            <a:avLst/>
          </a:prstGeom>
          <a:solidFill>
            <a:srgbClr val="00FFFF">
              <a:alpha val="5098"/>
            </a:srgbClr>
          </a:solidFill>
          <a:ln w="12700">
            <a:miter lim="400000"/>
          </a:ln>
        </p:spPr>
        <p:txBody>
          <a:bodyPr lIns="0" tIns="0" rIns="0" bIns="0" anchor="ctr"/>
          <a:lstStyle/>
          <a:p>
            <a:pPr/>
          </a:p>
        </p:txBody>
      </p:sp>
      <p:sp>
        <p:nvSpPr>
          <p:cNvPr id="460" name="Google Shape;512;p22"/>
          <p:cNvSpPr/>
          <p:nvPr/>
        </p:nvSpPr>
        <p:spPr>
          <a:xfrm>
            <a:off x="4625578" y="2884289"/>
            <a:ext cx="21432" cy="428626"/>
          </a:xfrm>
          <a:prstGeom prst="rect">
            <a:avLst/>
          </a:prstGeom>
          <a:solidFill>
            <a:srgbClr val="00FFFF"/>
          </a:solidFill>
          <a:ln w="12700">
            <a:miter lim="400000"/>
          </a:ln>
        </p:spPr>
        <p:txBody>
          <a:bodyPr lIns="0" tIns="0" rIns="0" bIns="0" anchor="ctr"/>
          <a:lstStyle/>
          <a:p>
            <a:pPr/>
          </a:p>
        </p:txBody>
      </p:sp>
      <p:sp>
        <p:nvSpPr>
          <p:cNvPr id="461" name="Google Shape;513;p22"/>
          <p:cNvSpPr txBox="1"/>
          <p:nvPr/>
        </p:nvSpPr>
        <p:spPr>
          <a:xfrm>
            <a:off x="4711303" y="2970014"/>
            <a:ext cx="36040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FF4500"/>
                </a:solidFill>
                <a:latin typeface="Orbitron Regular Regular"/>
                <a:ea typeface="Orbitron Regular Regular"/>
                <a:cs typeface="Orbitron Regular Regular"/>
                <a:sym typeface="Orbitron Regular Regular"/>
              </a:defRPr>
            </a:lvl1pPr>
          </a:lstStyle>
          <a:p>
            <a:pPr/>
            <a:r>
              <a:t>ENABLED</a:t>
            </a:r>
          </a:p>
        </p:txBody>
      </p:sp>
      <p:sp>
        <p:nvSpPr>
          <p:cNvPr id="462" name="Google Shape;514;p22"/>
          <p:cNvSpPr txBox="1"/>
          <p:nvPr/>
        </p:nvSpPr>
        <p:spPr>
          <a:xfrm>
            <a:off x="4711303" y="3132533"/>
            <a:ext cx="36040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8367"/>
              </a:lnSpc>
              <a:defRPr sz="600">
                <a:solidFill>
                  <a:srgbClr val="E0E0E0"/>
                </a:solidFill>
                <a:latin typeface="Roboto Regular Regular"/>
                <a:ea typeface="Roboto Regular Regular"/>
                <a:cs typeface="Roboto Regular Regular"/>
                <a:sym typeface="Roboto Regular Regular"/>
              </a:defRPr>
            </a:lvl1pPr>
          </a:lstStyle>
          <a:p>
            <a:pPr/>
            <a:r>
              <a:t>Flag to activate/deactivate the rule.</a:t>
            </a:r>
          </a:p>
        </p:txBody>
      </p:sp>
      <p:sp>
        <p:nvSpPr>
          <p:cNvPr id="463" name="Google Shape;515;p22"/>
          <p:cNvSpPr/>
          <p:nvPr/>
        </p:nvSpPr>
        <p:spPr>
          <a:xfrm>
            <a:off x="742950" y="3527226"/>
            <a:ext cx="7658100" cy="714376"/>
          </a:xfrm>
          <a:prstGeom prst="rect">
            <a:avLst/>
          </a:prstGeom>
          <a:solidFill>
            <a:srgbClr val="FF4500">
              <a:alpha val="5098"/>
            </a:srgbClr>
          </a:solidFill>
          <a:ln>
            <a:solidFill>
              <a:srgbClr val="FF4500">
                <a:alpha val="20000"/>
              </a:srgbClr>
            </a:solidFill>
          </a:ln>
        </p:spPr>
        <p:txBody>
          <a:bodyPr lIns="0" tIns="0" rIns="0" bIns="0" anchor="ctr"/>
          <a:lstStyle/>
          <a:p>
            <a:pPr/>
          </a:p>
        </p:txBody>
      </p:sp>
      <p:sp>
        <p:nvSpPr>
          <p:cNvPr id="464" name="Google Shape;516;p22"/>
          <p:cNvSpPr txBox="1"/>
          <p:nvPr/>
        </p:nvSpPr>
        <p:spPr>
          <a:xfrm>
            <a:off x="885825" y="3670101"/>
            <a:ext cx="737235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FF4500"/>
                </a:solidFill>
                <a:latin typeface="Orbitron Regular Regular"/>
                <a:ea typeface="Orbitron Regular Regular"/>
                <a:cs typeface="Orbitron Regular Regular"/>
                <a:sym typeface="Orbitron Regular Regular"/>
              </a:defRPr>
            </a:lvl1pPr>
          </a:lstStyle>
          <a:p>
            <a:pPr/>
            <a:r>
              <a:t>VALIDATION &amp; TRACEABILITY</a:t>
            </a:r>
          </a:p>
        </p:txBody>
      </p:sp>
      <p:sp>
        <p:nvSpPr>
          <p:cNvPr id="465" name="Google Shape;517;p22"/>
          <p:cNvSpPr txBox="1"/>
          <p:nvPr/>
        </p:nvSpPr>
        <p:spPr>
          <a:xfrm>
            <a:off x="885825" y="3886199"/>
            <a:ext cx="7372350" cy="2693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5061"/>
              </a:lnSpc>
              <a:defRPr sz="700">
                <a:solidFill>
                  <a:srgbClr val="E0E0E0"/>
                </a:solidFill>
                <a:latin typeface="Roboto Regular Regular"/>
                <a:ea typeface="Roboto Regular Regular"/>
                <a:cs typeface="Roboto Regular Regular"/>
                <a:sym typeface="Roboto Regular Regular"/>
              </a:defRPr>
            </a:lvl1pPr>
          </a:lstStyle>
          <a:p>
            <a:pPr/>
            <a:r>
              <a:t>Input validation is enforced via Jakarta Bean Validation (400 Bad Request for invalid inputs). All rule changes generate structured audit log entries prefixed with [AUTOMATION-AUDIT], ensuring critical configuration traceability.</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69" name="Google Shape;523;p23" descr="Google Shape;523;p23"/>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470" name="Google Shape;524;p23"/>
          <p:cNvSpPr txBox="1"/>
          <p:nvPr/>
        </p:nvSpPr>
        <p:spPr>
          <a:xfrm>
            <a:off x="6518671" y="214313"/>
            <a:ext cx="233957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00FFFF"/>
                </a:solidFill>
                <a:latin typeface="Orbitron Regular Regular"/>
                <a:ea typeface="Orbitron Regular Regular"/>
                <a:cs typeface="Orbitron Regular Regular"/>
                <a:sym typeface="Orbitron Regular Regular"/>
              </a:defRPr>
            </a:lvl1pPr>
          </a:lstStyle>
          <a:p>
            <a:pPr/>
            <a:r>
              <a:t>MARSOPS // RULE_ENGINE // ANTI_SPAM</a:t>
            </a:r>
          </a:p>
        </p:txBody>
      </p:sp>
      <p:sp>
        <p:nvSpPr>
          <p:cNvPr id="471" name="Google Shape;525;p23"/>
          <p:cNvSpPr/>
          <p:nvPr/>
        </p:nvSpPr>
        <p:spPr>
          <a:xfrm>
            <a:off x="457200" y="428625"/>
            <a:ext cx="8229600" cy="428625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472" name="Google Shape;526;p23"/>
          <p:cNvSpPr txBox="1"/>
          <p:nvPr/>
        </p:nvSpPr>
        <p:spPr>
          <a:xfrm>
            <a:off x="742950" y="799449"/>
            <a:ext cx="76581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328"/>
              </a:lnSpc>
              <a:defRPr sz="1600">
                <a:solidFill>
                  <a:srgbClr val="FF4500"/>
                </a:solidFill>
                <a:latin typeface="Orbitron Regular Bold"/>
                <a:ea typeface="Orbitron Regular Bold"/>
                <a:cs typeface="Orbitron Regular Bold"/>
                <a:sym typeface="Orbitron Regular Bold"/>
              </a:defRPr>
            </a:lvl1pPr>
          </a:lstStyle>
          <a:p>
            <a:pPr/>
            <a:r>
              <a:t>RULE ENGINE &amp; ANTI-SPAM LOGIC</a:t>
            </a:r>
          </a:p>
        </p:txBody>
      </p:sp>
      <p:sp>
        <p:nvSpPr>
          <p:cNvPr id="473" name="Google Shape;527;p23"/>
          <p:cNvSpPr txBox="1"/>
          <p:nvPr/>
        </p:nvSpPr>
        <p:spPr>
          <a:xfrm>
            <a:off x="742950" y="1293019"/>
            <a:ext cx="40212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00FFFF"/>
                </a:solidFill>
                <a:latin typeface="Orbitron Regular Regular"/>
                <a:ea typeface="Orbitron Regular Regular"/>
                <a:cs typeface="Orbitron Regular Regular"/>
                <a:sym typeface="Orbitron Regular Regular"/>
              </a:defRPr>
            </a:lvl1pPr>
          </a:lstStyle>
          <a:p>
            <a:pPr/>
            <a:r>
              <a:t>EXECUTION PIPELINE</a:t>
            </a:r>
          </a:p>
        </p:txBody>
      </p:sp>
      <p:sp>
        <p:nvSpPr>
          <p:cNvPr id="474" name="Google Shape;528;p23"/>
          <p:cNvSpPr/>
          <p:nvPr/>
        </p:nvSpPr>
        <p:spPr>
          <a:xfrm>
            <a:off x="742950" y="1596628"/>
            <a:ext cx="4021262" cy="428626"/>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475" name="Google Shape;529;p23"/>
          <p:cNvSpPr txBox="1"/>
          <p:nvPr/>
        </p:nvSpPr>
        <p:spPr>
          <a:xfrm>
            <a:off x="850105" y="1757363"/>
            <a:ext cx="214314"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333"/>
              </a:lnSpc>
              <a:defRPr sz="1000">
                <a:solidFill>
                  <a:srgbClr val="FF4500"/>
                </a:solidFill>
                <a:latin typeface="Orbitron Regular Regular"/>
                <a:ea typeface="Orbitron Regular Regular"/>
                <a:cs typeface="Orbitron Regular Regular"/>
                <a:sym typeface="Orbitron Regular Regular"/>
              </a:defRPr>
            </a:lvl1pPr>
          </a:lstStyle>
          <a:p>
            <a:pPr/>
            <a:r>
              <a:t>1</a:t>
            </a:r>
          </a:p>
        </p:txBody>
      </p:sp>
      <p:sp>
        <p:nvSpPr>
          <p:cNvPr id="476" name="Google Shape;530;p23"/>
          <p:cNvSpPr txBox="1"/>
          <p:nvPr/>
        </p:nvSpPr>
        <p:spPr>
          <a:xfrm>
            <a:off x="1171575" y="1722536"/>
            <a:ext cx="205382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E0E0E0"/>
                </a:solidFill>
                <a:latin typeface="Orbitron Regular Regular"/>
                <a:ea typeface="Orbitron Regular Regular"/>
                <a:cs typeface="Orbitron Regular Regular"/>
                <a:sym typeface="Orbitron Regular Regular"/>
              </a:defRPr>
            </a:lvl1pPr>
          </a:lstStyle>
          <a:p>
            <a:pPr/>
            <a:r>
              <a:t>EVENT PARSING</a:t>
            </a:r>
          </a:p>
        </p:txBody>
      </p:sp>
      <p:sp>
        <p:nvSpPr>
          <p:cNvPr id="477" name="Google Shape;531;p23"/>
          <p:cNvSpPr txBox="1"/>
          <p:nvPr/>
        </p:nvSpPr>
        <p:spPr>
          <a:xfrm>
            <a:off x="1171575" y="1860053"/>
            <a:ext cx="8661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Extracting data from</a:t>
            </a:r>
          </a:p>
        </p:txBody>
      </p:sp>
      <p:sp>
        <p:nvSpPr>
          <p:cNvPr id="478" name="Google Shape;532;p23"/>
          <p:cNvSpPr txBox="1"/>
          <p:nvPr/>
        </p:nvSpPr>
        <p:spPr>
          <a:xfrm>
            <a:off x="2037755" y="1849338"/>
            <a:ext cx="116264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00FFFF"/>
                </a:solidFill>
                <a:latin typeface="Roboto Mono Regular Regular"/>
                <a:ea typeface="Roboto Mono Regular Regular"/>
                <a:cs typeface="Roboto Mono Regular Regular"/>
                <a:sym typeface="Roboto Mono Regular Regular"/>
              </a:defRPr>
            </a:lvl1pPr>
          </a:lstStyle>
          <a:p>
            <a:pPr/>
            <a:r>
              <a:t>MetricGroupStateEvent</a:t>
            </a:r>
          </a:p>
        </p:txBody>
      </p:sp>
      <p:sp>
        <p:nvSpPr>
          <p:cNvPr id="479" name="Google Shape;533;p23"/>
          <p:cNvSpPr txBox="1"/>
          <p:nvPr/>
        </p:nvSpPr>
        <p:spPr>
          <a:xfrm>
            <a:off x="3200399" y="1860053"/>
            <a:ext cx="250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a:t>
            </a:r>
          </a:p>
        </p:txBody>
      </p:sp>
      <p:sp>
        <p:nvSpPr>
          <p:cNvPr id="480" name="Google Shape;534;p23"/>
          <p:cNvSpPr/>
          <p:nvPr/>
        </p:nvSpPr>
        <p:spPr>
          <a:xfrm>
            <a:off x="742950" y="2110977"/>
            <a:ext cx="4021262" cy="428626"/>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481" name="Google Shape;535;p23"/>
          <p:cNvSpPr txBox="1"/>
          <p:nvPr/>
        </p:nvSpPr>
        <p:spPr>
          <a:xfrm>
            <a:off x="850105" y="2271713"/>
            <a:ext cx="214314"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333"/>
              </a:lnSpc>
              <a:defRPr sz="1000">
                <a:solidFill>
                  <a:srgbClr val="FF4500"/>
                </a:solidFill>
                <a:latin typeface="Orbitron Regular Regular"/>
                <a:ea typeface="Orbitron Regular Regular"/>
                <a:cs typeface="Orbitron Regular Regular"/>
                <a:sym typeface="Orbitron Regular Regular"/>
              </a:defRPr>
            </a:lvl1pPr>
          </a:lstStyle>
          <a:p>
            <a:pPr/>
            <a:r>
              <a:t>2</a:t>
            </a:r>
          </a:p>
        </p:txBody>
      </p:sp>
      <p:sp>
        <p:nvSpPr>
          <p:cNvPr id="482" name="Google Shape;536;p23"/>
          <p:cNvSpPr txBox="1"/>
          <p:nvPr/>
        </p:nvSpPr>
        <p:spPr>
          <a:xfrm>
            <a:off x="1171575" y="2236886"/>
            <a:ext cx="18520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E0E0E0"/>
                </a:solidFill>
                <a:latin typeface="Orbitron Regular Regular"/>
                <a:ea typeface="Orbitron Regular Regular"/>
                <a:cs typeface="Orbitron Regular Regular"/>
                <a:sym typeface="Orbitron Regular Regular"/>
              </a:defRPr>
            </a:lvl1pPr>
          </a:lstStyle>
          <a:p>
            <a:pPr/>
            <a:r>
              <a:t>RULE MATCHING</a:t>
            </a:r>
          </a:p>
        </p:txBody>
      </p:sp>
      <p:sp>
        <p:nvSpPr>
          <p:cNvPr id="483" name="Google Shape;537;p23"/>
          <p:cNvSpPr txBox="1"/>
          <p:nvPr/>
        </p:nvSpPr>
        <p:spPr>
          <a:xfrm>
            <a:off x="1171574" y="2374403"/>
            <a:ext cx="78581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Retrieving rules by</a:t>
            </a:r>
          </a:p>
        </p:txBody>
      </p:sp>
      <p:sp>
        <p:nvSpPr>
          <p:cNvPr id="484" name="Google Shape;538;p23"/>
          <p:cNvSpPr txBox="1"/>
          <p:nvPr/>
        </p:nvSpPr>
        <p:spPr>
          <a:xfrm>
            <a:off x="1957388" y="2363688"/>
            <a:ext cx="44291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00FFFF"/>
                </a:solidFill>
                <a:latin typeface="Roboto Mono Regular Regular"/>
                <a:ea typeface="Roboto Mono Regular Regular"/>
                <a:cs typeface="Roboto Mono Regular Regular"/>
                <a:sym typeface="Roboto Mono Regular Regular"/>
              </a:defRPr>
            </a:lvl1pPr>
          </a:lstStyle>
          <a:p>
            <a:pPr/>
            <a:r>
              <a:t>group_id</a:t>
            </a:r>
          </a:p>
        </p:txBody>
      </p:sp>
      <p:sp>
        <p:nvSpPr>
          <p:cNvPr id="485" name="Google Shape;539;p23"/>
          <p:cNvSpPr txBox="1"/>
          <p:nvPr/>
        </p:nvSpPr>
        <p:spPr>
          <a:xfrm>
            <a:off x="2400299" y="2374403"/>
            <a:ext cx="10001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a:t>
            </a:r>
          </a:p>
        </p:txBody>
      </p:sp>
      <p:sp>
        <p:nvSpPr>
          <p:cNvPr id="486" name="Google Shape;540;p23"/>
          <p:cNvSpPr txBox="1"/>
          <p:nvPr/>
        </p:nvSpPr>
        <p:spPr>
          <a:xfrm>
            <a:off x="2500313" y="2363688"/>
            <a:ext cx="49827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00FFFF"/>
                </a:solidFill>
                <a:latin typeface="Roboto Mono Regular Regular"/>
                <a:ea typeface="Roboto Mono Regular Regular"/>
                <a:cs typeface="Roboto Mono Regular Regular"/>
                <a:sym typeface="Roboto Mono Regular Regular"/>
              </a:defRPr>
            </a:lvl1pPr>
          </a:lstStyle>
          <a:p>
            <a:pPr/>
            <a:r>
              <a:t>metric_id</a:t>
            </a:r>
          </a:p>
        </p:txBody>
      </p:sp>
      <p:sp>
        <p:nvSpPr>
          <p:cNvPr id="487" name="Google Shape;541;p23"/>
          <p:cNvSpPr txBox="1"/>
          <p:nvPr/>
        </p:nvSpPr>
        <p:spPr>
          <a:xfrm>
            <a:off x="2998589" y="2374403"/>
            <a:ext cx="250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a:t>
            </a:r>
          </a:p>
        </p:txBody>
      </p:sp>
      <p:sp>
        <p:nvSpPr>
          <p:cNvPr id="488" name="Google Shape;542;p23"/>
          <p:cNvSpPr/>
          <p:nvPr/>
        </p:nvSpPr>
        <p:spPr>
          <a:xfrm>
            <a:off x="742950" y="2625327"/>
            <a:ext cx="4021262" cy="428626"/>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489" name="Google Shape;543;p23"/>
          <p:cNvSpPr txBox="1"/>
          <p:nvPr/>
        </p:nvSpPr>
        <p:spPr>
          <a:xfrm>
            <a:off x="850105" y="2786063"/>
            <a:ext cx="214314"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333"/>
              </a:lnSpc>
              <a:defRPr sz="1000">
                <a:solidFill>
                  <a:srgbClr val="FF4500"/>
                </a:solidFill>
                <a:latin typeface="Orbitron Regular Regular"/>
                <a:ea typeface="Orbitron Regular Regular"/>
                <a:cs typeface="Orbitron Regular Regular"/>
                <a:sym typeface="Orbitron Regular Regular"/>
              </a:defRPr>
            </a:lvl1pPr>
          </a:lstStyle>
          <a:p>
            <a:pPr/>
            <a:r>
              <a:t>3</a:t>
            </a:r>
          </a:p>
        </p:txBody>
      </p:sp>
      <p:sp>
        <p:nvSpPr>
          <p:cNvPr id="490" name="Google Shape;544;p23"/>
          <p:cNvSpPr txBox="1"/>
          <p:nvPr/>
        </p:nvSpPr>
        <p:spPr>
          <a:xfrm>
            <a:off x="1171574" y="2751236"/>
            <a:ext cx="263247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E0E0E0"/>
                </a:solidFill>
                <a:latin typeface="Orbitron Regular Regular"/>
                <a:ea typeface="Orbitron Regular Regular"/>
                <a:cs typeface="Orbitron Regular Regular"/>
                <a:sym typeface="Orbitron Regular Regular"/>
              </a:defRPr>
            </a:lvl1pPr>
          </a:lstStyle>
          <a:p>
            <a:pPr/>
            <a:r>
              <a:t>TYPED EVAL</a:t>
            </a:r>
          </a:p>
        </p:txBody>
      </p:sp>
      <p:sp>
        <p:nvSpPr>
          <p:cNvPr id="491" name="Google Shape;545;p23"/>
          <p:cNvSpPr txBox="1"/>
          <p:nvPr/>
        </p:nvSpPr>
        <p:spPr>
          <a:xfrm>
            <a:off x="1171575" y="2888753"/>
            <a:ext cx="70365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Evaluation using</a:t>
            </a:r>
          </a:p>
        </p:txBody>
      </p:sp>
      <p:sp>
        <p:nvSpPr>
          <p:cNvPr id="492" name="Google Shape;546;p23"/>
          <p:cNvSpPr txBox="1"/>
          <p:nvPr/>
        </p:nvSpPr>
        <p:spPr>
          <a:xfrm>
            <a:off x="1875233" y="2878038"/>
            <a:ext cx="88582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00FFFF"/>
                </a:solidFill>
                <a:latin typeface="Roboto Mono Regular Regular"/>
                <a:ea typeface="Roboto Mono Regular Regular"/>
                <a:cs typeface="Roboto Mono Regular Regular"/>
                <a:sym typeface="Roboto Mono Regular Regular"/>
              </a:defRPr>
            </a:lvl1pPr>
          </a:lstStyle>
          <a:p>
            <a:pPr/>
            <a:r>
              <a:t>evaluateDouble()</a:t>
            </a:r>
          </a:p>
        </p:txBody>
      </p:sp>
      <p:sp>
        <p:nvSpPr>
          <p:cNvPr id="493" name="Google Shape;547;p23"/>
          <p:cNvSpPr txBox="1"/>
          <p:nvPr/>
        </p:nvSpPr>
        <p:spPr>
          <a:xfrm>
            <a:off x="2761058" y="2888753"/>
            <a:ext cx="1321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or</a:t>
            </a:r>
          </a:p>
        </p:txBody>
      </p:sp>
      <p:sp>
        <p:nvSpPr>
          <p:cNvPr id="494" name="Google Shape;548;p23"/>
          <p:cNvSpPr txBox="1"/>
          <p:nvPr/>
        </p:nvSpPr>
        <p:spPr>
          <a:xfrm>
            <a:off x="2893218" y="2878038"/>
            <a:ext cx="88582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00FFFF"/>
                </a:solidFill>
                <a:latin typeface="Roboto Mono Regular Regular"/>
                <a:ea typeface="Roboto Mono Regular Regular"/>
                <a:cs typeface="Roboto Mono Regular Regular"/>
                <a:sym typeface="Roboto Mono Regular Regular"/>
              </a:defRPr>
            </a:lvl1pPr>
          </a:lstStyle>
          <a:p>
            <a:pPr/>
            <a:r>
              <a:t>evaluateString()</a:t>
            </a:r>
          </a:p>
        </p:txBody>
      </p:sp>
      <p:sp>
        <p:nvSpPr>
          <p:cNvPr id="495" name="Google Shape;549;p23"/>
          <p:cNvSpPr txBox="1"/>
          <p:nvPr/>
        </p:nvSpPr>
        <p:spPr>
          <a:xfrm>
            <a:off x="3779044" y="2888753"/>
            <a:ext cx="250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a:t>
            </a:r>
          </a:p>
        </p:txBody>
      </p:sp>
      <p:sp>
        <p:nvSpPr>
          <p:cNvPr id="496" name="Google Shape;550;p23"/>
          <p:cNvSpPr/>
          <p:nvPr/>
        </p:nvSpPr>
        <p:spPr>
          <a:xfrm>
            <a:off x="742950" y="3139677"/>
            <a:ext cx="4021262" cy="428626"/>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497" name="Google Shape;551;p23"/>
          <p:cNvSpPr txBox="1"/>
          <p:nvPr/>
        </p:nvSpPr>
        <p:spPr>
          <a:xfrm>
            <a:off x="850105" y="3300412"/>
            <a:ext cx="214314"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333"/>
              </a:lnSpc>
              <a:defRPr sz="1000">
                <a:solidFill>
                  <a:srgbClr val="FF4500"/>
                </a:solidFill>
                <a:latin typeface="Orbitron Regular Regular"/>
                <a:ea typeface="Orbitron Regular Regular"/>
                <a:cs typeface="Orbitron Regular Regular"/>
                <a:sym typeface="Orbitron Regular Regular"/>
              </a:defRPr>
            </a:lvl1pPr>
          </a:lstStyle>
          <a:p>
            <a:pPr/>
            <a:r>
              <a:t>4</a:t>
            </a:r>
          </a:p>
        </p:txBody>
      </p:sp>
      <p:sp>
        <p:nvSpPr>
          <p:cNvPr id="498" name="Google Shape;552;p23"/>
          <p:cNvSpPr txBox="1"/>
          <p:nvPr/>
        </p:nvSpPr>
        <p:spPr>
          <a:xfrm>
            <a:off x="1171574" y="3265587"/>
            <a:ext cx="1957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E0E0E0"/>
                </a:solidFill>
                <a:latin typeface="Orbitron Regular Regular"/>
                <a:ea typeface="Orbitron Regular Regular"/>
                <a:cs typeface="Orbitron Regular Regular"/>
                <a:sym typeface="Orbitron Regular Regular"/>
              </a:defRPr>
            </a:lvl1pPr>
          </a:lstStyle>
          <a:p>
            <a:pPr/>
            <a:r>
              <a:t>COMMAND GENERATION</a:t>
            </a:r>
          </a:p>
        </p:txBody>
      </p:sp>
      <p:sp>
        <p:nvSpPr>
          <p:cNvPr id="499" name="Google Shape;553;p23"/>
          <p:cNvSpPr txBox="1"/>
          <p:nvPr/>
        </p:nvSpPr>
        <p:spPr>
          <a:xfrm>
            <a:off x="1171575" y="3403103"/>
            <a:ext cx="8233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Creating structured</a:t>
            </a:r>
          </a:p>
        </p:txBody>
      </p:sp>
      <p:sp>
        <p:nvSpPr>
          <p:cNvPr id="500" name="Google Shape;554;p23"/>
          <p:cNvSpPr txBox="1"/>
          <p:nvPr/>
        </p:nvSpPr>
        <p:spPr>
          <a:xfrm>
            <a:off x="1994892" y="3392387"/>
            <a:ext cx="8304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00FFFF"/>
                </a:solidFill>
                <a:latin typeface="Roboto Mono Regular Regular"/>
                <a:ea typeface="Roboto Mono Regular Regular"/>
                <a:cs typeface="Roboto Mono Regular Regular"/>
                <a:sym typeface="Roboto Mono Regular Regular"/>
              </a:defRPr>
            </a:lvl1pPr>
          </a:lstStyle>
          <a:p>
            <a:pPr/>
            <a:r>
              <a:t>ActuatorCommand</a:t>
            </a:r>
          </a:p>
        </p:txBody>
      </p:sp>
      <p:sp>
        <p:nvSpPr>
          <p:cNvPr id="501" name="Google Shape;555;p23"/>
          <p:cNvSpPr txBox="1"/>
          <p:nvPr/>
        </p:nvSpPr>
        <p:spPr>
          <a:xfrm>
            <a:off x="2825352" y="3403103"/>
            <a:ext cx="30361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object.</a:t>
            </a:r>
          </a:p>
        </p:txBody>
      </p:sp>
      <p:sp>
        <p:nvSpPr>
          <p:cNvPr id="502" name="Google Shape;556;p23"/>
          <p:cNvSpPr/>
          <p:nvPr/>
        </p:nvSpPr>
        <p:spPr>
          <a:xfrm>
            <a:off x="742950" y="3654028"/>
            <a:ext cx="4021262" cy="428626"/>
          </a:xfrm>
          <a:prstGeom prst="rect">
            <a:avLst/>
          </a:prstGeom>
          <a:solidFill>
            <a:srgbClr val="00FFFF">
              <a:alpha val="5098"/>
            </a:srgbClr>
          </a:solidFill>
          <a:ln>
            <a:solidFill>
              <a:srgbClr val="00FFFF">
                <a:alpha val="10196"/>
              </a:srgbClr>
            </a:solidFill>
          </a:ln>
        </p:spPr>
        <p:txBody>
          <a:bodyPr lIns="0" tIns="0" rIns="0" bIns="0" anchor="ctr"/>
          <a:lstStyle/>
          <a:p>
            <a:pPr/>
          </a:p>
        </p:txBody>
      </p:sp>
      <p:sp>
        <p:nvSpPr>
          <p:cNvPr id="503" name="Google Shape;557;p23"/>
          <p:cNvSpPr txBox="1"/>
          <p:nvPr/>
        </p:nvSpPr>
        <p:spPr>
          <a:xfrm>
            <a:off x="850105" y="3814762"/>
            <a:ext cx="214314"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333"/>
              </a:lnSpc>
              <a:defRPr sz="1000">
                <a:solidFill>
                  <a:srgbClr val="FF4500"/>
                </a:solidFill>
                <a:latin typeface="Orbitron Regular Regular"/>
                <a:ea typeface="Orbitron Regular Regular"/>
                <a:cs typeface="Orbitron Regular Regular"/>
                <a:sym typeface="Orbitron Regular Regular"/>
              </a:defRPr>
            </a:lvl1pPr>
          </a:lstStyle>
          <a:p>
            <a:pPr/>
            <a:r>
              <a:t>5</a:t>
            </a:r>
          </a:p>
        </p:txBody>
      </p:sp>
      <p:sp>
        <p:nvSpPr>
          <p:cNvPr id="504" name="Google Shape;558;p23"/>
          <p:cNvSpPr txBox="1"/>
          <p:nvPr/>
        </p:nvSpPr>
        <p:spPr>
          <a:xfrm>
            <a:off x="1171575" y="3779937"/>
            <a:ext cx="184844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E0E0E0"/>
                </a:solidFill>
                <a:latin typeface="Orbitron Regular Regular"/>
                <a:ea typeface="Orbitron Regular Regular"/>
                <a:cs typeface="Orbitron Regular Regular"/>
                <a:sym typeface="Orbitron Regular Regular"/>
              </a:defRPr>
            </a:lvl1pPr>
          </a:lstStyle>
          <a:p>
            <a:pPr/>
            <a:r>
              <a:t>PERSISTENCE</a:t>
            </a:r>
          </a:p>
        </p:txBody>
      </p:sp>
      <p:sp>
        <p:nvSpPr>
          <p:cNvPr id="505" name="Google Shape;559;p23"/>
          <p:cNvSpPr txBox="1"/>
          <p:nvPr/>
        </p:nvSpPr>
        <p:spPr>
          <a:xfrm>
            <a:off x="1171575" y="3917453"/>
            <a:ext cx="93047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Recording firing in the</a:t>
            </a:r>
          </a:p>
        </p:txBody>
      </p:sp>
      <p:sp>
        <p:nvSpPr>
          <p:cNvPr id="506" name="Google Shape;560;p23"/>
          <p:cNvSpPr txBox="1"/>
          <p:nvPr/>
        </p:nvSpPr>
        <p:spPr>
          <a:xfrm>
            <a:off x="2102048" y="3906737"/>
            <a:ext cx="6643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00FFFF"/>
                </a:solidFill>
                <a:latin typeface="Roboto Mono Regular Regular"/>
                <a:ea typeface="Roboto Mono Regular Regular"/>
                <a:cs typeface="Roboto Mono Regular Regular"/>
                <a:sym typeface="Roboto Mono Regular Regular"/>
              </a:defRPr>
            </a:lvl1pPr>
          </a:lstStyle>
          <a:p>
            <a:pPr/>
            <a:r>
              <a:t>rule_firings</a:t>
            </a:r>
          </a:p>
        </p:txBody>
      </p:sp>
      <p:sp>
        <p:nvSpPr>
          <p:cNvPr id="507" name="Google Shape;561;p23"/>
          <p:cNvSpPr txBox="1"/>
          <p:nvPr/>
        </p:nvSpPr>
        <p:spPr>
          <a:xfrm>
            <a:off x="2766416" y="3917453"/>
            <a:ext cx="2536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E0E0E0"/>
                </a:solidFill>
                <a:latin typeface="Roboto Regular Regular"/>
                <a:ea typeface="Roboto Regular Regular"/>
                <a:cs typeface="Roboto Regular Regular"/>
                <a:sym typeface="Roboto Regular Regular"/>
              </a:defRPr>
            </a:lvl1pPr>
          </a:lstStyle>
          <a:p>
            <a:pPr/>
            <a:r>
              <a:t>table.</a:t>
            </a:r>
          </a:p>
        </p:txBody>
      </p:sp>
      <p:sp>
        <p:nvSpPr>
          <p:cNvPr id="508" name="Google Shape;562;p23"/>
          <p:cNvSpPr txBox="1"/>
          <p:nvPr/>
        </p:nvSpPr>
        <p:spPr>
          <a:xfrm>
            <a:off x="5049961" y="1293019"/>
            <a:ext cx="33510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388"/>
              </a:lnSpc>
              <a:defRPr sz="900">
                <a:solidFill>
                  <a:srgbClr val="00FFFF"/>
                </a:solidFill>
                <a:latin typeface="Orbitron Regular Regular"/>
                <a:ea typeface="Orbitron Regular Regular"/>
                <a:cs typeface="Orbitron Regular Regular"/>
                <a:sym typeface="Orbitron Regular Regular"/>
              </a:defRPr>
            </a:lvl1pPr>
          </a:lstStyle>
          <a:p>
            <a:pPr/>
            <a:r>
              <a:t>SMART SUPPRESSION</a:t>
            </a:r>
          </a:p>
        </p:txBody>
      </p:sp>
      <p:sp>
        <p:nvSpPr>
          <p:cNvPr id="509" name="Google Shape;563;p23"/>
          <p:cNvSpPr/>
          <p:nvPr/>
        </p:nvSpPr>
        <p:spPr>
          <a:xfrm>
            <a:off x="5049961" y="1596628"/>
            <a:ext cx="3351089" cy="2143126"/>
          </a:xfrm>
          <a:prstGeom prst="rect">
            <a:avLst/>
          </a:prstGeom>
          <a:solidFill>
            <a:srgbClr val="FF4500">
              <a:alpha val="5098"/>
            </a:srgbClr>
          </a:solidFill>
          <a:ln>
            <a:solidFill>
              <a:srgbClr val="FF4500">
                <a:alpha val="20000"/>
              </a:srgbClr>
            </a:solidFill>
          </a:ln>
        </p:spPr>
        <p:txBody>
          <a:bodyPr lIns="0" tIns="0" rIns="0" bIns="0" anchor="ctr"/>
          <a:lstStyle/>
          <a:p>
            <a:pPr/>
          </a:p>
        </p:txBody>
      </p:sp>
      <p:sp>
        <p:nvSpPr>
          <p:cNvPr id="510" name="Google Shape;564;p23"/>
          <p:cNvSpPr txBox="1"/>
          <p:nvPr/>
        </p:nvSpPr>
        <p:spPr>
          <a:xfrm>
            <a:off x="5192836" y="1739502"/>
            <a:ext cx="3065339" cy="283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79487"/>
              </a:lnSpc>
              <a:defRPr sz="700">
                <a:solidFill>
                  <a:srgbClr val="E0E0E0"/>
                </a:solidFill>
                <a:latin typeface="Roboto Regular Regular"/>
                <a:ea typeface="Roboto Regular Regular"/>
                <a:cs typeface="Roboto Regular Regular"/>
                <a:sym typeface="Roboto Regular Regular"/>
              </a:defRPr>
            </a:lvl1pPr>
          </a:lstStyle>
          <a:p>
            <a:pPr/>
            <a:r>
              <a:t>If the actuator is already in the desired state, the command is suppressed to prevent broker flooding.</a:t>
            </a:r>
          </a:p>
        </p:txBody>
      </p:sp>
      <p:sp>
        <p:nvSpPr>
          <p:cNvPr id="511" name="Google Shape;565;p23"/>
          <p:cNvSpPr/>
          <p:nvPr/>
        </p:nvSpPr>
        <p:spPr>
          <a:xfrm>
            <a:off x="5192836" y="2225277"/>
            <a:ext cx="3065339" cy="714376"/>
          </a:xfrm>
          <a:prstGeom prst="rect">
            <a:avLst/>
          </a:prstGeom>
          <a:solidFill>
            <a:srgbClr val="000000">
              <a:alpha val="30196"/>
            </a:srgbClr>
          </a:solidFill>
          <a:ln w="12700">
            <a:miter lim="400000"/>
          </a:ln>
        </p:spPr>
        <p:txBody>
          <a:bodyPr lIns="0" tIns="0" rIns="0" bIns="0" anchor="ctr"/>
          <a:lstStyle/>
          <a:p>
            <a:pPr/>
          </a:p>
        </p:txBody>
      </p:sp>
      <p:sp>
        <p:nvSpPr>
          <p:cNvPr id="512" name="Google Shape;566;p23"/>
          <p:cNvSpPr/>
          <p:nvPr/>
        </p:nvSpPr>
        <p:spPr>
          <a:xfrm>
            <a:off x="5192836" y="2225277"/>
            <a:ext cx="21432" cy="714376"/>
          </a:xfrm>
          <a:prstGeom prst="rect">
            <a:avLst/>
          </a:prstGeom>
          <a:solidFill>
            <a:srgbClr val="00FFFF"/>
          </a:solidFill>
          <a:ln w="12700">
            <a:miter lim="400000"/>
          </a:ln>
        </p:spPr>
        <p:txBody>
          <a:bodyPr lIns="0" tIns="0" rIns="0" bIns="0" anchor="ctr"/>
          <a:lstStyle/>
          <a:p>
            <a:pPr/>
          </a:p>
        </p:txBody>
      </p:sp>
      <p:sp>
        <p:nvSpPr>
          <p:cNvPr id="513" name="Google Shape;567;p23"/>
          <p:cNvSpPr txBox="1"/>
          <p:nvPr/>
        </p:nvSpPr>
        <p:spPr>
          <a:xfrm>
            <a:off x="5320336" y="2352777"/>
            <a:ext cx="2810339" cy="237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3531"/>
              </a:lnSpc>
              <a:defRPr sz="600">
                <a:solidFill>
                  <a:srgbClr val="00FFFF"/>
                </a:solidFill>
                <a:latin typeface="Roboto Mono Regular Regular"/>
                <a:ea typeface="Roboto Mono Regular Regular"/>
                <a:cs typeface="Roboto Mono Regular Regular"/>
                <a:sym typeface="Roboto Mono Regular Regular"/>
              </a:defRPr>
            </a:lvl1pPr>
          </a:lstStyle>
          <a:p>
            <a:pPr/>
            <a:r>
              <a:t>ActuatorStateListener maintains an in-memory ConcurrentHashMap of the current state of each actuator.</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17" name="Google Shape;573;p24" descr="Google Shape;573;p24"/>
          <p:cNvPicPr>
            <a:picLocks noChangeAspect="1"/>
          </p:cNvPicPr>
          <p:nvPr/>
        </p:nvPicPr>
        <p:blipFill>
          <a:blip r:embed="rId3">
            <a:extLst/>
          </a:blip>
          <a:stretch>
            <a:fillRect/>
          </a:stretch>
        </p:blipFill>
        <p:spPr>
          <a:xfrm>
            <a:off x="0" y="0"/>
            <a:ext cx="9144000" cy="5143500"/>
          </a:xfrm>
          <a:prstGeom prst="rect">
            <a:avLst/>
          </a:prstGeom>
          <a:ln w="12700">
            <a:miter lim="400000"/>
          </a:ln>
        </p:spPr>
      </p:pic>
      <p:sp>
        <p:nvSpPr>
          <p:cNvPr id="518" name="Google Shape;574;p24"/>
          <p:cNvSpPr txBox="1"/>
          <p:nvPr/>
        </p:nvSpPr>
        <p:spPr>
          <a:xfrm>
            <a:off x="6831210" y="142874"/>
            <a:ext cx="2027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5658"/>
              </a:lnSpc>
              <a:defRPr sz="500">
                <a:solidFill>
                  <a:srgbClr val="00FFFF"/>
                </a:solidFill>
                <a:latin typeface="Orbitron Regular Regular"/>
                <a:ea typeface="Orbitron Regular Regular"/>
                <a:cs typeface="Orbitron Regular Regular"/>
                <a:sym typeface="Orbitron Regular Regular"/>
              </a:defRPr>
            </a:lvl1pPr>
          </a:lstStyle>
          <a:p>
            <a:pPr/>
            <a:r>
              <a:t>MARSOPS // CONVERTER // MSG_SCHEMA</a:t>
            </a:r>
          </a:p>
        </p:txBody>
      </p:sp>
      <p:sp>
        <p:nvSpPr>
          <p:cNvPr id="519" name="Google Shape;575;p24"/>
          <p:cNvSpPr/>
          <p:nvPr/>
        </p:nvSpPr>
        <p:spPr>
          <a:xfrm>
            <a:off x="228624" y="76070"/>
            <a:ext cx="8686801" cy="4991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520" name="Google Shape;576;p24"/>
          <p:cNvSpPr txBox="1"/>
          <p:nvPr/>
        </p:nvSpPr>
        <p:spPr>
          <a:xfrm>
            <a:off x="442912" y="382600"/>
            <a:ext cx="825817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6005"/>
              </a:lnSpc>
              <a:defRPr sz="1300">
                <a:solidFill>
                  <a:srgbClr val="FF4500"/>
                </a:solidFill>
                <a:latin typeface="Orbitron Regular Bold"/>
                <a:ea typeface="Orbitron Regular Bold"/>
                <a:cs typeface="Orbitron Regular Bold"/>
                <a:sym typeface="Orbitron Regular Bold"/>
              </a:defRPr>
            </a:lvl1pPr>
          </a:lstStyle>
          <a:p>
            <a:pPr/>
            <a:r>
              <a:t>MESSAGE SCHEMA</a:t>
            </a:r>
          </a:p>
        </p:txBody>
      </p:sp>
      <p:sp>
        <p:nvSpPr>
          <p:cNvPr id="521" name="Google Shape;577;p24"/>
          <p:cNvSpPr/>
          <p:nvPr/>
        </p:nvSpPr>
        <p:spPr>
          <a:xfrm>
            <a:off x="442912" y="769014"/>
            <a:ext cx="2681279" cy="2286001"/>
          </a:xfrm>
          <a:prstGeom prst="rect">
            <a:avLst/>
          </a:prstGeom>
          <a:solidFill>
            <a:srgbClr val="00FFFF">
              <a:alpha val="3137"/>
            </a:srgbClr>
          </a:solidFill>
          <a:ln>
            <a:solidFill>
              <a:srgbClr val="00FFFF">
                <a:alpha val="10196"/>
              </a:srgbClr>
            </a:solidFill>
          </a:ln>
        </p:spPr>
        <p:txBody>
          <a:bodyPr lIns="0" tIns="0" rIns="0" bIns="0" anchor="ctr"/>
          <a:lstStyle/>
          <a:p>
            <a:pPr/>
          </a:p>
        </p:txBody>
      </p:sp>
      <p:sp>
        <p:nvSpPr>
          <p:cNvPr id="522" name="Google Shape;578;p24"/>
          <p:cNvSpPr txBox="1"/>
          <p:nvPr/>
        </p:nvSpPr>
        <p:spPr>
          <a:xfrm>
            <a:off x="550068" y="876169"/>
            <a:ext cx="24669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00FFFF"/>
                </a:solidFill>
                <a:latin typeface="Orbitron Regular Regular"/>
                <a:ea typeface="Orbitron Regular Regular"/>
                <a:cs typeface="Orbitron Regular Regular"/>
                <a:sym typeface="Orbitron Regular Regular"/>
              </a:defRPr>
            </a:lvl1pPr>
          </a:lstStyle>
          <a:p>
            <a:pPr/>
            <a:r>
              <a:t>SENSOR EVENT</a:t>
            </a:r>
          </a:p>
        </p:txBody>
      </p:sp>
      <p:sp>
        <p:nvSpPr>
          <p:cNvPr id="523" name="Google Shape;579;p24"/>
          <p:cNvSpPr txBox="1"/>
          <p:nvPr/>
        </p:nvSpPr>
        <p:spPr>
          <a:xfrm>
            <a:off x="550068" y="1038689"/>
            <a:ext cx="24669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FF4500"/>
                </a:solidFill>
                <a:latin typeface="Roboto Mono Regular Regular"/>
                <a:ea typeface="Roboto Mono Regular Regular"/>
                <a:cs typeface="Roboto Mono Regular Regular"/>
                <a:sym typeface="Roboto Mono Regular Regular"/>
              </a:defRPr>
            </a:lvl1pPr>
          </a:lstStyle>
          <a:p>
            <a:pPr/>
            <a:r>
              <a:t>→ sensor.events</a:t>
            </a:r>
          </a:p>
        </p:txBody>
      </p:sp>
      <p:sp>
        <p:nvSpPr>
          <p:cNvPr id="524" name="Google Shape;580;p24"/>
          <p:cNvSpPr/>
          <p:nvPr/>
        </p:nvSpPr>
        <p:spPr>
          <a:xfrm>
            <a:off x="550068" y="1226214"/>
            <a:ext cx="2466968" cy="1828801"/>
          </a:xfrm>
          <a:prstGeom prst="rect">
            <a:avLst/>
          </a:prstGeom>
          <a:solidFill>
            <a:srgbClr val="000000">
              <a:alpha val="50195"/>
            </a:srgbClr>
          </a:solidFill>
          <a:ln>
            <a:solidFill>
              <a:srgbClr val="FFFFFF">
                <a:alpha val="5098"/>
              </a:srgbClr>
            </a:solidFill>
          </a:ln>
        </p:spPr>
        <p:txBody>
          <a:bodyPr lIns="0" tIns="0" rIns="0" bIns="0" anchor="ctr"/>
          <a:lstStyle/>
          <a:p>
            <a:pPr/>
          </a:p>
        </p:txBody>
      </p:sp>
      <p:sp>
        <p:nvSpPr>
          <p:cNvPr id="525" name="Google Shape;581;p24"/>
          <p:cNvSpPr txBox="1"/>
          <p:nvPr/>
        </p:nvSpPr>
        <p:spPr>
          <a:xfrm>
            <a:off x="635143" y="1311289"/>
            <a:ext cx="2296818" cy="1297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3238"/>
              </a:lnSpc>
              <a:defRPr sz="500">
                <a:solidFill>
                  <a:srgbClr val="E0E0E0"/>
                </a:solidFill>
                <a:latin typeface="Roboto Mono Regular Regular"/>
                <a:ea typeface="Roboto Mono Regular Regular"/>
                <a:cs typeface="Roboto Mono Regular Regular"/>
                <a:sym typeface="Roboto Mono Regular Regular"/>
              </a:defRPr>
            </a:pPr>
            <a:r>
              <a:t>{</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"converter_version": "1.0.0",</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"group_id": "air_quality",</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"at": "2026-03...",</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"metrics": [{</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"id": "voc",</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"type": "...",</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"value": [{</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"value": 604.48,</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"unit": "ppb"</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"status": "ok|warning"</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a:t>
            </a:r>
          </a:p>
        </p:txBody>
      </p:sp>
      <p:sp>
        <p:nvSpPr>
          <p:cNvPr id="526" name="Google Shape;582;p24"/>
          <p:cNvSpPr/>
          <p:nvPr/>
        </p:nvSpPr>
        <p:spPr>
          <a:xfrm>
            <a:off x="3231346" y="769014"/>
            <a:ext cx="2681279" cy="2286001"/>
          </a:xfrm>
          <a:prstGeom prst="rect">
            <a:avLst/>
          </a:prstGeom>
          <a:solidFill>
            <a:srgbClr val="00FFFF">
              <a:alpha val="3137"/>
            </a:srgbClr>
          </a:solidFill>
          <a:ln>
            <a:solidFill>
              <a:srgbClr val="00FFFF">
                <a:alpha val="10196"/>
              </a:srgbClr>
            </a:solidFill>
          </a:ln>
        </p:spPr>
        <p:txBody>
          <a:bodyPr lIns="0" tIns="0" rIns="0" bIns="0" anchor="ctr"/>
          <a:lstStyle/>
          <a:p>
            <a:pPr/>
          </a:p>
        </p:txBody>
      </p:sp>
      <p:sp>
        <p:nvSpPr>
          <p:cNvPr id="527" name="Google Shape;583;p24"/>
          <p:cNvSpPr txBox="1"/>
          <p:nvPr/>
        </p:nvSpPr>
        <p:spPr>
          <a:xfrm>
            <a:off x="3338502" y="876169"/>
            <a:ext cx="246696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00FFFF"/>
                </a:solidFill>
                <a:latin typeface="Orbitron Regular Regular"/>
                <a:ea typeface="Orbitron Regular Regular"/>
                <a:cs typeface="Orbitron Regular Regular"/>
                <a:sym typeface="Orbitron Regular Regular"/>
              </a:defRPr>
            </a:lvl1pPr>
          </a:lstStyle>
          <a:p>
            <a:pPr/>
            <a:r>
              <a:t>ACTUATOR STATE</a:t>
            </a:r>
          </a:p>
        </p:txBody>
      </p:sp>
      <p:sp>
        <p:nvSpPr>
          <p:cNvPr id="528" name="Google Shape;584;p24"/>
          <p:cNvSpPr txBox="1"/>
          <p:nvPr/>
        </p:nvSpPr>
        <p:spPr>
          <a:xfrm>
            <a:off x="3338502" y="1038689"/>
            <a:ext cx="246696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FF4500"/>
                </a:solidFill>
                <a:latin typeface="Roboto Mono Regular Regular"/>
                <a:ea typeface="Roboto Mono Regular Regular"/>
                <a:cs typeface="Roboto Mono Regular Regular"/>
                <a:sym typeface="Roboto Mono Regular Regular"/>
              </a:defRPr>
            </a:lvl1pPr>
          </a:lstStyle>
          <a:p>
            <a:pPr/>
            <a:r>
              <a:t>→ actuator.states</a:t>
            </a:r>
          </a:p>
        </p:txBody>
      </p:sp>
      <p:sp>
        <p:nvSpPr>
          <p:cNvPr id="529" name="Google Shape;585;p24"/>
          <p:cNvSpPr/>
          <p:nvPr/>
        </p:nvSpPr>
        <p:spPr>
          <a:xfrm>
            <a:off x="3338502" y="1226214"/>
            <a:ext cx="2466967" cy="1828801"/>
          </a:xfrm>
          <a:prstGeom prst="rect">
            <a:avLst/>
          </a:prstGeom>
          <a:solidFill>
            <a:srgbClr val="000000">
              <a:alpha val="50195"/>
            </a:srgbClr>
          </a:solidFill>
          <a:ln>
            <a:solidFill>
              <a:srgbClr val="FFFFFF">
                <a:alpha val="5098"/>
              </a:srgbClr>
            </a:solidFill>
          </a:ln>
        </p:spPr>
        <p:txBody>
          <a:bodyPr lIns="0" tIns="0" rIns="0" bIns="0" anchor="ctr"/>
          <a:lstStyle/>
          <a:p>
            <a:pPr/>
          </a:p>
        </p:txBody>
      </p:sp>
      <p:sp>
        <p:nvSpPr>
          <p:cNvPr id="530" name="Google Shape;586;p24"/>
          <p:cNvSpPr txBox="1"/>
          <p:nvPr/>
        </p:nvSpPr>
        <p:spPr>
          <a:xfrm>
            <a:off x="3423577" y="1311289"/>
            <a:ext cx="2296817" cy="4518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3238"/>
              </a:lnSpc>
              <a:defRPr sz="500">
                <a:solidFill>
                  <a:srgbClr val="E0E0E0"/>
                </a:solidFill>
                <a:latin typeface="Roboto Mono Regular Regular"/>
                <a:ea typeface="Roboto Mono Regular Regular"/>
                <a:cs typeface="Roboto Mono Regular Regular"/>
                <a:sym typeface="Roboto Mono Regular Regular"/>
              </a:defRPr>
            </a:pPr>
            <a:r>
              <a:t>{</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"actuator_id": "cooling_fan",</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"is_on": true,</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"updated_at": "2026-03-..."</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a:t>
            </a:r>
          </a:p>
        </p:txBody>
      </p:sp>
      <p:sp>
        <p:nvSpPr>
          <p:cNvPr id="531" name="Google Shape;587;p24"/>
          <p:cNvSpPr/>
          <p:nvPr/>
        </p:nvSpPr>
        <p:spPr>
          <a:xfrm>
            <a:off x="6019781" y="769014"/>
            <a:ext cx="2681306" cy="2286001"/>
          </a:xfrm>
          <a:prstGeom prst="rect">
            <a:avLst/>
          </a:prstGeom>
          <a:solidFill>
            <a:srgbClr val="00FFFF">
              <a:alpha val="3137"/>
            </a:srgbClr>
          </a:solidFill>
          <a:ln>
            <a:solidFill>
              <a:srgbClr val="00FFFF">
                <a:alpha val="10196"/>
              </a:srgbClr>
            </a:solidFill>
          </a:ln>
        </p:spPr>
        <p:txBody>
          <a:bodyPr lIns="0" tIns="0" rIns="0" bIns="0" anchor="ctr"/>
          <a:lstStyle/>
          <a:p>
            <a:pPr/>
          </a:p>
        </p:txBody>
      </p:sp>
      <p:sp>
        <p:nvSpPr>
          <p:cNvPr id="532" name="Google Shape;588;p24"/>
          <p:cNvSpPr txBox="1"/>
          <p:nvPr/>
        </p:nvSpPr>
        <p:spPr>
          <a:xfrm>
            <a:off x="6126938" y="876169"/>
            <a:ext cx="24669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796"/>
              </a:lnSpc>
              <a:defRPr sz="700">
                <a:solidFill>
                  <a:srgbClr val="00FFFF"/>
                </a:solidFill>
                <a:latin typeface="Orbitron Regular Regular"/>
                <a:ea typeface="Orbitron Regular Regular"/>
                <a:cs typeface="Orbitron Regular Regular"/>
                <a:sym typeface="Orbitron Regular Regular"/>
              </a:defRPr>
            </a:lvl1pPr>
          </a:lstStyle>
          <a:p>
            <a:pPr/>
            <a:r>
              <a:t>ACTUATOR COMMAND</a:t>
            </a:r>
          </a:p>
        </p:txBody>
      </p:sp>
      <p:sp>
        <p:nvSpPr>
          <p:cNvPr id="533" name="Google Shape;589;p24"/>
          <p:cNvSpPr txBox="1"/>
          <p:nvPr/>
        </p:nvSpPr>
        <p:spPr>
          <a:xfrm>
            <a:off x="6126938" y="1038689"/>
            <a:ext cx="24669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8824"/>
              </a:lnSpc>
              <a:defRPr sz="600">
                <a:solidFill>
                  <a:srgbClr val="FF4500"/>
                </a:solidFill>
                <a:latin typeface="Roboto Mono Regular Regular"/>
                <a:ea typeface="Roboto Mono Regular Regular"/>
                <a:cs typeface="Roboto Mono Regular Regular"/>
                <a:sym typeface="Roboto Mono Regular Regular"/>
              </a:defRPr>
            </a:lvl1pPr>
          </a:lstStyle>
          <a:p>
            <a:pPr/>
            <a:r>
              <a:t>← actuator.commands</a:t>
            </a:r>
          </a:p>
        </p:txBody>
      </p:sp>
      <p:sp>
        <p:nvSpPr>
          <p:cNvPr id="534" name="Google Shape;590;p24"/>
          <p:cNvSpPr/>
          <p:nvPr/>
        </p:nvSpPr>
        <p:spPr>
          <a:xfrm>
            <a:off x="6126938" y="1226214"/>
            <a:ext cx="2466995" cy="1828801"/>
          </a:xfrm>
          <a:prstGeom prst="rect">
            <a:avLst/>
          </a:prstGeom>
          <a:solidFill>
            <a:srgbClr val="000000">
              <a:alpha val="50195"/>
            </a:srgbClr>
          </a:solidFill>
          <a:ln>
            <a:solidFill>
              <a:srgbClr val="FFFFFF">
                <a:alpha val="5098"/>
              </a:srgbClr>
            </a:solidFill>
          </a:ln>
        </p:spPr>
        <p:txBody>
          <a:bodyPr lIns="0" tIns="0" rIns="0" bIns="0" anchor="ctr"/>
          <a:lstStyle/>
          <a:p>
            <a:pPr/>
          </a:p>
        </p:txBody>
      </p:sp>
      <p:sp>
        <p:nvSpPr>
          <p:cNvPr id="535" name="Google Shape;591;p24"/>
          <p:cNvSpPr txBox="1"/>
          <p:nvPr/>
        </p:nvSpPr>
        <p:spPr>
          <a:xfrm>
            <a:off x="6212013" y="1311289"/>
            <a:ext cx="2296845" cy="4518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3238"/>
              </a:lnSpc>
              <a:defRPr sz="500">
                <a:solidFill>
                  <a:srgbClr val="E0E0E0"/>
                </a:solidFill>
                <a:latin typeface="Roboto Mono Regular Regular"/>
                <a:ea typeface="Roboto Mono Regular Regular"/>
                <a:cs typeface="Roboto Mono Regular Regular"/>
                <a:sym typeface="Roboto Mono Regular Regular"/>
              </a:defRPr>
            </a:pPr>
            <a:r>
              <a:t>{</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"actuator_id": "cooling_fan",</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"is_on": true,</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  "created_at": "2026-03-..."</a:t>
            </a:r>
            <a:endParaRPr>
              <a:latin typeface="Calibri"/>
              <a:ea typeface="Calibri"/>
              <a:cs typeface="Calibri"/>
              <a:sym typeface="Calibri"/>
            </a:endParaRPr>
          </a:p>
          <a:p>
            <a:pPr>
              <a:lnSpc>
                <a:spcPct val="123238"/>
              </a:lnSpc>
              <a:defRPr sz="500">
                <a:solidFill>
                  <a:srgbClr val="E0E0E0"/>
                </a:solidFill>
                <a:latin typeface="Roboto Mono Regular Regular"/>
                <a:ea typeface="Roboto Mono Regular Regular"/>
                <a:cs typeface="Roboto Mono Regular Regular"/>
                <a:sym typeface="Roboto Mono Regular Regular"/>
              </a:defRPr>
            </a:pPr>
            <a:r>
              <a:t>}</a:t>
            </a:r>
          </a:p>
        </p:txBody>
      </p:sp>
      <p:sp>
        <p:nvSpPr>
          <p:cNvPr id="536" name="Google Shape;592;p24"/>
          <p:cNvSpPr txBox="1"/>
          <p:nvPr/>
        </p:nvSpPr>
        <p:spPr>
          <a:xfrm>
            <a:off x="3513613" y="3228200"/>
            <a:ext cx="2116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894"/>
              </a:lnSpc>
              <a:defRPr sz="800">
                <a:solidFill>
                  <a:srgbClr val="FF4500"/>
                </a:solidFill>
                <a:latin typeface="Orbitron Regular Regular"/>
                <a:ea typeface="Orbitron Regular Regular"/>
                <a:cs typeface="Orbitron Regular Regular"/>
                <a:sym typeface="Orbitron Regular Regular"/>
              </a:defRPr>
            </a:lvl1pPr>
          </a:lstStyle>
          <a:p>
            <a:pPr/>
            <a:r>
              <a:t> MESSAGING FLOW (END-TO-END)</a:t>
            </a:r>
          </a:p>
        </p:txBody>
      </p:sp>
      <p:sp>
        <p:nvSpPr>
          <p:cNvPr id="537" name="Google Shape;593;p24"/>
          <p:cNvSpPr txBox="1"/>
          <p:nvPr/>
        </p:nvSpPr>
        <p:spPr>
          <a:xfrm>
            <a:off x="3395652" y="3528274"/>
            <a:ext cx="1549501" cy="13909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845"/>
              </a:lnSpc>
              <a:defRPr sz="500">
                <a:solidFill>
                  <a:srgbClr val="00FFFF"/>
                </a:solidFill>
                <a:latin typeface="Roboto Mono Regular Regular"/>
                <a:ea typeface="Roboto Mono Regular Regular"/>
                <a:cs typeface="Roboto Mono Regular Regular"/>
                <a:sym typeface="Roboto Mono Regular Regular"/>
              </a:defRPr>
            </a:pPr>
            <a:r>
              <a:t>Simulator REST API</a:t>
            </a:r>
            <a:br/>
            <a:r>
              <a:t> ↓ poll / fetch</a:t>
            </a:r>
            <a:br/>
            <a:r>
              <a:t> Converter Service</a:t>
            </a:r>
            <a:br/>
            <a:r>
              <a:t> ↓ normalize</a:t>
            </a:r>
            <a:br/>
            <a:r>
              <a:t> sensor.events (multicast)</a:t>
            </a:r>
            <a:br/>
            <a:r>
              <a:t> ↓ consume</a:t>
            </a:r>
            <a:br/>
            <a:r>
              <a:t> automation-rules</a:t>
            </a:r>
            <a:br/>
            <a:r>
              <a:t> ↓ evaluate rules</a:t>
            </a:r>
            <a:br/>
            <a:r>
              <a:t> actuator.commands (anycast)</a:t>
            </a:r>
            <a:br/>
            <a:r>
              <a:t> ↓ consume</a:t>
            </a:r>
            <a:br/>
            <a:r>
              <a:t> Converter Service</a:t>
            </a:r>
          </a:p>
          <a:p>
            <a:pPr>
              <a:lnSpc>
                <a:spcPct val="140845"/>
              </a:lnSpc>
              <a:defRPr sz="500">
                <a:solidFill>
                  <a:srgbClr val="00FFFF"/>
                </a:solidFill>
                <a:latin typeface="Roboto Mono Regular Regular"/>
                <a:ea typeface="Roboto Mono Regular Regular"/>
                <a:cs typeface="Roboto Mono Regular Regular"/>
                <a:sym typeface="Roboto Mono Regular Regular"/>
              </a:defRPr>
            </a:pPr>
            <a:br/>
            <a:r>
              <a:t> </a:t>
            </a:r>
          </a:p>
        </p:txBody>
      </p:sp>
      <p:sp>
        <p:nvSpPr>
          <p:cNvPr id="538" name="Google Shape;594;p24"/>
          <p:cNvSpPr/>
          <p:nvPr/>
        </p:nvSpPr>
        <p:spPr>
          <a:xfrm>
            <a:off x="3231358" y="3528286"/>
            <a:ext cx="21301" cy="1532101"/>
          </a:xfrm>
          <a:prstGeom prst="rect">
            <a:avLst/>
          </a:prstGeom>
          <a:solidFill>
            <a:srgbClr val="FF4500"/>
          </a:solidFill>
          <a:ln w="12700">
            <a:miter lim="400000"/>
          </a:ln>
        </p:spPr>
        <p:txBody>
          <a:bodyPr lIns="0" tIns="0" rIns="0" bIns="0" anchor="ctr"/>
          <a:lstStyle/>
          <a:p>
            <a:pPr/>
          </a:p>
        </p:txBody>
      </p:sp>
      <p:sp>
        <p:nvSpPr>
          <p:cNvPr id="539" name="Google Shape;595;p24"/>
          <p:cNvSpPr txBox="1"/>
          <p:nvPr/>
        </p:nvSpPr>
        <p:spPr>
          <a:xfrm>
            <a:off x="4881676" y="3528274"/>
            <a:ext cx="1549501" cy="9934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9014"/>
              </a:lnSpc>
              <a:defRPr sz="500">
                <a:solidFill>
                  <a:srgbClr val="00FFFF"/>
                </a:solidFill>
                <a:latin typeface="Roboto Mono Regular Regular"/>
                <a:ea typeface="Roboto Mono Regular Regular"/>
                <a:cs typeface="Roboto Mono Regular Regular"/>
                <a:sym typeface="Roboto Mono Regular Regular"/>
              </a:defRPr>
            </a:pPr>
            <a:r>
              <a:t>↓ REST call</a:t>
            </a:r>
            <a:br/>
            <a:r>
              <a:t> Simulator REST API</a:t>
            </a:r>
            <a:br/>
            <a:r>
              <a:t> ↓ publish new state</a:t>
            </a:r>
            <a:br/>
            <a:r>
              <a:t> actuator.states (anycast)</a:t>
            </a:r>
          </a:p>
          <a:p>
            <a:pPr>
              <a:lnSpc>
                <a:spcPct val="115000"/>
              </a:lnSpc>
            </a:pPr>
            <a:endParaRPr sz="1100"/>
          </a:p>
          <a:p>
            <a:pPr>
              <a:lnSpc>
                <a:spcPct val="140845"/>
              </a:lnSpc>
            </a:pPr>
            <a:endParaRPr sz="500">
              <a:solidFill>
                <a:srgbClr val="00FFFF"/>
              </a:solidFill>
              <a:latin typeface="Roboto Mono Regular Regular"/>
              <a:ea typeface="Roboto Mono Regular Regular"/>
              <a:cs typeface="Roboto Mono Regular Regular"/>
              <a:sym typeface="Roboto Mono Regular Regular"/>
            </a:endParaRPr>
          </a:p>
          <a:p>
            <a:pPr>
              <a:lnSpc>
                <a:spcPct val="140845"/>
              </a:lnSpc>
              <a:defRPr sz="500">
                <a:solidFill>
                  <a:srgbClr val="00FFFF"/>
                </a:solidFill>
                <a:latin typeface="Roboto Mono Regular Regular"/>
                <a:ea typeface="Roboto Mono Regular Regular"/>
                <a:cs typeface="Roboto Mono Regular Regular"/>
                <a:sym typeface="Roboto Mono Regular Regular"/>
              </a:defRPr>
            </a:pPr>
            <a:br/>
            <a:r>
              <a:t> </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43" name="Google Shape;601;p25" descr="Google Shape;601;p25"/>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544" name="Google Shape;602;p25"/>
          <p:cNvSpPr txBox="1"/>
          <p:nvPr/>
        </p:nvSpPr>
        <p:spPr>
          <a:xfrm>
            <a:off x="6831210" y="142875"/>
            <a:ext cx="20271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5658"/>
              </a:lnSpc>
              <a:defRPr sz="500">
                <a:solidFill>
                  <a:srgbClr val="00FFFF"/>
                </a:solidFill>
                <a:latin typeface="Orbitron Regular Regular"/>
                <a:ea typeface="Orbitron Regular Regular"/>
                <a:cs typeface="Orbitron Regular Regular"/>
                <a:sym typeface="Orbitron Regular Regular"/>
              </a:defRPr>
            </a:lvl1pPr>
          </a:lstStyle>
          <a:p>
            <a:pPr/>
            <a:r>
              <a:t>MARSOPS // CONVERTER // MSG_SCHEMA</a:t>
            </a:r>
          </a:p>
        </p:txBody>
      </p:sp>
      <p:sp>
        <p:nvSpPr>
          <p:cNvPr id="545" name="Google Shape;603;p25"/>
          <p:cNvSpPr/>
          <p:nvPr/>
        </p:nvSpPr>
        <p:spPr>
          <a:xfrm>
            <a:off x="228624" y="76070"/>
            <a:ext cx="8686801" cy="4991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546" name="Google Shape;604;p25"/>
          <p:cNvSpPr txBox="1"/>
          <p:nvPr/>
        </p:nvSpPr>
        <p:spPr>
          <a:xfrm>
            <a:off x="442913" y="382600"/>
            <a:ext cx="82581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6005"/>
              </a:lnSpc>
              <a:defRPr sz="1300">
                <a:solidFill>
                  <a:srgbClr val="FF4500"/>
                </a:solidFill>
                <a:latin typeface="Orbitron Regular Bold"/>
                <a:ea typeface="Orbitron Regular Bold"/>
                <a:cs typeface="Orbitron Regular Bold"/>
                <a:sym typeface="Orbitron Regular Bold"/>
              </a:defRPr>
            </a:lvl1pPr>
          </a:lstStyle>
          <a:p>
            <a:pPr/>
            <a:r>
              <a:t>FRONTEND</a:t>
            </a:r>
          </a:p>
        </p:txBody>
      </p:sp>
      <p:pic>
        <p:nvPicPr>
          <p:cNvPr id="547" name="Screenshot 2026-03-10 at 23.54.08.pngGoogle Shape;605;p25" descr="Screenshot 2026-03-10 at 23.54.08.pngGoogle Shape;605;p25"/>
          <p:cNvPicPr>
            <a:picLocks noChangeAspect="1"/>
          </p:cNvPicPr>
          <p:nvPr/>
        </p:nvPicPr>
        <p:blipFill>
          <a:blip r:embed="rId3">
            <a:extLst/>
          </a:blip>
          <a:stretch>
            <a:fillRect/>
          </a:stretch>
        </p:blipFill>
        <p:spPr>
          <a:xfrm>
            <a:off x="1459873" y="691275"/>
            <a:ext cx="6224175" cy="4035998"/>
          </a:xfrm>
          <a:prstGeom prst="rect">
            <a:avLst/>
          </a:prstGeom>
          <a:ln w="12700">
            <a:miter lim="400000"/>
          </a:ln>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49" name="Google Shape;611;p26" descr="Google Shape;611;p26"/>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550" name="Google Shape;612;p26"/>
          <p:cNvSpPr txBox="1"/>
          <p:nvPr/>
        </p:nvSpPr>
        <p:spPr>
          <a:xfrm>
            <a:off x="6831210" y="142875"/>
            <a:ext cx="20271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5658"/>
              </a:lnSpc>
              <a:defRPr sz="500">
                <a:solidFill>
                  <a:srgbClr val="00FFFF"/>
                </a:solidFill>
                <a:latin typeface="Orbitron Regular Regular"/>
                <a:ea typeface="Orbitron Regular Regular"/>
                <a:cs typeface="Orbitron Regular Regular"/>
                <a:sym typeface="Orbitron Regular Regular"/>
              </a:defRPr>
            </a:lvl1pPr>
          </a:lstStyle>
          <a:p>
            <a:pPr/>
            <a:r>
              <a:t>MARSOPS // CONVERTER // MSG_SCHEMA</a:t>
            </a:r>
          </a:p>
        </p:txBody>
      </p:sp>
      <p:sp>
        <p:nvSpPr>
          <p:cNvPr id="551" name="Google Shape;613;p26"/>
          <p:cNvSpPr/>
          <p:nvPr/>
        </p:nvSpPr>
        <p:spPr>
          <a:xfrm>
            <a:off x="228624" y="76070"/>
            <a:ext cx="8686801" cy="4991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552" name="Google Shape;614;p26"/>
          <p:cNvSpPr txBox="1"/>
          <p:nvPr/>
        </p:nvSpPr>
        <p:spPr>
          <a:xfrm>
            <a:off x="442913" y="382600"/>
            <a:ext cx="82581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6005"/>
              </a:lnSpc>
              <a:defRPr sz="1300">
                <a:solidFill>
                  <a:srgbClr val="FF4500"/>
                </a:solidFill>
                <a:latin typeface="Orbitron Regular Bold"/>
                <a:ea typeface="Orbitron Regular Bold"/>
                <a:cs typeface="Orbitron Regular Bold"/>
                <a:sym typeface="Orbitron Regular Bold"/>
              </a:defRPr>
            </a:lvl1pPr>
          </a:lstStyle>
          <a:p>
            <a:pPr/>
            <a:r>
              <a:t>FRONTEND</a:t>
            </a:r>
          </a:p>
        </p:txBody>
      </p:sp>
      <p:pic>
        <p:nvPicPr>
          <p:cNvPr id="553" name="Screenshot 2026-03-10 at 23.51.45.pngGoogle Shape;615;p26" descr="Screenshot 2026-03-10 at 23.51.45.pngGoogle Shape;615;p26"/>
          <p:cNvPicPr>
            <a:picLocks noChangeAspect="1"/>
          </p:cNvPicPr>
          <p:nvPr/>
        </p:nvPicPr>
        <p:blipFill>
          <a:blip r:embed="rId3">
            <a:extLst/>
          </a:blip>
          <a:stretch>
            <a:fillRect/>
          </a:stretch>
        </p:blipFill>
        <p:spPr>
          <a:xfrm>
            <a:off x="1459886" y="691275"/>
            <a:ext cx="6224175" cy="4035975"/>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55" name="Google Shape;621;p27" descr="Google Shape;621;p27"/>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556" name="Google Shape;622;p27"/>
          <p:cNvSpPr txBox="1"/>
          <p:nvPr/>
        </p:nvSpPr>
        <p:spPr>
          <a:xfrm>
            <a:off x="6831210" y="142875"/>
            <a:ext cx="20271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5658"/>
              </a:lnSpc>
              <a:defRPr sz="500">
                <a:solidFill>
                  <a:srgbClr val="00FFFF"/>
                </a:solidFill>
                <a:latin typeface="Orbitron Regular Regular"/>
                <a:ea typeface="Orbitron Regular Regular"/>
                <a:cs typeface="Orbitron Regular Regular"/>
                <a:sym typeface="Orbitron Regular Regular"/>
              </a:defRPr>
            </a:lvl1pPr>
          </a:lstStyle>
          <a:p>
            <a:pPr/>
            <a:r>
              <a:t>MARSOPS // CONVERTER // MSG_SCHEMA</a:t>
            </a:r>
          </a:p>
        </p:txBody>
      </p:sp>
      <p:sp>
        <p:nvSpPr>
          <p:cNvPr id="557" name="Google Shape;623;p27"/>
          <p:cNvSpPr/>
          <p:nvPr/>
        </p:nvSpPr>
        <p:spPr>
          <a:xfrm>
            <a:off x="228624" y="76070"/>
            <a:ext cx="8686801" cy="4991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558" name="Google Shape;624;p27"/>
          <p:cNvSpPr txBox="1"/>
          <p:nvPr/>
        </p:nvSpPr>
        <p:spPr>
          <a:xfrm>
            <a:off x="442913" y="382600"/>
            <a:ext cx="82581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6005"/>
              </a:lnSpc>
              <a:defRPr sz="1300">
                <a:solidFill>
                  <a:srgbClr val="FF4500"/>
                </a:solidFill>
                <a:latin typeface="Orbitron Regular Bold"/>
                <a:ea typeface="Orbitron Regular Bold"/>
                <a:cs typeface="Orbitron Regular Bold"/>
                <a:sym typeface="Orbitron Regular Bold"/>
              </a:defRPr>
            </a:lvl1pPr>
          </a:lstStyle>
          <a:p>
            <a:pPr/>
            <a:r>
              <a:t>FRONTEND</a:t>
            </a:r>
          </a:p>
        </p:txBody>
      </p:sp>
      <p:pic>
        <p:nvPicPr>
          <p:cNvPr id="559" name="Screenshot 2026-03-10 at 23.54.57.pngGoogle Shape;625;p27" descr="Screenshot 2026-03-10 at 23.54.57.pngGoogle Shape;625;p27"/>
          <p:cNvPicPr>
            <a:picLocks noChangeAspect="1"/>
          </p:cNvPicPr>
          <p:nvPr/>
        </p:nvPicPr>
        <p:blipFill>
          <a:blip r:embed="rId3">
            <a:extLst/>
          </a:blip>
          <a:stretch>
            <a:fillRect/>
          </a:stretch>
        </p:blipFill>
        <p:spPr>
          <a:xfrm>
            <a:off x="1459925" y="691275"/>
            <a:ext cx="6224174" cy="4035996"/>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61" name="Google Shape;631;p28" descr="Google Shape;631;p28"/>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562" name="Google Shape;632;p28"/>
          <p:cNvSpPr txBox="1"/>
          <p:nvPr/>
        </p:nvSpPr>
        <p:spPr>
          <a:xfrm>
            <a:off x="6831210" y="142875"/>
            <a:ext cx="20271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5658"/>
              </a:lnSpc>
              <a:defRPr sz="500">
                <a:solidFill>
                  <a:srgbClr val="00FFFF"/>
                </a:solidFill>
                <a:latin typeface="Orbitron Regular Regular"/>
                <a:ea typeface="Orbitron Regular Regular"/>
                <a:cs typeface="Orbitron Regular Regular"/>
                <a:sym typeface="Orbitron Regular Regular"/>
              </a:defRPr>
            </a:lvl1pPr>
          </a:lstStyle>
          <a:p>
            <a:pPr/>
            <a:r>
              <a:t>MARSOPS // CONVERTER // MSG_SCHEMA</a:t>
            </a:r>
          </a:p>
        </p:txBody>
      </p:sp>
      <p:sp>
        <p:nvSpPr>
          <p:cNvPr id="563" name="Google Shape;633;p28"/>
          <p:cNvSpPr/>
          <p:nvPr/>
        </p:nvSpPr>
        <p:spPr>
          <a:xfrm>
            <a:off x="228624" y="76070"/>
            <a:ext cx="8686801" cy="4991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564" name="Google Shape;634;p28"/>
          <p:cNvSpPr txBox="1"/>
          <p:nvPr/>
        </p:nvSpPr>
        <p:spPr>
          <a:xfrm>
            <a:off x="442913" y="382600"/>
            <a:ext cx="82581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6005"/>
              </a:lnSpc>
              <a:defRPr sz="1300">
                <a:solidFill>
                  <a:srgbClr val="FF4500"/>
                </a:solidFill>
                <a:latin typeface="Orbitron Regular Bold"/>
                <a:ea typeface="Orbitron Regular Bold"/>
                <a:cs typeface="Orbitron Regular Bold"/>
                <a:sym typeface="Orbitron Regular Bold"/>
              </a:defRPr>
            </a:lvl1pPr>
          </a:lstStyle>
          <a:p>
            <a:pPr/>
            <a:r>
              <a:t>FRONTEND</a:t>
            </a:r>
          </a:p>
        </p:txBody>
      </p:sp>
      <p:pic>
        <p:nvPicPr>
          <p:cNvPr id="565" name="Screenshot 2026-03-10 at 23.52.08.pngGoogle Shape;635;p28" descr="Screenshot 2026-03-10 at 23.52.08.pngGoogle Shape;635;p28"/>
          <p:cNvPicPr>
            <a:picLocks noChangeAspect="1"/>
          </p:cNvPicPr>
          <p:nvPr/>
        </p:nvPicPr>
        <p:blipFill>
          <a:blip r:embed="rId3">
            <a:extLst/>
          </a:blip>
          <a:stretch>
            <a:fillRect/>
          </a:stretch>
        </p:blipFill>
        <p:spPr>
          <a:xfrm>
            <a:off x="1459875" y="691275"/>
            <a:ext cx="6224174" cy="4035991"/>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67" name="Google Shape;641;p29" descr="Google Shape;641;p29"/>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568" name="Google Shape;642;p29"/>
          <p:cNvSpPr txBox="1"/>
          <p:nvPr/>
        </p:nvSpPr>
        <p:spPr>
          <a:xfrm>
            <a:off x="6831210" y="142875"/>
            <a:ext cx="20271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5658"/>
              </a:lnSpc>
              <a:defRPr sz="500">
                <a:solidFill>
                  <a:srgbClr val="00FFFF"/>
                </a:solidFill>
                <a:latin typeface="Orbitron Regular Regular"/>
                <a:ea typeface="Orbitron Regular Regular"/>
                <a:cs typeface="Orbitron Regular Regular"/>
                <a:sym typeface="Orbitron Regular Regular"/>
              </a:defRPr>
            </a:lvl1pPr>
          </a:lstStyle>
          <a:p>
            <a:pPr/>
            <a:r>
              <a:t>MARSOPS // CONVERTER // MSG_SCHEMA</a:t>
            </a:r>
          </a:p>
        </p:txBody>
      </p:sp>
      <p:sp>
        <p:nvSpPr>
          <p:cNvPr id="569" name="Google Shape;643;p29"/>
          <p:cNvSpPr/>
          <p:nvPr/>
        </p:nvSpPr>
        <p:spPr>
          <a:xfrm>
            <a:off x="228624" y="76070"/>
            <a:ext cx="8686801" cy="4991400"/>
          </a:xfrm>
          <a:prstGeom prst="rect">
            <a:avLst/>
          </a:prstGeom>
          <a:solidFill>
            <a:srgbClr val="000000">
              <a:alpha val="40000"/>
            </a:srgbClr>
          </a:solidFill>
          <a:ln>
            <a:solidFill>
              <a:srgbClr val="00FFFF">
                <a:alpha val="20000"/>
              </a:srgbClr>
            </a:solidFill>
          </a:ln>
        </p:spPr>
        <p:txBody>
          <a:bodyPr lIns="0" tIns="0" rIns="0" bIns="0" anchor="ctr"/>
          <a:lstStyle/>
          <a:p>
            <a:pPr/>
          </a:p>
        </p:txBody>
      </p:sp>
      <p:sp>
        <p:nvSpPr>
          <p:cNvPr id="570" name="Google Shape;644;p29"/>
          <p:cNvSpPr txBox="1"/>
          <p:nvPr/>
        </p:nvSpPr>
        <p:spPr>
          <a:xfrm>
            <a:off x="442913" y="382600"/>
            <a:ext cx="82581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6005"/>
              </a:lnSpc>
              <a:defRPr sz="1300">
                <a:solidFill>
                  <a:srgbClr val="FF4500"/>
                </a:solidFill>
                <a:latin typeface="Orbitron Regular Bold"/>
                <a:ea typeface="Orbitron Regular Bold"/>
                <a:cs typeface="Orbitron Regular Bold"/>
                <a:sym typeface="Orbitron Regular Bold"/>
              </a:defRPr>
            </a:lvl1pPr>
          </a:lstStyle>
          <a:p>
            <a:pPr/>
            <a:r>
              <a:t>FRONTEND</a:t>
            </a:r>
          </a:p>
        </p:txBody>
      </p:sp>
      <p:pic>
        <p:nvPicPr>
          <p:cNvPr id="571" name="Screenshot 2026-03-10 at 23.52.52.pngGoogle Shape;645;p29" descr="Screenshot 2026-03-10 at 23.52.52.pngGoogle Shape;645;p29"/>
          <p:cNvPicPr>
            <a:picLocks noChangeAspect="1"/>
          </p:cNvPicPr>
          <p:nvPr/>
        </p:nvPicPr>
        <p:blipFill>
          <a:blip r:embed="rId3">
            <a:extLst/>
          </a:blip>
          <a:stretch>
            <a:fillRect/>
          </a:stretch>
        </p:blipFill>
        <p:spPr>
          <a:xfrm>
            <a:off x="1459936" y="691275"/>
            <a:ext cx="6224175" cy="403599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